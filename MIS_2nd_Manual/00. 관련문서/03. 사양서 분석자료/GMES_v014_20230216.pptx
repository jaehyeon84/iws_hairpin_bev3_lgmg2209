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02" r:id="rId2"/>
    <p:sldId id="310" r:id="rId3"/>
    <p:sldId id="270" r:id="rId4"/>
    <p:sldId id="328" r:id="rId5"/>
    <p:sldId id="334" r:id="rId6"/>
    <p:sldId id="354" r:id="rId7"/>
    <p:sldId id="355" r:id="rId8"/>
    <p:sldId id="376" r:id="rId9"/>
    <p:sldId id="377" r:id="rId10"/>
    <p:sldId id="338" r:id="rId11"/>
    <p:sldId id="346" r:id="rId12"/>
    <p:sldId id="364" r:id="rId13"/>
    <p:sldId id="365" r:id="rId14"/>
    <p:sldId id="339" r:id="rId15"/>
    <p:sldId id="340" r:id="rId16"/>
    <p:sldId id="341" r:id="rId17"/>
    <p:sldId id="369" r:id="rId18"/>
    <p:sldId id="372" r:id="rId19"/>
    <p:sldId id="373" r:id="rId20"/>
    <p:sldId id="374" r:id="rId21"/>
    <p:sldId id="375" r:id="rId22"/>
    <p:sldId id="380" r:id="rId23"/>
    <p:sldId id="381" r:id="rId24"/>
    <p:sldId id="370" r:id="rId25"/>
    <p:sldId id="371" r:id="rId26"/>
    <p:sldId id="343" r:id="rId27"/>
    <p:sldId id="344" r:id="rId28"/>
    <p:sldId id="367" r:id="rId29"/>
    <p:sldId id="368" r:id="rId30"/>
    <p:sldId id="345" r:id="rId31"/>
    <p:sldId id="347" r:id="rId32"/>
    <p:sldId id="378" r:id="rId33"/>
    <p:sldId id="379" r:id="rId34"/>
    <p:sldId id="337" r:id="rId35"/>
    <p:sldId id="356" r:id="rId36"/>
    <p:sldId id="311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09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2000" autoAdjust="0"/>
  </p:normalViewPr>
  <p:slideViewPr>
    <p:cSldViewPr snapToGrid="0">
      <p:cViewPr varScale="1">
        <p:scale>
          <a:sx n="59" d="100"/>
          <a:sy n="59" d="100"/>
        </p:scale>
        <p:origin x="13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57823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인터페이스 시나리오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7247C8D-D267-4CF1-AF93-6A48587BC7B9}"/>
              </a:ext>
            </a:extLst>
          </p:cNvPr>
          <p:cNvSpPr/>
          <p:nvPr/>
        </p:nvSpPr>
        <p:spPr>
          <a:xfrm>
            <a:off x="321022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DEE34-3C29-41A6-8C02-AB3FBCC7F945}"/>
              </a:ext>
            </a:extLst>
          </p:cNvPr>
          <p:cNvSpPr txBox="1"/>
          <p:nvPr/>
        </p:nvSpPr>
        <p:spPr>
          <a:xfrm>
            <a:off x="366741" y="5446985"/>
            <a:ext cx="1635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박종문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jmpark@hubis.co.kr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2020.11.19</a:t>
            </a: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04B0A1-1492-CF96-73F1-728153880404}"/>
              </a:ext>
            </a:extLst>
          </p:cNvPr>
          <p:cNvSpPr/>
          <p:nvPr/>
        </p:nvSpPr>
        <p:spPr>
          <a:xfrm>
            <a:off x="2205578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2251297" y="544698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2023.02.16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441887"/>
            <a:ext cx="8427700" cy="295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System Configuration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GMES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PLC Communication Scenario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altLang="ko-K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Message Structure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60936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84BDB2-E7E5-4DD4-85E0-D32CF98F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113" y="642466"/>
            <a:ext cx="5969163" cy="57007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8C3EB-835E-4B7A-A491-DC63B9178C59}"/>
              </a:ext>
            </a:extLst>
          </p:cNvPr>
          <p:cNvSpPr txBox="1"/>
          <p:nvPr/>
        </p:nvSpPr>
        <p:spPr>
          <a:xfrm>
            <a:off x="724399" y="1870501"/>
            <a:ext cx="497463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>
                <a:solidFill>
                  <a:srgbClr val="0000FF"/>
                </a:solidFill>
              </a:rPr>
              <a:t>GMES </a:t>
            </a:r>
            <a:r>
              <a:rPr lang="ko-KR" altLang="en-US" dirty="0">
                <a:solidFill>
                  <a:srgbClr val="0000FF"/>
                </a:solidFill>
              </a:rPr>
              <a:t>시스템 구성</a:t>
            </a:r>
            <a:r>
              <a:rPr lang="en-US" altLang="ko-KR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원래</a:t>
            </a:r>
            <a:r>
              <a:rPr lang="en-US" altLang="ko-KR" sz="1400" dirty="0"/>
              <a:t>, </a:t>
            </a:r>
            <a:r>
              <a:rPr lang="ko-KR" altLang="en-US" sz="1400" dirty="0"/>
              <a:t>공장 내에 </a:t>
            </a:r>
            <a:r>
              <a:rPr lang="en-US" altLang="ko-KR" sz="1400" dirty="0"/>
              <a:t>GMES </a:t>
            </a:r>
            <a:r>
              <a:rPr lang="ko-KR" altLang="en-US" sz="1400" dirty="0"/>
              <a:t>서버가 설치됨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GMES </a:t>
            </a:r>
            <a:r>
              <a:rPr lang="ko-KR" altLang="en-US" sz="1400" dirty="0"/>
              <a:t>연계가 필요한 장비별로 </a:t>
            </a:r>
            <a:r>
              <a:rPr lang="en-US" altLang="ko-KR" sz="1400" dirty="0"/>
              <a:t>Interface SW</a:t>
            </a:r>
            <a:r>
              <a:rPr lang="ko-KR" altLang="en-US" sz="1400" dirty="0"/>
              <a:t>를 통해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altLang="ko-KR" sz="1400" dirty="0"/>
              <a:t>GMES </a:t>
            </a:r>
            <a:r>
              <a:rPr lang="ko-KR" altLang="en-US" sz="1400" dirty="0"/>
              <a:t>서버와 연동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인터페이스 상세 내용은 별도의 사양서를 배포</a:t>
            </a:r>
            <a:r>
              <a:rPr lang="en-US" altLang="ko-KR" sz="1400" dirty="0"/>
              <a:t>.(LG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2023-02-04</a:t>
            </a:r>
            <a:r>
              <a:rPr lang="ko-KR" altLang="en-US" sz="1400" dirty="0"/>
              <a:t> 현재</a:t>
            </a:r>
            <a:r>
              <a:rPr lang="en-US" altLang="ko-KR" sz="1400" dirty="0"/>
              <a:t>, </a:t>
            </a:r>
            <a:r>
              <a:rPr lang="ko-KR" altLang="en-US" sz="1400" dirty="0"/>
              <a:t>사양서 버전은 </a:t>
            </a:r>
            <a:r>
              <a:rPr lang="en-US" altLang="ko-KR" sz="1400" dirty="0"/>
              <a:t>Ver 4.3</a:t>
            </a:r>
            <a:r>
              <a:rPr lang="ko-KR" altLang="en-US" sz="1400" dirty="0"/>
              <a:t>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※ LG</a:t>
            </a:r>
            <a:r>
              <a:rPr lang="ko-KR" altLang="en-US" sz="1400" dirty="0" err="1">
                <a:solidFill>
                  <a:srgbClr val="FF0000"/>
                </a:solidFill>
              </a:rPr>
              <a:t>마그나</a:t>
            </a:r>
            <a:r>
              <a:rPr lang="ko-KR" altLang="en-US" sz="1400" dirty="0">
                <a:solidFill>
                  <a:srgbClr val="FF0000"/>
                </a:solidFill>
              </a:rPr>
              <a:t> 멕시코 라인부터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인터페이스 포맷이 </a:t>
            </a:r>
            <a:r>
              <a:rPr lang="en-US" altLang="ko-KR" sz="1400" dirty="0">
                <a:solidFill>
                  <a:srgbClr val="FF0000"/>
                </a:solidFill>
              </a:rPr>
              <a:t>XML</a:t>
            </a:r>
            <a:r>
              <a:rPr lang="ko-KR" altLang="en-US" sz="1400" dirty="0">
                <a:solidFill>
                  <a:srgbClr val="FF0000"/>
                </a:solidFill>
              </a:rPr>
              <a:t>에서 </a:t>
            </a:r>
            <a:r>
              <a:rPr lang="en-US" altLang="ko-KR" sz="1400" dirty="0">
                <a:solidFill>
                  <a:srgbClr val="FF0000"/>
                </a:solidFill>
              </a:rPr>
              <a:t>JSON</a:t>
            </a:r>
            <a:r>
              <a:rPr lang="ko-KR" altLang="en-US" sz="1400" dirty="0">
                <a:solidFill>
                  <a:srgbClr val="FF0000"/>
                </a:solidFill>
              </a:rPr>
              <a:t>으로 변경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   </a:t>
            </a:r>
            <a:r>
              <a:rPr lang="ko-KR" altLang="en-US" sz="1400" dirty="0">
                <a:solidFill>
                  <a:srgbClr val="FF0000"/>
                </a:solidFill>
              </a:rPr>
              <a:t>이후 </a:t>
            </a:r>
            <a:r>
              <a:rPr lang="en-US" altLang="ko-KR" sz="1400" dirty="0">
                <a:solidFill>
                  <a:srgbClr val="FF0000"/>
                </a:solidFill>
              </a:rPr>
              <a:t>LG</a:t>
            </a:r>
            <a:r>
              <a:rPr lang="ko-KR" altLang="en-US" sz="1400" dirty="0">
                <a:solidFill>
                  <a:srgbClr val="FF0000"/>
                </a:solidFill>
              </a:rPr>
              <a:t>라인에 대해서는</a:t>
            </a:r>
            <a:r>
              <a:rPr lang="en-US" altLang="ko-KR" sz="1400" dirty="0">
                <a:solidFill>
                  <a:srgbClr val="FF0000"/>
                </a:solidFill>
              </a:rPr>
              <a:t>, JSON </a:t>
            </a:r>
            <a:r>
              <a:rPr lang="ko-KR" altLang="en-US" sz="1400" dirty="0">
                <a:solidFill>
                  <a:srgbClr val="FF0000"/>
                </a:solidFill>
              </a:rPr>
              <a:t>타입으로 적용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2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CE2F547-4501-4FD3-BBD1-6665C90560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60"/>
          <a:stretch/>
        </p:blipFill>
        <p:spPr>
          <a:xfrm>
            <a:off x="362449" y="3203787"/>
            <a:ext cx="5296639" cy="36542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Configuration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0E614761-F297-9D2D-DC17-A05FD63474B2}"/>
              </a:ext>
            </a:extLst>
          </p:cNvPr>
          <p:cNvSpPr/>
          <p:nvPr/>
        </p:nvSpPr>
        <p:spPr>
          <a:xfrm>
            <a:off x="5885215" y="2850324"/>
            <a:ext cx="2668236" cy="706925"/>
          </a:xfrm>
          <a:prstGeom prst="wedgeRoundRectCallout">
            <a:avLst>
              <a:gd name="adj1" fmla="val -101805"/>
              <a:gd name="adj2" fmla="val 22553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 Agent(LG CNS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</a:t>
            </a:r>
          </a:p>
          <a:p>
            <a:pPr algn="ctr"/>
            <a:r>
              <a:rPr lang="en-US" altLang="ko-KR" sz="1400" dirty="0"/>
              <a:t>PORT : 40000</a:t>
            </a:r>
            <a:endParaRPr lang="ko-KR" altLang="en-US" sz="1400" dirty="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E309D2F1-C94C-AAA6-A766-8A88B6B846C2}"/>
              </a:ext>
            </a:extLst>
          </p:cNvPr>
          <p:cNvSpPr/>
          <p:nvPr/>
        </p:nvSpPr>
        <p:spPr>
          <a:xfrm>
            <a:off x="5885214" y="3776913"/>
            <a:ext cx="2668237" cy="706925"/>
          </a:xfrm>
          <a:prstGeom prst="wedgeRoundRectCallout">
            <a:avLst>
              <a:gd name="adj1" fmla="val -98813"/>
              <a:gd name="adj2" fmla="val 1111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MES</a:t>
            </a:r>
            <a:r>
              <a:rPr lang="ko-KR" altLang="en-US" sz="1400" dirty="0"/>
              <a:t>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10.194.242.30 ~ 38 </a:t>
            </a: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8D5E9907-4691-F806-799D-71A271C3E9F7}"/>
              </a:ext>
            </a:extLst>
          </p:cNvPr>
          <p:cNvSpPr/>
          <p:nvPr/>
        </p:nvSpPr>
        <p:spPr>
          <a:xfrm>
            <a:off x="5885215" y="4756912"/>
            <a:ext cx="2668236" cy="706925"/>
          </a:xfrm>
          <a:prstGeom prst="wedgeRoundRectCallout">
            <a:avLst>
              <a:gd name="adj1" fmla="val -98039"/>
              <a:gd name="adj2" fmla="val 96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  <a:r>
              <a:rPr lang="ko-KR" altLang="en-US" sz="1400" dirty="0"/>
              <a:t>연결용 </a:t>
            </a:r>
            <a:r>
              <a:rPr lang="en-US" altLang="ko-KR" sz="1400" dirty="0"/>
              <a:t>LAN Port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192.168.3.21</a:t>
            </a: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05640885-EFE0-2502-44D0-8834827CAFF4}"/>
              </a:ext>
            </a:extLst>
          </p:cNvPr>
          <p:cNvSpPr/>
          <p:nvPr/>
        </p:nvSpPr>
        <p:spPr>
          <a:xfrm>
            <a:off x="5885214" y="5526481"/>
            <a:ext cx="2668237" cy="706925"/>
          </a:xfrm>
          <a:prstGeom prst="wedgeRoundRectCallout">
            <a:avLst>
              <a:gd name="adj1" fmla="val -98494"/>
              <a:gd name="adj2" fmla="val -567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 </a:t>
            </a:r>
          </a:p>
          <a:p>
            <a:pPr algn="ctr"/>
            <a:r>
              <a:rPr lang="en-US" altLang="ko-KR" sz="1400" dirty="0"/>
              <a:t>IP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192.168.3.2</a:t>
            </a:r>
          </a:p>
          <a:p>
            <a:pPr algn="ctr"/>
            <a:r>
              <a:rPr lang="en-US" altLang="ko-KR" sz="1400" dirty="0"/>
              <a:t>PORT : 8112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CDC05E3-B65B-449A-AF65-AFD4FBD796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267" t="39797" r="30116" b="50842"/>
          <a:stretch/>
        </p:blipFill>
        <p:spPr>
          <a:xfrm>
            <a:off x="2822856" y="2135584"/>
            <a:ext cx="1250950" cy="47352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E7EC9E0-B3AE-455C-A446-F3720484968F}"/>
              </a:ext>
            </a:extLst>
          </p:cNvPr>
          <p:cNvSpPr/>
          <p:nvPr/>
        </p:nvSpPr>
        <p:spPr>
          <a:xfrm>
            <a:off x="810493" y="1994311"/>
            <a:ext cx="4618757" cy="75607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CBF02-264C-45EB-AD20-D0061ECD739B}"/>
              </a:ext>
            </a:extLst>
          </p:cNvPr>
          <p:cNvSpPr txBox="1"/>
          <p:nvPr/>
        </p:nvSpPr>
        <p:spPr>
          <a:xfrm>
            <a:off x="685800" y="3225465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Mexico(Saltillo)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036BB-8233-4B46-A52F-0A8B2AD32988}"/>
              </a:ext>
            </a:extLst>
          </p:cNvPr>
          <p:cNvSpPr txBox="1"/>
          <p:nvPr/>
        </p:nvSpPr>
        <p:spPr>
          <a:xfrm>
            <a:off x="857250" y="1637972"/>
            <a:ext cx="138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Korea(</a:t>
            </a:r>
            <a:r>
              <a:rPr lang="ko-KR" altLang="en-US" dirty="0"/>
              <a:t>상암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5442A-3963-4CD5-BB9A-6016E1C52C0A}"/>
              </a:ext>
            </a:extLst>
          </p:cNvPr>
          <p:cNvSpPr txBox="1"/>
          <p:nvPr/>
        </p:nvSpPr>
        <p:spPr>
          <a:xfrm>
            <a:off x="5992463" y="903726"/>
            <a:ext cx="561160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현재 설치 환경</a:t>
            </a:r>
            <a:r>
              <a:rPr lang="en-US" altLang="ko-KR" dirty="0">
                <a:solidFill>
                  <a:srgbClr val="0000FF"/>
                </a:solidFill>
              </a:rPr>
              <a:t>(2023.02.04 </a:t>
            </a:r>
            <a:r>
              <a:rPr lang="ko-KR" altLang="en-US" dirty="0">
                <a:solidFill>
                  <a:srgbClr val="0000FF"/>
                </a:solidFill>
              </a:rPr>
              <a:t>기준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설치 공장 내</a:t>
            </a:r>
            <a:r>
              <a:rPr lang="en-US" altLang="ko-KR" sz="1400" dirty="0"/>
              <a:t>, GMES Server </a:t>
            </a:r>
            <a:r>
              <a:rPr lang="ko-KR" altLang="en-US" sz="1400" dirty="0" err="1"/>
              <a:t>미설치</a:t>
            </a:r>
            <a:br>
              <a:rPr lang="en-US" altLang="ko-KR" sz="1400" dirty="0"/>
            </a:br>
            <a:r>
              <a:rPr lang="en-US" altLang="ko-KR" sz="1400" dirty="0"/>
              <a:t>(LG </a:t>
            </a:r>
            <a:r>
              <a:rPr lang="ko-KR" altLang="en-US" sz="1400" dirty="0"/>
              <a:t>와 </a:t>
            </a:r>
            <a:r>
              <a:rPr lang="en-US" altLang="ko-KR" sz="1400" dirty="0"/>
              <a:t>MAGNA </a:t>
            </a:r>
            <a:r>
              <a:rPr lang="ko-KR" altLang="en-US" sz="1400" dirty="0"/>
              <a:t>사이의 계약 문제라고 함</a:t>
            </a:r>
            <a:r>
              <a:rPr lang="en-US" altLang="ko-KR" sz="1400" dirty="0"/>
              <a:t>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현재는 </a:t>
            </a:r>
            <a:r>
              <a:rPr lang="ko-KR" altLang="en-US" sz="1400" dirty="0" err="1"/>
              <a:t>장비별</a:t>
            </a:r>
            <a:r>
              <a:rPr lang="ko-KR" altLang="en-US" sz="1400" dirty="0"/>
              <a:t> </a:t>
            </a:r>
            <a:r>
              <a:rPr lang="en-US" altLang="ko-KR" sz="1400" dirty="0"/>
              <a:t>Interface PC</a:t>
            </a:r>
            <a:r>
              <a:rPr lang="ko-KR" altLang="en-US" sz="1400" dirty="0"/>
              <a:t>에 </a:t>
            </a:r>
            <a:r>
              <a:rPr lang="en-US" altLang="ko-KR" sz="1400" dirty="0"/>
              <a:t>MES Agent(LG </a:t>
            </a:r>
            <a:r>
              <a:rPr lang="ko-KR" altLang="en-US" sz="1400" dirty="0"/>
              <a:t>제공</a:t>
            </a:r>
            <a:r>
              <a:rPr lang="en-US" altLang="ko-KR" sz="1400" dirty="0"/>
              <a:t>)</a:t>
            </a:r>
            <a:r>
              <a:rPr lang="ko-KR" altLang="en-US" sz="1400" dirty="0"/>
              <a:t>를 설치하여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/>
              <a:t>한국 상암의 서버와 통신하고 있음</a:t>
            </a:r>
            <a:r>
              <a:rPr lang="en-US" altLang="ko-KR" sz="1400" dirty="0"/>
              <a:t>.</a:t>
            </a:r>
          </a:p>
          <a:p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41D1CD-011F-469F-AD44-7FC5FD6330CF}"/>
              </a:ext>
            </a:extLst>
          </p:cNvPr>
          <p:cNvSpPr/>
          <p:nvPr/>
        </p:nvSpPr>
        <p:spPr>
          <a:xfrm>
            <a:off x="2914650" y="3835361"/>
            <a:ext cx="1130581" cy="405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B275788-FFFC-4847-AC62-A02D6D4A884C}"/>
              </a:ext>
            </a:extLst>
          </p:cNvPr>
          <p:cNvCxnSpPr>
            <a:cxnSpLocks/>
          </p:cNvCxnSpPr>
          <p:nvPr/>
        </p:nvCxnSpPr>
        <p:spPr>
          <a:xfrm>
            <a:off x="3110346" y="2609111"/>
            <a:ext cx="0" cy="1639779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9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 Agent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7CE0C2-2729-4631-A00A-91D86C7D7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99" y="1818214"/>
            <a:ext cx="7382601" cy="469187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D8E703-F0A8-4C91-A793-BE131AB4F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6" y="5210471"/>
            <a:ext cx="2438400" cy="1011243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7FBAEEE-72EF-430F-9F88-A3EF93F8C8C3}"/>
              </a:ext>
            </a:extLst>
          </p:cNvPr>
          <p:cNvCxnSpPr>
            <a:cxnSpLocks/>
          </p:cNvCxnSpPr>
          <p:nvPr/>
        </p:nvCxnSpPr>
        <p:spPr>
          <a:xfrm>
            <a:off x="9715500" y="4972050"/>
            <a:ext cx="0" cy="990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BCFE16-C3B7-4F25-B4EC-40519C5D04E4}"/>
              </a:ext>
            </a:extLst>
          </p:cNvPr>
          <p:cNvSpPr txBox="1"/>
          <p:nvPr/>
        </p:nvSpPr>
        <p:spPr>
          <a:xfrm>
            <a:off x="8501214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71BBD64-3BB4-4C77-8511-89310B0324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858976" y="2582453"/>
            <a:ext cx="2486025" cy="1507598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3C9360A-7886-4D59-AE62-88344C6CE4B6}"/>
              </a:ext>
            </a:extLst>
          </p:cNvPr>
          <p:cNvCxnSpPr>
            <a:cxnSpLocks/>
          </p:cNvCxnSpPr>
          <p:nvPr/>
        </p:nvCxnSpPr>
        <p:spPr>
          <a:xfrm>
            <a:off x="957262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62F7758-AFD4-4947-87ED-3F0AB603455A}"/>
              </a:ext>
            </a:extLst>
          </p:cNvPr>
          <p:cNvSpPr txBox="1"/>
          <p:nvPr/>
        </p:nvSpPr>
        <p:spPr>
          <a:xfrm>
            <a:off x="8501214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5316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243564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A59FDB-21B6-437E-B9C8-51680BD4A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717" y="5210471"/>
            <a:ext cx="2438400" cy="1011243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B364769-4F96-4550-8EE4-9788F95F2F36}"/>
              </a:ext>
            </a:extLst>
          </p:cNvPr>
          <p:cNvCxnSpPr>
            <a:cxnSpLocks/>
          </p:cNvCxnSpPr>
          <p:nvPr/>
        </p:nvCxnSpPr>
        <p:spPr>
          <a:xfrm>
            <a:off x="8919916" y="4954070"/>
            <a:ext cx="0" cy="6942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C4C946-EC73-4E71-BFE0-37D1BF5C64B7}"/>
              </a:ext>
            </a:extLst>
          </p:cNvPr>
          <p:cNvSpPr txBox="1"/>
          <p:nvPr/>
        </p:nvSpPr>
        <p:spPr>
          <a:xfrm>
            <a:off x="7943755" y="4430850"/>
            <a:ext cx="2957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윈도우 시작 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자동실행되어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 err="1"/>
              <a:t>시스템트레이에</a:t>
            </a:r>
            <a:r>
              <a:rPr lang="ko-KR" altLang="en-US" sz="1400" dirty="0"/>
              <a:t> 표시됨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D916F0-EEF0-4B0D-A4C4-B3915CE726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6" t="24056" r="18099" b="19825"/>
          <a:stretch/>
        </p:blipFill>
        <p:spPr>
          <a:xfrm>
            <a:off x="8301517" y="2582453"/>
            <a:ext cx="2486025" cy="150759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AF462F-4389-47D7-9CB0-48BC6B10315F}"/>
              </a:ext>
            </a:extLst>
          </p:cNvPr>
          <p:cNvCxnSpPr>
            <a:cxnSpLocks/>
          </p:cNvCxnSpPr>
          <p:nvPr/>
        </p:nvCxnSpPr>
        <p:spPr>
          <a:xfrm>
            <a:off x="9739565" y="2377796"/>
            <a:ext cx="0" cy="4373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68EE5F-CEA5-4C24-A594-9542EE2C59FA}"/>
              </a:ext>
            </a:extLst>
          </p:cNvPr>
          <p:cNvSpPr txBox="1"/>
          <p:nvPr/>
        </p:nvSpPr>
        <p:spPr>
          <a:xfrm>
            <a:off x="7943755" y="2015612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바탕화면에 바로가기 아이콘 있음</a:t>
            </a:r>
            <a:r>
              <a:rPr lang="en-US" altLang="ko-KR" sz="1400" dirty="0"/>
              <a:t>.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02" y="1738919"/>
            <a:ext cx="4757416" cy="495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BDBC29E-B1A8-4EA0-BF04-E62D1A293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7" y="1738919"/>
            <a:ext cx="4757416" cy="495234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F1DDED0-CB55-43B5-8407-BEB4E213BADA}"/>
              </a:ext>
            </a:extLst>
          </p:cNvPr>
          <p:cNvCxnSpPr>
            <a:cxnSpLocks/>
          </p:cNvCxnSpPr>
          <p:nvPr/>
        </p:nvCxnSpPr>
        <p:spPr>
          <a:xfrm flipV="1">
            <a:off x="2711850" y="3222380"/>
            <a:ext cx="723500" cy="206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11650B-055B-4599-82DC-0DC646B3D883}"/>
              </a:ext>
            </a:extLst>
          </p:cNvPr>
          <p:cNvSpPr/>
          <p:nvPr/>
        </p:nvSpPr>
        <p:spPr>
          <a:xfrm>
            <a:off x="264024" y="3222380"/>
            <a:ext cx="2447826" cy="438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392380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설명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BEA74-6284-4C7B-B7ED-2421A1B3318C}"/>
              </a:ext>
            </a:extLst>
          </p:cNvPr>
          <p:cNvSpPr txBox="1"/>
          <p:nvPr/>
        </p:nvSpPr>
        <p:spPr>
          <a:xfrm>
            <a:off x="292598" y="3260310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“Product</a:t>
            </a:r>
            <a:r>
              <a:rPr lang="ko-KR" altLang="en-US" sz="1000" dirty="0"/>
              <a:t> </a:t>
            </a:r>
            <a:r>
              <a:rPr lang="en-US" altLang="ko-KR" sz="1000" dirty="0"/>
              <a:t>In Jig” LED</a:t>
            </a:r>
            <a:br>
              <a:rPr lang="en-US" altLang="ko-KR" sz="1000" dirty="0"/>
            </a:br>
            <a:r>
              <a:rPr lang="ko-KR" altLang="en-US" sz="1000" dirty="0" err="1"/>
              <a:t>스테이터가</a:t>
            </a:r>
            <a:r>
              <a:rPr lang="ko-KR" altLang="en-US" sz="1000" dirty="0"/>
              <a:t> 해당 지그에 있는지 표시</a:t>
            </a:r>
            <a:r>
              <a:rPr lang="en-US" altLang="ko-KR" sz="1000" dirty="0"/>
              <a:t> 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F08B56-CA96-4E0F-AA81-3A01E4DE9F9E}"/>
              </a:ext>
            </a:extLst>
          </p:cNvPr>
          <p:cNvCxnSpPr>
            <a:cxnSpLocks/>
          </p:cNvCxnSpPr>
          <p:nvPr/>
        </p:nvCxnSpPr>
        <p:spPr>
          <a:xfrm flipV="1">
            <a:off x="2711850" y="3781425"/>
            <a:ext cx="561176" cy="7143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8A6ECE-A125-4672-857B-02A2964B9F9A}"/>
              </a:ext>
            </a:extLst>
          </p:cNvPr>
          <p:cNvSpPr/>
          <p:nvPr/>
        </p:nvSpPr>
        <p:spPr>
          <a:xfrm>
            <a:off x="264024" y="4391606"/>
            <a:ext cx="2447826" cy="122283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9E802F-8CE3-4AA3-B8CF-DB7526BB92D8}"/>
              </a:ext>
            </a:extLst>
          </p:cNvPr>
          <p:cNvSpPr txBox="1"/>
          <p:nvPr/>
        </p:nvSpPr>
        <p:spPr>
          <a:xfrm>
            <a:off x="292598" y="4439323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Receive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로부터 메시지 수신여부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끔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8819861-B6EB-4434-A85C-34FF01B25425}"/>
              </a:ext>
            </a:extLst>
          </p:cNvPr>
          <p:cNvSpPr/>
          <p:nvPr/>
        </p:nvSpPr>
        <p:spPr>
          <a:xfrm>
            <a:off x="3273026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130F83-4ED9-4EB8-B698-50080A072F63}"/>
              </a:ext>
            </a:extLst>
          </p:cNvPr>
          <p:cNvSpPr/>
          <p:nvPr/>
        </p:nvSpPr>
        <p:spPr>
          <a:xfrm>
            <a:off x="4395389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22CF03-D211-44AE-9AFE-B4F1768D52BA}"/>
              </a:ext>
            </a:extLst>
          </p:cNvPr>
          <p:cNvCxnSpPr>
            <a:cxnSpLocks/>
          </p:cNvCxnSpPr>
          <p:nvPr/>
        </p:nvCxnSpPr>
        <p:spPr>
          <a:xfrm flipH="1">
            <a:off x="4574552" y="3173363"/>
            <a:ext cx="3442822" cy="48705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CFE3AF2-3248-4861-A57B-DCFB620CE509}"/>
              </a:ext>
            </a:extLst>
          </p:cNvPr>
          <p:cNvSpPr/>
          <p:nvPr/>
        </p:nvSpPr>
        <p:spPr>
          <a:xfrm>
            <a:off x="8017374" y="2920799"/>
            <a:ext cx="2447826" cy="126072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B09E8E-4240-49C8-9FF3-E3BC6F86F638}"/>
              </a:ext>
            </a:extLst>
          </p:cNvPr>
          <p:cNvSpPr txBox="1"/>
          <p:nvPr/>
        </p:nvSpPr>
        <p:spPr>
          <a:xfrm>
            <a:off x="8045948" y="2968515"/>
            <a:ext cx="23310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 Message Send LED</a:t>
            </a:r>
            <a:br>
              <a:rPr lang="en-US" altLang="ko-KR" sz="1000" dirty="0"/>
            </a:br>
            <a:r>
              <a:rPr lang="en-US" altLang="ko-KR" sz="1000" dirty="0"/>
              <a:t>GMES</a:t>
            </a:r>
            <a:r>
              <a:rPr lang="ko-KR" altLang="en-US" sz="1000" dirty="0"/>
              <a:t>로 메시지 송신여부 표시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ACK </a:t>
            </a:r>
            <a:r>
              <a:rPr lang="ko-KR" altLang="en-US" sz="1000" dirty="0"/>
              <a:t>메시지 수신 시</a:t>
            </a:r>
            <a:r>
              <a:rPr lang="en-US" altLang="ko-KR" sz="1000" dirty="0"/>
              <a:t>, </a:t>
            </a:r>
            <a:br>
              <a:rPr lang="en-US" altLang="ko-KR" sz="1000" dirty="0"/>
            </a:br>
            <a:r>
              <a:rPr lang="ko-KR" altLang="en-US" sz="1000" dirty="0"/>
              <a:t>송신 메시지 </a:t>
            </a:r>
            <a:r>
              <a:rPr lang="en-US" altLang="ko-KR" sz="1000" dirty="0"/>
              <a:t>LED</a:t>
            </a:r>
            <a:r>
              <a:rPr lang="ko-KR" altLang="en-US" sz="1000" dirty="0"/>
              <a:t>는 끔</a:t>
            </a:r>
            <a:endParaRPr lang="en-US" altLang="ko-KR" sz="10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GMES</a:t>
            </a:r>
            <a:r>
              <a:rPr lang="ko-KR" altLang="en-US" sz="1000" dirty="0"/>
              <a:t>는 일반적으로 송신 메시지와 </a:t>
            </a:r>
            <a:br>
              <a:rPr lang="en-US" altLang="ko-KR" sz="1000" dirty="0"/>
            </a:br>
            <a:r>
              <a:rPr lang="en-US" altLang="ko-KR" sz="1000" dirty="0"/>
              <a:t>ACK</a:t>
            </a:r>
            <a:r>
              <a:rPr lang="ko-KR" altLang="en-US" sz="1000" dirty="0"/>
              <a:t>가 쌍이므로</a:t>
            </a:r>
            <a:r>
              <a:rPr lang="en-US" altLang="ko-KR" sz="1000" dirty="0"/>
              <a:t>, ACK </a:t>
            </a:r>
            <a:r>
              <a:rPr lang="ko-KR" altLang="en-US" sz="1000" dirty="0"/>
              <a:t>쪽에 </a:t>
            </a:r>
            <a:r>
              <a:rPr lang="en-US" altLang="ko-KR" sz="1000" dirty="0"/>
              <a:t>LED</a:t>
            </a:r>
            <a:r>
              <a:rPr lang="ko-KR" altLang="en-US" sz="1000" dirty="0"/>
              <a:t>가</a:t>
            </a:r>
            <a:br>
              <a:rPr lang="en-US" altLang="ko-KR" sz="1000" dirty="0"/>
            </a:br>
            <a:r>
              <a:rPr lang="ko-KR" altLang="en-US" sz="1000" dirty="0"/>
              <a:t>켜져 있어야 함</a:t>
            </a:r>
            <a:r>
              <a:rPr lang="en-US" altLang="ko-KR" sz="1000" dirty="0"/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946FAF1-FFAA-4178-8F02-4FDA0B7A3600}"/>
              </a:ext>
            </a:extLst>
          </p:cNvPr>
          <p:cNvSpPr/>
          <p:nvPr/>
        </p:nvSpPr>
        <p:spPr>
          <a:xfrm>
            <a:off x="382071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3881388-536F-4ECA-8BCC-46E96A563F61}"/>
              </a:ext>
            </a:extLst>
          </p:cNvPr>
          <p:cNvCxnSpPr>
            <a:cxnSpLocks/>
          </p:cNvCxnSpPr>
          <p:nvPr/>
        </p:nvCxnSpPr>
        <p:spPr>
          <a:xfrm flipV="1">
            <a:off x="2711850" y="4729163"/>
            <a:ext cx="1108863" cy="143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E57A11B-AB56-4A15-868F-D0E5F5589FEC}"/>
              </a:ext>
            </a:extLst>
          </p:cNvPr>
          <p:cNvSpPr/>
          <p:nvPr/>
        </p:nvSpPr>
        <p:spPr>
          <a:xfrm>
            <a:off x="5609032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9A53C68-6910-4209-96AF-3154ECE1140E}"/>
              </a:ext>
            </a:extLst>
          </p:cNvPr>
          <p:cNvCxnSpPr>
            <a:cxnSpLocks/>
          </p:cNvCxnSpPr>
          <p:nvPr/>
        </p:nvCxnSpPr>
        <p:spPr>
          <a:xfrm flipV="1">
            <a:off x="2711850" y="4276727"/>
            <a:ext cx="2890039" cy="3702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CF2CA8-DC8E-4BD4-8BF8-966BE6A1C5A5}"/>
              </a:ext>
            </a:extLst>
          </p:cNvPr>
          <p:cNvSpPr/>
          <p:nvPr/>
        </p:nvSpPr>
        <p:spPr>
          <a:xfrm>
            <a:off x="6747888" y="3600562"/>
            <a:ext cx="162324" cy="6761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FE958B6-CA09-4539-A294-D2E5B67894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11850" y="3163677"/>
            <a:ext cx="3052363" cy="2966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D3B9511-BB2B-4CEB-84D4-193FCA8083DB}"/>
              </a:ext>
            </a:extLst>
          </p:cNvPr>
          <p:cNvSpPr/>
          <p:nvPr/>
        </p:nvSpPr>
        <p:spPr>
          <a:xfrm>
            <a:off x="6154163" y="4598337"/>
            <a:ext cx="162324" cy="5953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2F30BA5-1060-4520-A48D-4892DACC471E}"/>
              </a:ext>
            </a:extLst>
          </p:cNvPr>
          <p:cNvSpPr/>
          <p:nvPr/>
        </p:nvSpPr>
        <p:spPr>
          <a:xfrm>
            <a:off x="3278981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A06BAD6-B112-444D-A1C8-2CE5B42E49D8}"/>
              </a:ext>
            </a:extLst>
          </p:cNvPr>
          <p:cNvSpPr/>
          <p:nvPr/>
        </p:nvSpPr>
        <p:spPr>
          <a:xfrm>
            <a:off x="5609826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4691FA3-FDF2-4719-A121-70B8A33388D7}"/>
              </a:ext>
            </a:extLst>
          </p:cNvPr>
          <p:cNvSpPr/>
          <p:nvPr/>
        </p:nvSpPr>
        <p:spPr>
          <a:xfrm>
            <a:off x="264024" y="5893631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AAAB7E-5009-4680-9B43-9E3FFA09757B}"/>
              </a:ext>
            </a:extLst>
          </p:cNvPr>
          <p:cNvSpPr txBox="1"/>
          <p:nvPr/>
        </p:nvSpPr>
        <p:spPr>
          <a:xfrm>
            <a:off x="292598" y="5941347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PLC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PLC -&gt; PC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CC6C3ED-BACD-4FD5-BECA-F92C3DF8AB7A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2711850" y="5855733"/>
            <a:ext cx="2890039" cy="2807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4A3D73D-127C-4C43-87F2-29F590E55F33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711850" y="5732924"/>
            <a:ext cx="567131" cy="2462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DF452872-2CA9-49AF-A9BD-BC50538609C5}"/>
              </a:ext>
            </a:extLst>
          </p:cNvPr>
          <p:cNvCxnSpPr>
            <a:cxnSpLocks/>
          </p:cNvCxnSpPr>
          <p:nvPr/>
        </p:nvCxnSpPr>
        <p:spPr>
          <a:xfrm>
            <a:off x="2711850" y="6272580"/>
            <a:ext cx="1190025" cy="142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74438DD-6395-424B-BF94-BED175BBCD6F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6910212" y="3551162"/>
            <a:ext cx="1107162" cy="2983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E03E093B-A8F5-4AC5-BF36-1C31975D3FDE}"/>
              </a:ext>
            </a:extLst>
          </p:cNvPr>
          <p:cNvCxnSpPr>
            <a:cxnSpLocks/>
          </p:cNvCxnSpPr>
          <p:nvPr/>
        </p:nvCxnSpPr>
        <p:spPr>
          <a:xfrm flipH="1">
            <a:off x="6348151" y="3781425"/>
            <a:ext cx="1640649" cy="9477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0EFBDFE6-214B-4927-8CE4-05C1722AA595}"/>
              </a:ext>
            </a:extLst>
          </p:cNvPr>
          <p:cNvSpPr/>
          <p:nvPr/>
        </p:nvSpPr>
        <p:spPr>
          <a:xfrm>
            <a:off x="4396578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883AEFE-A2B0-4C2A-BCE4-06AC359DEA9B}"/>
              </a:ext>
            </a:extLst>
          </p:cNvPr>
          <p:cNvSpPr/>
          <p:nvPr/>
        </p:nvSpPr>
        <p:spPr>
          <a:xfrm>
            <a:off x="6752252" y="5524500"/>
            <a:ext cx="162324" cy="4168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7472A365-04EA-4DA3-9770-8A0ACAC74B86}"/>
              </a:ext>
            </a:extLst>
          </p:cNvPr>
          <p:cNvCxnSpPr>
            <a:cxnSpLocks/>
          </p:cNvCxnSpPr>
          <p:nvPr/>
        </p:nvCxnSpPr>
        <p:spPr>
          <a:xfrm flipH="1">
            <a:off x="4574553" y="5237770"/>
            <a:ext cx="3546479" cy="3569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956F2C7B-E18A-4144-89ED-0D013C8249D9}"/>
              </a:ext>
            </a:extLst>
          </p:cNvPr>
          <p:cNvCxnSpPr>
            <a:cxnSpLocks/>
          </p:cNvCxnSpPr>
          <p:nvPr/>
        </p:nvCxnSpPr>
        <p:spPr>
          <a:xfrm flipH="1">
            <a:off x="6945435" y="5350194"/>
            <a:ext cx="1175597" cy="2445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2FBF98F-5240-4022-AF37-0FED5DDA4539}"/>
              </a:ext>
            </a:extLst>
          </p:cNvPr>
          <p:cNvCxnSpPr>
            <a:cxnSpLocks/>
          </p:cNvCxnSpPr>
          <p:nvPr/>
        </p:nvCxnSpPr>
        <p:spPr>
          <a:xfrm flipH="1">
            <a:off x="6281799" y="5480370"/>
            <a:ext cx="1839233" cy="9144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39236C8-88D8-4A03-B329-90E29CE186B5}"/>
              </a:ext>
            </a:extLst>
          </p:cNvPr>
          <p:cNvSpPr/>
          <p:nvPr/>
        </p:nvSpPr>
        <p:spPr>
          <a:xfrm>
            <a:off x="8045948" y="5109013"/>
            <a:ext cx="2447826" cy="4857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6A9351-4FEF-4A99-B422-42933F2595A2}"/>
              </a:ext>
            </a:extLst>
          </p:cNvPr>
          <p:cNvSpPr txBox="1"/>
          <p:nvPr/>
        </p:nvSpPr>
        <p:spPr>
          <a:xfrm>
            <a:off x="8074522" y="5156729"/>
            <a:ext cx="2380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PC Bit ON/OFF</a:t>
            </a:r>
            <a:r>
              <a:rPr lang="ko-KR" altLang="en-US" sz="1000" dirty="0"/>
              <a:t> </a:t>
            </a:r>
            <a:r>
              <a:rPr lang="en-US" altLang="ko-KR" sz="1000" dirty="0"/>
              <a:t>LED</a:t>
            </a:r>
            <a:br>
              <a:rPr lang="en-US" altLang="ko-KR" sz="1000" dirty="0"/>
            </a:br>
            <a:r>
              <a:rPr lang="en-US" altLang="ko-KR" sz="1000" dirty="0"/>
              <a:t>PC -&gt; PLC</a:t>
            </a:r>
            <a:r>
              <a:rPr lang="ko-KR" altLang="en-US" sz="1000" dirty="0"/>
              <a:t>로 할당된 </a:t>
            </a:r>
            <a:r>
              <a:rPr lang="en-US" altLang="ko-KR" sz="1000" dirty="0"/>
              <a:t>Bit On/Off </a:t>
            </a:r>
            <a:r>
              <a:rPr lang="ko-KR" altLang="en-US" sz="1000" dirty="0"/>
              <a:t>표시</a:t>
            </a:r>
            <a:endParaRPr lang="en-US" altLang="ko-KR" sz="1000" dirty="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09A7CA0-2148-487E-97FE-2FBB7F38B38C}"/>
              </a:ext>
            </a:extLst>
          </p:cNvPr>
          <p:cNvSpPr/>
          <p:nvPr/>
        </p:nvSpPr>
        <p:spPr>
          <a:xfrm>
            <a:off x="3660352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1B804DA4-B8A6-46E6-A4C3-D3EEEEC6BA8E}"/>
              </a:ext>
            </a:extLst>
          </p:cNvPr>
          <p:cNvSpPr/>
          <p:nvPr/>
        </p:nvSpPr>
        <p:spPr>
          <a:xfrm>
            <a:off x="6012627" y="2855727"/>
            <a:ext cx="1876848" cy="3982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6CEE7FB-03F0-4578-AB73-5A3B26A13F29}"/>
              </a:ext>
            </a:extLst>
          </p:cNvPr>
          <p:cNvSpPr/>
          <p:nvPr/>
        </p:nvSpPr>
        <p:spPr>
          <a:xfrm>
            <a:off x="8017374" y="1603519"/>
            <a:ext cx="2447826" cy="1072957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993E7E5-3B2B-452E-85E7-3CA6AF187413}"/>
              </a:ext>
            </a:extLst>
          </p:cNvPr>
          <p:cNvSpPr txBox="1"/>
          <p:nvPr/>
        </p:nvSpPr>
        <p:spPr>
          <a:xfrm>
            <a:off x="8045948" y="1651235"/>
            <a:ext cx="23503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Jig </a:t>
            </a:r>
            <a:r>
              <a:rPr lang="ko-KR" altLang="en-US" sz="1000" dirty="0"/>
              <a:t>상태 표시 창</a:t>
            </a:r>
            <a:br>
              <a:rPr lang="en-US" altLang="ko-KR" sz="1000" dirty="0"/>
            </a:br>
            <a:r>
              <a:rPr lang="ko-KR" altLang="en-US" sz="1000" dirty="0"/>
              <a:t>정상적일 경우</a:t>
            </a:r>
            <a:r>
              <a:rPr lang="en-US" altLang="ko-KR" sz="1000" dirty="0"/>
              <a:t>, Normal </a:t>
            </a:r>
            <a:r>
              <a:rPr lang="ko-KR" altLang="en-US" sz="1000" dirty="0"/>
              <a:t>표시와 함께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녹색으로 표시됨</a:t>
            </a:r>
            <a:r>
              <a:rPr lang="en-US" altLang="ko-KR" sz="1000" dirty="0"/>
              <a:t>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000" dirty="0"/>
              <a:t>Error </a:t>
            </a:r>
            <a:r>
              <a:rPr lang="ko-KR" altLang="en-US" sz="1000" dirty="0"/>
              <a:t>상황일 경우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Error</a:t>
            </a:r>
            <a:r>
              <a:rPr lang="ko-KR" altLang="en-US" sz="1000" dirty="0"/>
              <a:t> 메시지와 같이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적색으로 표시됨</a:t>
            </a:r>
            <a:r>
              <a:rPr lang="en-US" altLang="ko-KR" sz="1000" dirty="0"/>
              <a:t>.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284EC40C-8210-4C04-97C7-D2813093113E}"/>
              </a:ext>
            </a:extLst>
          </p:cNvPr>
          <p:cNvCxnSpPr>
            <a:cxnSpLocks/>
          </p:cNvCxnSpPr>
          <p:nvPr/>
        </p:nvCxnSpPr>
        <p:spPr>
          <a:xfrm flipH="1">
            <a:off x="5520605" y="2202633"/>
            <a:ext cx="2468195" cy="641917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9902243-F9A1-4AEE-B608-A80A4C651C93}"/>
              </a:ext>
            </a:extLst>
          </p:cNvPr>
          <p:cNvCxnSpPr>
            <a:cxnSpLocks/>
          </p:cNvCxnSpPr>
          <p:nvPr/>
        </p:nvCxnSpPr>
        <p:spPr>
          <a:xfrm flipH="1">
            <a:off x="6886935" y="2338944"/>
            <a:ext cx="1101865" cy="505606"/>
          </a:xfrm>
          <a:prstGeom prst="straightConnector1">
            <a:avLst/>
          </a:prstGeom>
          <a:ln w="25400">
            <a:solidFill>
              <a:srgbClr val="FF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75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System Configuration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243564"/>
            <a:ext cx="491440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GMES Interface SW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화면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Error </a:t>
            </a:r>
            <a:r>
              <a:rPr lang="ko-KR" altLang="en-US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상황시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0654D8-ADD9-4561-A027-FF3D1122C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67" y="1657906"/>
            <a:ext cx="4843433" cy="504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91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310856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MODE INITIAL SCENARIO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AF3680-0309-4821-ADF0-961DD8B5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50" y="1889551"/>
            <a:ext cx="2888131" cy="4316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5579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초기화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MES Interface SW(</a:t>
            </a:r>
            <a:r>
              <a:rPr lang="ko-KR" altLang="en-US" sz="1200" dirty="0"/>
              <a:t>이하 </a:t>
            </a:r>
            <a:r>
              <a:rPr lang="en-US" altLang="ko-KR" sz="1200" dirty="0"/>
              <a:t>MIS</a:t>
            </a:r>
            <a:r>
              <a:rPr lang="ko-KR" altLang="en-US" sz="1200" dirty="0"/>
              <a:t>로 표시</a:t>
            </a:r>
            <a:r>
              <a:rPr lang="en-US" altLang="ko-KR" sz="1200" dirty="0"/>
              <a:t>) </a:t>
            </a:r>
            <a:r>
              <a:rPr lang="ko-KR" altLang="en-US" sz="1200" dirty="0"/>
              <a:t>실행 시</a:t>
            </a:r>
            <a:r>
              <a:rPr lang="en-US" altLang="ko-KR" sz="1200" dirty="0"/>
              <a:t>, GMES</a:t>
            </a:r>
            <a:r>
              <a:rPr lang="ko-KR" altLang="en-US" sz="1200" dirty="0"/>
              <a:t>와 초기 연결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43534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EDTS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 수신 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컴퓨터 시간을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보내준 시간으로 변경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904875" y="5339554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4C92D-A812-4554-9FE8-BFCB8703F2DF}"/>
              </a:ext>
            </a:extLst>
          </p:cNvPr>
          <p:cNvSpPr txBox="1"/>
          <p:nvPr/>
        </p:nvSpPr>
        <p:spPr>
          <a:xfrm>
            <a:off x="4069183" y="540778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52DE2-87B8-4C11-BF7B-8226B3A7E07B}"/>
              </a:ext>
            </a:extLst>
          </p:cNvPr>
          <p:cNvSpPr txBox="1"/>
          <p:nvPr/>
        </p:nvSpPr>
        <p:spPr>
          <a:xfrm>
            <a:off x="4069183" y="48465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통신상태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Online)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</a:b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주의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: Online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 아닐 경우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이후 보고 사항 상위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(GMES)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응답 없음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5A914-5817-4A03-8B81-369EB1784E0B}"/>
              </a:ext>
            </a:extLst>
          </p:cNvPr>
          <p:cNvSpPr txBox="1"/>
          <p:nvPr/>
        </p:nvSpPr>
        <p:spPr>
          <a:xfrm>
            <a:off x="4069183" y="316063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EAYT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메시지를 이용하여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MES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현장비에 대한 정보를 획득한다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77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4A320-81EE-45C7-985B-989EC97F86F2}"/>
              </a:ext>
            </a:extLst>
          </p:cNvPr>
          <p:cNvSpPr txBox="1"/>
          <p:nvPr/>
        </p:nvSpPr>
        <p:spPr>
          <a:xfrm>
            <a:off x="4069183" y="1788560"/>
            <a:ext cx="4839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0000FF"/>
                </a:solidFill>
              </a:rPr>
              <a:t>일반 시나리오</a:t>
            </a:r>
            <a:r>
              <a:rPr lang="en-US" altLang="ko-KR" sz="1600" dirty="0">
                <a:solidFill>
                  <a:srgbClr val="0000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제품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스테이터</a:t>
            </a:r>
            <a:r>
              <a:rPr lang="en-US" altLang="ko-KR" sz="1200" dirty="0"/>
              <a:t>) </a:t>
            </a:r>
            <a:r>
              <a:rPr lang="ko-KR" altLang="en-US" sz="1200" dirty="0"/>
              <a:t>투입에서 배출까지의 일반상황에 대한 시나리오</a:t>
            </a:r>
            <a:endParaRPr lang="en-US" altLang="ko-KR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290171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Link Test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연결여부 확인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약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~ 30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초 간격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GMES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설정에 따라 달라짐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033666A-F869-4E59-B331-6F4F29012756}"/>
              </a:ext>
            </a:extLst>
          </p:cNvPr>
          <p:cNvSpPr/>
          <p:nvPr/>
        </p:nvSpPr>
        <p:spPr>
          <a:xfrm>
            <a:off x="804661" y="5616553"/>
            <a:ext cx="3076575" cy="562057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다음장에 계속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ACEC9-DC77-406F-8020-C224FCE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61" y="2082869"/>
            <a:ext cx="3117396" cy="33951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38321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투입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바코드로 읽은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LOT ID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2893F-16D2-4D47-A423-DA5431108566}"/>
              </a:ext>
            </a:extLst>
          </p:cNvPr>
          <p:cNvSpPr txBox="1"/>
          <p:nvPr/>
        </p:nvSpPr>
        <p:spPr>
          <a:xfrm>
            <a:off x="4069183" y="493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LOT ID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해당되는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Product Data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수신</a:t>
            </a:r>
          </a:p>
        </p:txBody>
      </p:sp>
    </p:spTree>
    <p:extLst>
      <p:ext uri="{BB962C8B-B14F-4D97-AF65-F5344CB8AC3E}">
        <p14:creationId xmlns:p14="http://schemas.microsoft.com/office/powerpoint/2010/main" val="327245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ONLINE NORMAL SCENARIO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AA12C-61B3-419E-9009-2B21A9D291CB}"/>
              </a:ext>
            </a:extLst>
          </p:cNvPr>
          <p:cNvSpPr txBox="1"/>
          <p:nvPr/>
        </p:nvSpPr>
        <p:spPr>
          <a:xfrm>
            <a:off x="4069183" y="345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제품 정보 관련 생성하지 않으므로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EAPD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생략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653C1-9F63-48FF-8284-F0A6F43079C2}"/>
              </a:ext>
            </a:extLst>
          </p:cNvPr>
          <p:cNvSpPr txBox="1"/>
          <p:nvPr/>
        </p:nvSpPr>
        <p:spPr>
          <a:xfrm>
            <a:off x="4069183" y="41602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dirty="0">
                <a:solidFill>
                  <a:srgbClr val="0000FF"/>
                </a:solidFill>
                <a:latin typeface="맑은 고딕" panose="020F0502020204030204"/>
                <a:ea typeface="맑은 고딕" panose="020B0503020000020004" pitchFamily="50" charset="-127"/>
              </a:rPr>
              <a:t>배출보고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검사 결과 데이터 송신</a:t>
            </a:r>
            <a:r>
              <a:rPr lang="en-US" altLang="ko-KR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9E6AF-A51A-4F0D-97C7-7599FE75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82" y="1870501"/>
            <a:ext cx="3065954" cy="3868452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01B81C-BB27-48EB-920D-2AF57981DD62}"/>
              </a:ext>
            </a:extLst>
          </p:cNvPr>
          <p:cNvSpPr/>
          <p:nvPr/>
        </p:nvSpPr>
        <p:spPr>
          <a:xfrm>
            <a:off x="827477" y="2324100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1DF45-DFC8-4164-A995-752BCD67682F}"/>
              </a:ext>
            </a:extLst>
          </p:cNvPr>
          <p:cNvSpPr txBox="1"/>
          <p:nvPr/>
        </p:nvSpPr>
        <p:spPr>
          <a:xfrm>
            <a:off x="4069183" y="238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CC7EFF-58BC-4B36-89D8-8021073F52BA}"/>
              </a:ext>
            </a:extLst>
          </p:cNvPr>
          <p:cNvSpPr/>
          <p:nvPr/>
        </p:nvSpPr>
        <p:spPr>
          <a:xfrm>
            <a:off x="827477" y="3410982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48DEC89-BD83-4E77-A8DB-7D02AD34BC7D}"/>
              </a:ext>
            </a:extLst>
          </p:cNvPr>
          <p:cNvSpPr/>
          <p:nvPr/>
        </p:nvSpPr>
        <p:spPr>
          <a:xfrm>
            <a:off x="827477" y="4777171"/>
            <a:ext cx="3076575" cy="590550"/>
          </a:xfrm>
          <a:prstGeom prst="roundRect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생략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5CC70-5098-4967-9633-80D69D77BD4D}"/>
              </a:ext>
            </a:extLst>
          </p:cNvPr>
          <p:cNvSpPr txBox="1"/>
          <p:nvPr/>
        </p:nvSpPr>
        <p:spPr>
          <a:xfrm>
            <a:off x="4069183" y="487585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장비의 상태는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PLC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제어하므로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EESR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동작은 생략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4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PLC – Communication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05717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Link 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5DD750D-C13C-6BC2-0526-C77FD44AB0DC}"/>
              </a:ext>
            </a:extLst>
          </p:cNvPr>
          <p:cNvCxnSpPr>
            <a:cxnSpLocks/>
          </p:cNvCxnSpPr>
          <p:nvPr/>
        </p:nvCxnSpPr>
        <p:spPr>
          <a:xfrm>
            <a:off x="6021909" y="2898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FC429C-F306-6816-E9A5-75FB7AB77604}"/>
              </a:ext>
            </a:extLst>
          </p:cNvPr>
          <p:cNvSpPr txBox="1"/>
          <p:nvPr/>
        </p:nvSpPr>
        <p:spPr>
          <a:xfrm>
            <a:off x="7348195" y="2590810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F45F6-F38C-242A-3061-8112648B7F61}"/>
              </a:ext>
            </a:extLst>
          </p:cNvPr>
          <p:cNvSpPr/>
          <p:nvPr/>
        </p:nvSpPr>
        <p:spPr>
          <a:xfrm>
            <a:off x="6779941" y="3077007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616E10-8434-E351-A072-4F745736FD3A}"/>
              </a:ext>
            </a:extLst>
          </p:cNvPr>
          <p:cNvCxnSpPr>
            <a:cxnSpLocks/>
          </p:cNvCxnSpPr>
          <p:nvPr/>
        </p:nvCxnSpPr>
        <p:spPr>
          <a:xfrm>
            <a:off x="6021909" y="38018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41DF68-DF35-C6E4-240A-5621CA2F2A4D}"/>
              </a:ext>
            </a:extLst>
          </p:cNvPr>
          <p:cNvSpPr txBox="1"/>
          <p:nvPr/>
        </p:nvSpPr>
        <p:spPr>
          <a:xfrm>
            <a:off x="7348195" y="3494058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D50000.0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F2F3EA9-89A9-24DE-212D-D610F182BE57}"/>
              </a:ext>
            </a:extLst>
          </p:cNvPr>
          <p:cNvSpPr/>
          <p:nvPr/>
        </p:nvSpPr>
        <p:spPr>
          <a:xfrm>
            <a:off x="5698274" y="2497873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4DACD2A-218D-B7C1-BF42-A6E95FD8A11D}"/>
              </a:ext>
            </a:extLst>
          </p:cNvPr>
          <p:cNvSpPr/>
          <p:nvPr/>
        </p:nvSpPr>
        <p:spPr>
          <a:xfrm>
            <a:off x="5700578" y="2503838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483151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348195" y="4523735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9924312-AA5D-B5D5-EAC2-B1E80350A592}"/>
              </a:ext>
            </a:extLst>
          </p:cNvPr>
          <p:cNvSpPr/>
          <p:nvPr/>
        </p:nvSpPr>
        <p:spPr>
          <a:xfrm>
            <a:off x="6779941" y="5009932"/>
            <a:ext cx="2732048" cy="27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 </a:t>
            </a:r>
            <a:r>
              <a:rPr lang="ko-KR" altLang="en-US" sz="1200" dirty="0"/>
              <a:t>초 후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3E6C3D9-87FB-8515-BCA9-E0DBCF781AA9}"/>
              </a:ext>
            </a:extLst>
          </p:cNvPr>
          <p:cNvCxnSpPr>
            <a:cxnSpLocks/>
          </p:cNvCxnSpPr>
          <p:nvPr/>
        </p:nvCxnSpPr>
        <p:spPr>
          <a:xfrm>
            <a:off x="6021909" y="573476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3F46E-8A59-51B0-E538-212EA2DD7FFA}"/>
              </a:ext>
            </a:extLst>
          </p:cNvPr>
          <p:cNvSpPr txBox="1"/>
          <p:nvPr/>
        </p:nvSpPr>
        <p:spPr>
          <a:xfrm>
            <a:off x="7348195" y="5426983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D51000.0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CDE51C-A6F9-5088-9547-9C810CA02B7A}"/>
              </a:ext>
            </a:extLst>
          </p:cNvPr>
          <p:cNvSpPr/>
          <p:nvPr/>
        </p:nvSpPr>
        <p:spPr>
          <a:xfrm>
            <a:off x="5698274" y="4430798"/>
            <a:ext cx="4672360" cy="1449659"/>
          </a:xfrm>
          <a:prstGeom prst="roundRect">
            <a:avLst>
              <a:gd name="adj" fmla="val 859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1375457-B7D7-0BD8-0C5B-4999816B647D}"/>
              </a:ext>
            </a:extLst>
          </p:cNvPr>
          <p:cNvSpPr/>
          <p:nvPr/>
        </p:nvSpPr>
        <p:spPr>
          <a:xfrm>
            <a:off x="5700578" y="4436763"/>
            <a:ext cx="1102517" cy="305539"/>
          </a:xfrm>
          <a:prstGeom prst="roundRect">
            <a:avLst>
              <a:gd name="adj" fmla="val 8592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반복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A00483-FDBF-5C45-077A-578A56865B23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55D1375-CDF1-27E7-BC47-2E82E13F0684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83975F24-75D3-5502-F138-0342929639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5A5F700-1429-6DF7-7409-401229CE2B9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B6BD0-50C6-0815-D03D-EA2BD88417F4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97F1C8-6F35-1364-DA19-0AC580A9AE99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57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78385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A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8991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31060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7676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7294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3432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6392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90747" y="5404058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6D31C-6E16-4EDD-AE0C-BFDFA375E56E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3693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029076" cy="56205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투입보고 </a:t>
            </a:r>
            <a:r>
              <a:rPr lang="en-US" altLang="ko-KR" dirty="0"/>
              <a:t>– JIG B 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6942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0465D6E-9D17-40A8-9906-2CC6E7F3EDF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899167" y="4777577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6918C11-476B-4410-B8A1-5DE15E918AE4}"/>
              </a:ext>
            </a:extLst>
          </p:cNvPr>
          <p:cNvSpPr txBox="1"/>
          <p:nvPr/>
        </p:nvSpPr>
        <p:spPr>
          <a:xfrm>
            <a:off x="6778518" y="452371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5F34E0-ADBC-4421-B748-E401828A6AAB}"/>
              </a:ext>
            </a:extLst>
          </p:cNvPr>
          <p:cNvSpPr txBox="1"/>
          <p:nvPr/>
        </p:nvSpPr>
        <p:spPr>
          <a:xfrm>
            <a:off x="7091048" y="4501287"/>
            <a:ext cx="27649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53005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25074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91691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613084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28337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6004069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99E582-AC62-4190-B14B-F0917CED9E8E}"/>
              </a:ext>
            </a:extLst>
          </p:cNvPr>
          <p:cNvSpPr txBox="1"/>
          <p:nvPr/>
        </p:nvSpPr>
        <p:spPr>
          <a:xfrm>
            <a:off x="10090747" y="533608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D8688F-85BD-4DB6-BFD6-442DEA29D896}"/>
              </a:ext>
            </a:extLst>
          </p:cNvPr>
          <p:cNvSpPr txBox="1"/>
          <p:nvPr/>
        </p:nvSpPr>
        <p:spPr>
          <a:xfrm>
            <a:off x="4194734" y="1317535"/>
            <a:ext cx="2583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Error</a:t>
            </a:r>
            <a:r>
              <a:rPr lang="ko-KR" altLang="en-US" sz="1200" dirty="0"/>
              <a:t> 없이 정상적으로 투입된 경우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66511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Case(GMES Barcode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548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7556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4172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3790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0819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2888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475567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35AECDB9-3D36-428F-8BF3-102F6B63999A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BD02892-2549-487C-BC9E-412DA6DE0428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582597E-1497-44C1-BD78-402D0CD8770D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48541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477235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449305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15921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4855387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552567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246372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9E7F7C-C70F-4B4A-87EF-F8616F8FF6B0}"/>
              </a:ext>
            </a:extLst>
          </p:cNvPr>
          <p:cNvSpPr txBox="1"/>
          <p:nvPr/>
        </p:nvSpPr>
        <p:spPr>
          <a:xfrm>
            <a:off x="6475015" y="357201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C2BEE90-D12A-4EE3-9354-8571B08FD595}"/>
              </a:ext>
            </a:extLst>
          </p:cNvPr>
          <p:cNvCxnSpPr>
            <a:cxnSpLocks/>
          </p:cNvCxnSpPr>
          <p:nvPr/>
        </p:nvCxnSpPr>
        <p:spPr>
          <a:xfrm>
            <a:off x="6021909" y="38221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387E507-74B8-4A64-B858-65ED3C418C36}"/>
              </a:ext>
            </a:extLst>
          </p:cNvPr>
          <p:cNvSpPr txBox="1"/>
          <p:nvPr/>
        </p:nvSpPr>
        <p:spPr>
          <a:xfrm>
            <a:off x="7201152" y="3556915"/>
            <a:ext cx="2578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631551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Case(GMES Barcode Error)</a:t>
            </a:r>
            <a:endParaRPr lang="ko-KR" altLang="en-US" sz="24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E05B4D6-C3EB-4EFD-BC40-2B329278A9DD}"/>
              </a:ext>
            </a:extLst>
          </p:cNvPr>
          <p:cNvSpPr/>
          <p:nvPr/>
        </p:nvSpPr>
        <p:spPr>
          <a:xfrm>
            <a:off x="2264266" y="3898500"/>
            <a:ext cx="3464835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Event Report Ack</a:t>
            </a:r>
            <a:r>
              <a:rPr lang="ko-KR" altLang="en-US" sz="1050" dirty="0"/>
              <a:t>에서 </a:t>
            </a:r>
            <a:r>
              <a:rPr lang="en-US" altLang="ko-KR" sz="1050" dirty="0"/>
              <a:t>Not Accepted</a:t>
            </a:r>
            <a:r>
              <a:rPr lang="ko-KR" altLang="en-US" sz="1050" dirty="0"/>
              <a:t>일 경우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EPDS(Product Data Send) </a:t>
            </a:r>
            <a:r>
              <a:rPr lang="ko-KR" altLang="en-US" sz="1050" dirty="0"/>
              <a:t>메시지는 들어오지 않는다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30C78C-E2EF-4CDD-82D4-621D2424D22C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B48F818-DA25-4505-A332-983581F1B2FA}"/>
              </a:ext>
            </a:extLst>
          </p:cNvPr>
          <p:cNvSpPr/>
          <p:nvPr/>
        </p:nvSpPr>
        <p:spPr>
          <a:xfrm>
            <a:off x="8575869" y="5632164"/>
            <a:ext cx="2775490" cy="9374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r>
              <a:rPr lang="en-US" altLang="ko-KR" sz="1050" dirty="0"/>
              <a:t>.</a:t>
            </a:r>
          </a:p>
          <a:p>
            <a:endParaRPr lang="en-US" altLang="ko-KR" sz="1050" dirty="0"/>
          </a:p>
          <a:p>
            <a:r>
              <a:rPr lang="ko-KR" altLang="en-US" sz="1050" dirty="0"/>
              <a:t>재시도를 선택할 경우</a:t>
            </a:r>
            <a:r>
              <a:rPr lang="en-US" altLang="ko-KR" sz="1050" dirty="0"/>
              <a:t>, </a:t>
            </a:r>
            <a:r>
              <a:rPr lang="ko-KR" altLang="en-US" sz="1050" dirty="0"/>
              <a:t>투입보고부터 다시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PASS</a:t>
            </a:r>
            <a:r>
              <a:rPr lang="ko-KR" altLang="en-US" sz="1050" dirty="0"/>
              <a:t>의 경우</a:t>
            </a:r>
            <a:r>
              <a:rPr lang="en-US" altLang="ko-KR" sz="1050" dirty="0"/>
              <a:t>, Pass Case </a:t>
            </a:r>
            <a:r>
              <a:rPr lang="ko-KR" altLang="en-US" sz="1050" dirty="0"/>
              <a:t>시나리오 참고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15264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A Abnormal Case(Stator Model Error)</a:t>
            </a: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32131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48736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837427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9759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775255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Model No Error(D50001.2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4361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15685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82301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519189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894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910174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046643" y="4913754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8F62E5-C3C1-4514-8F71-5A8E08943B9F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807FF0F-AF9E-4581-8F6D-3131F266674C}"/>
              </a:ext>
            </a:extLst>
          </p:cNvPr>
          <p:cNvSpPr/>
          <p:nvPr/>
        </p:nvSpPr>
        <p:spPr>
          <a:xfrm>
            <a:off x="8551307" y="6280405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2895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3454462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59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2332131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5E3C6343-7471-0A19-186D-7A33C0E02A04}"/>
              </a:ext>
            </a:extLst>
          </p:cNvPr>
          <p:cNvSpPr/>
          <p:nvPr/>
        </p:nvSpPr>
        <p:spPr>
          <a:xfrm>
            <a:off x="5146538" y="4430451"/>
            <a:ext cx="1752629" cy="38584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Error?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743804-EE77-D65D-263E-1FDFB0C53B61}"/>
              </a:ext>
            </a:extLst>
          </p:cNvPr>
          <p:cNvSpPr/>
          <p:nvPr/>
        </p:nvSpPr>
        <p:spPr>
          <a:xfrm>
            <a:off x="6328170" y="3893746"/>
            <a:ext cx="3350342" cy="5803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Error </a:t>
            </a:r>
            <a:r>
              <a:rPr lang="ko-KR" altLang="en-US" sz="1050" dirty="0"/>
              <a:t>판단 기준</a:t>
            </a:r>
            <a:endParaRPr lang="en-US" altLang="ko-KR" sz="1050" dirty="0"/>
          </a:p>
          <a:p>
            <a:r>
              <a:rPr lang="en-US" altLang="ko-KR" sz="1050" dirty="0"/>
              <a:t>: </a:t>
            </a:r>
            <a:r>
              <a:rPr lang="ko-KR" altLang="en-US" sz="1050" dirty="0" err="1"/>
              <a:t>스테이터</a:t>
            </a:r>
            <a:r>
              <a:rPr lang="ko-KR" altLang="en-US" sz="1050" dirty="0"/>
              <a:t> 모델명이 현재 </a:t>
            </a:r>
            <a:r>
              <a:rPr lang="en-US" altLang="ko-KR" sz="1050" dirty="0"/>
              <a:t>PLC </a:t>
            </a:r>
            <a:r>
              <a:rPr lang="ko-KR" altLang="en-US" sz="1050" dirty="0"/>
              <a:t>설정과 </a:t>
            </a:r>
            <a:r>
              <a:rPr lang="ko-KR" altLang="en-US" sz="1050" dirty="0" err="1"/>
              <a:t>같은지</a:t>
            </a:r>
            <a:r>
              <a:rPr lang="ko-KR" altLang="en-US" sz="1050" dirty="0"/>
              <a:t> 판단</a:t>
            </a:r>
            <a:endParaRPr lang="en-US" altLang="ko-KR" sz="1050" dirty="0"/>
          </a:p>
          <a:p>
            <a:r>
              <a:rPr lang="en-US" altLang="ko-KR" sz="1050" dirty="0"/>
              <a:t>(77 Model or 76 Model)</a:t>
            </a:r>
            <a:endParaRPr lang="ko-KR" alt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B1358-5A3F-B73C-6502-F7083FF50806}"/>
              </a:ext>
            </a:extLst>
          </p:cNvPr>
          <p:cNvSpPr txBox="1"/>
          <p:nvPr/>
        </p:nvSpPr>
        <p:spPr>
          <a:xfrm>
            <a:off x="6042691" y="4756285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501645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722265" y="4694113"/>
            <a:ext cx="2736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Model No Error(D50001.3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2775944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2456939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3067657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2769564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55E84BF-4B89-43E5-B294-DF0F8E1EFD79}"/>
              </a:ext>
            </a:extLst>
          </p:cNvPr>
          <p:cNvCxnSpPr>
            <a:cxnSpLocks/>
          </p:cNvCxnSpPr>
          <p:nvPr/>
        </p:nvCxnSpPr>
        <p:spPr>
          <a:xfrm>
            <a:off x="2080203" y="3992738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A0EC2C-F38F-48B4-BBC3-FA5255C82E4D}"/>
              </a:ext>
            </a:extLst>
          </p:cNvPr>
          <p:cNvSpPr txBox="1"/>
          <p:nvPr/>
        </p:nvSpPr>
        <p:spPr>
          <a:xfrm>
            <a:off x="3049113" y="3704011"/>
            <a:ext cx="2011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 : Product Data Send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330305-0FED-4CD3-80DB-C696BEFBBD0D}"/>
              </a:ext>
            </a:extLst>
          </p:cNvPr>
          <p:cNvCxnSpPr>
            <a:cxnSpLocks/>
          </p:cNvCxnSpPr>
          <p:nvPr/>
        </p:nvCxnSpPr>
        <p:spPr>
          <a:xfrm>
            <a:off x="2080203" y="4299999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35A8F4C-4CEB-48FD-AEED-A4295802CE0D}"/>
              </a:ext>
            </a:extLst>
          </p:cNvPr>
          <p:cNvSpPr txBox="1"/>
          <p:nvPr/>
        </p:nvSpPr>
        <p:spPr>
          <a:xfrm>
            <a:off x="3017053" y="3995397"/>
            <a:ext cx="2075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EPDS_R :</a:t>
            </a:r>
            <a:r>
              <a:rPr lang="ko-KR" altLang="en-US" sz="1200" dirty="0"/>
              <a:t> </a:t>
            </a:r>
            <a:r>
              <a:rPr lang="en-US" altLang="ko-KR" sz="1200" dirty="0"/>
              <a:t>Product Data Ack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EC43F6-C1E7-4578-9601-C6EEDD51DB54}"/>
              </a:ext>
            </a:extLst>
          </p:cNvPr>
          <p:cNvCxnSpPr>
            <a:cxnSpLocks/>
          </p:cNvCxnSpPr>
          <p:nvPr/>
        </p:nvCxnSpPr>
        <p:spPr>
          <a:xfrm>
            <a:off x="6021909" y="534680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CB010-7DF4-41E0-828D-BC8B7EE35D10}"/>
              </a:ext>
            </a:extLst>
          </p:cNvPr>
          <p:cNvSpPr txBox="1"/>
          <p:nvPr/>
        </p:nvSpPr>
        <p:spPr>
          <a:xfrm>
            <a:off x="6582169" y="506749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C626636-AA06-4474-989C-8AA39FC530F0}"/>
              </a:ext>
            </a:extLst>
          </p:cNvPr>
          <p:cNvCxnSpPr>
            <a:cxnSpLocks/>
          </p:cNvCxnSpPr>
          <p:nvPr/>
        </p:nvCxnSpPr>
        <p:spPr>
          <a:xfrm>
            <a:off x="6021909" y="57336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1B75E83-379D-4CB4-B85C-2E8A168D116B}"/>
              </a:ext>
            </a:extLst>
          </p:cNvPr>
          <p:cNvSpPr txBox="1"/>
          <p:nvPr/>
        </p:nvSpPr>
        <p:spPr>
          <a:xfrm>
            <a:off x="6592116" y="5429832"/>
            <a:ext cx="2890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B6DCE37-F217-4F10-8034-1BD7386C861C}"/>
              </a:ext>
            </a:extLst>
          </p:cNvPr>
          <p:cNvCxnSpPr>
            <a:cxnSpLocks/>
          </p:cNvCxnSpPr>
          <p:nvPr/>
        </p:nvCxnSpPr>
        <p:spPr>
          <a:xfrm>
            <a:off x="6021909" y="610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058DACC-6358-4154-A178-F48ACA97EB86}"/>
              </a:ext>
            </a:extLst>
          </p:cNvPr>
          <p:cNvSpPr txBox="1"/>
          <p:nvPr/>
        </p:nvSpPr>
        <p:spPr>
          <a:xfrm>
            <a:off x="6582169" y="5820817"/>
            <a:ext cx="2969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Response(D50001.4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3202300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3162503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3178172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CA188-F486-4260-B9D9-1DC2D9B5CE77}"/>
              </a:ext>
            </a:extLst>
          </p:cNvPr>
          <p:cNvSpPr txBox="1"/>
          <p:nvPr/>
        </p:nvSpPr>
        <p:spPr>
          <a:xfrm>
            <a:off x="10127260" y="4832612"/>
            <a:ext cx="2042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PLC </a:t>
            </a:r>
            <a:r>
              <a:rPr lang="ko-KR" altLang="en-US" sz="1200" dirty="0"/>
              <a:t>터치에 </a:t>
            </a:r>
            <a:r>
              <a:rPr lang="ko-KR" altLang="en-US" sz="1200" dirty="0" err="1"/>
              <a:t>알람신호</a:t>
            </a:r>
            <a:r>
              <a:rPr lang="ko-KR" altLang="en-US" sz="1200" dirty="0"/>
              <a:t> 표시 </a:t>
            </a:r>
            <a:endParaRPr lang="en-US" altLang="ko-KR" sz="1200" dirty="0"/>
          </a:p>
          <a:p>
            <a:r>
              <a:rPr lang="ko-KR" altLang="en-US" sz="1200" dirty="0"/>
              <a:t>및 진행여부 판단을 위해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Error </a:t>
            </a:r>
            <a:r>
              <a:rPr lang="ko-KR" altLang="en-US" sz="1200" dirty="0"/>
              <a:t>신호 </a:t>
            </a:r>
            <a:r>
              <a:rPr lang="en-US" altLang="ko-KR" sz="1200" dirty="0"/>
              <a:t>ON </a:t>
            </a:r>
            <a:r>
              <a:rPr lang="ko-KR" altLang="en-US" sz="1200" dirty="0"/>
              <a:t>이후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투입보고 </a:t>
            </a:r>
            <a:r>
              <a:rPr lang="en-US" altLang="ko-KR" sz="1200" dirty="0"/>
              <a:t>Response ON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400" dirty="0" err="1"/>
              <a:t>스테이터</a:t>
            </a:r>
            <a:r>
              <a:rPr lang="ko-KR" altLang="en-US" sz="2400" dirty="0"/>
              <a:t> 투입보고 </a:t>
            </a:r>
            <a:r>
              <a:rPr lang="en-US" altLang="ko-KR" sz="2400" dirty="0"/>
              <a:t>– JIG B Abnormal Case(Stator Model Error)</a:t>
            </a:r>
            <a:endParaRPr lang="ko-KR" altLang="en-US" sz="2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6F870A-FFD2-4F70-B792-88841052E1FA}"/>
              </a:ext>
            </a:extLst>
          </p:cNvPr>
          <p:cNvSpPr txBox="1"/>
          <p:nvPr/>
        </p:nvSpPr>
        <p:spPr>
          <a:xfrm>
            <a:off x="4120995" y="1042155"/>
            <a:ext cx="5709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투입보고 하였으나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EPDS</a:t>
            </a:r>
            <a:r>
              <a:rPr lang="ko-KR" altLang="en-US" sz="1200" dirty="0"/>
              <a:t>로 받은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모델과 </a:t>
            </a:r>
            <a:r>
              <a:rPr lang="en-US" altLang="ko-KR" sz="1200" dirty="0"/>
              <a:t>PLC</a:t>
            </a:r>
            <a:r>
              <a:rPr lang="ko-KR" altLang="en-US" sz="1200" dirty="0"/>
              <a:t>에 설정되어 있는 </a:t>
            </a:r>
            <a:r>
              <a:rPr lang="ko-KR" altLang="en-US" sz="1200" dirty="0" err="1"/>
              <a:t>스테이터</a:t>
            </a:r>
            <a:r>
              <a:rPr lang="ko-KR" altLang="en-US" sz="1200" dirty="0"/>
              <a:t> 모델이 다를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CDDB111-1831-421A-89FF-34A6A1611E17}"/>
              </a:ext>
            </a:extLst>
          </p:cNvPr>
          <p:cNvSpPr/>
          <p:nvPr/>
        </p:nvSpPr>
        <p:spPr>
          <a:xfrm>
            <a:off x="8551307" y="6232351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99919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5962970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스테이터</a:t>
            </a:r>
            <a:r>
              <a:rPr lang="ko-KR" altLang="en-US" sz="2000" dirty="0"/>
              <a:t> 투입보고 </a:t>
            </a:r>
            <a:r>
              <a:rPr lang="en-US" altLang="ko-KR" sz="2000" dirty="0"/>
              <a:t>– JIG A Abnormal Case(</a:t>
            </a:r>
            <a:r>
              <a:rPr lang="ko-KR" altLang="en-US" sz="2000" dirty="0"/>
              <a:t>작업중인 </a:t>
            </a:r>
            <a:r>
              <a:rPr lang="en-US" altLang="ko-KR" sz="2000" dirty="0"/>
              <a:t>Stator</a:t>
            </a:r>
            <a:r>
              <a:rPr lang="ko-KR" altLang="en-US" sz="2000" dirty="0"/>
              <a:t>가 있는 경우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</p:cNvCxnSpPr>
          <p:nvPr/>
        </p:nvCxnSpPr>
        <p:spPr>
          <a:xfrm>
            <a:off x="9963615" y="2415141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37783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3474546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5284452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4965447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5576165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5278072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571080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5671011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5686680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Barcode Error(D50001.7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0EA604A-FC8D-47D5-BB1D-7EB4B6B325B0}"/>
              </a:ext>
            </a:extLst>
          </p:cNvPr>
          <p:cNvSpPr/>
          <p:nvPr/>
        </p:nvSpPr>
        <p:spPr>
          <a:xfrm>
            <a:off x="8915099" y="2395708"/>
            <a:ext cx="2097030" cy="3907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작업 시작</a:t>
            </a:r>
            <a:endParaRPr lang="en-US" altLang="ko-KR" sz="1050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클랩프</a:t>
            </a:r>
            <a:r>
              <a:rPr lang="ko-KR" altLang="en-US" sz="1050" dirty="0"/>
              <a:t> </a:t>
            </a:r>
            <a:r>
              <a:rPr lang="en-US" altLang="ko-KR" sz="1050" dirty="0"/>
              <a:t>Z</a:t>
            </a:r>
            <a:r>
              <a:rPr lang="ko-KR" altLang="en-US" sz="1050" dirty="0"/>
              <a:t>축</a:t>
            </a:r>
            <a:r>
              <a:rPr lang="en-US" altLang="ko-KR" sz="1050" dirty="0"/>
              <a:t>-</a:t>
            </a:r>
            <a:r>
              <a:rPr lang="ko-KR" altLang="en-US" sz="1050" dirty="0"/>
              <a:t>리프트 상승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5253A49-FB16-4BE4-8C77-7DEA1481C531}"/>
              </a:ext>
            </a:extLst>
          </p:cNvPr>
          <p:cNvCxnSpPr>
            <a:cxnSpLocks/>
          </p:cNvCxnSpPr>
          <p:nvPr/>
        </p:nvCxnSpPr>
        <p:spPr>
          <a:xfrm>
            <a:off x="6021909" y="30918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B818566-1962-445F-855A-24701879D7F3}"/>
              </a:ext>
            </a:extLst>
          </p:cNvPr>
          <p:cNvSpPr txBox="1"/>
          <p:nvPr/>
        </p:nvSpPr>
        <p:spPr>
          <a:xfrm>
            <a:off x="6832920" y="2788073"/>
            <a:ext cx="2409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Product In Jig A(D51001.7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1" name="다이아몬드 70">
            <a:extLst>
              <a:ext uri="{FF2B5EF4-FFF2-40B4-BE49-F238E27FC236}">
                <a16:creationId xmlns:a16="http://schemas.microsoft.com/office/drawing/2014/main" id="{7BD305BF-43C5-4B76-A6E4-DD34FB682299}"/>
              </a:ext>
            </a:extLst>
          </p:cNvPr>
          <p:cNvSpPr/>
          <p:nvPr/>
        </p:nvSpPr>
        <p:spPr>
          <a:xfrm>
            <a:off x="4768605" y="392175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In Jig Bit ON?</a:t>
            </a:r>
            <a:endParaRPr lang="ko-KR" altLang="en-US" sz="16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909852A5-3ADA-47C4-8B1C-0DD61FEC0C95}"/>
              </a:ext>
            </a:extLst>
          </p:cNvPr>
          <p:cNvSpPr/>
          <p:nvPr/>
        </p:nvSpPr>
        <p:spPr>
          <a:xfrm>
            <a:off x="8915099" y="3163780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신규 투입 보고 요청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58C99CC-2921-4657-B158-577B62A33259}"/>
              </a:ext>
            </a:extLst>
          </p:cNvPr>
          <p:cNvSpPr/>
          <p:nvPr/>
        </p:nvSpPr>
        <p:spPr>
          <a:xfrm>
            <a:off x="5040461" y="4608226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Product Data </a:t>
            </a:r>
            <a:r>
              <a:rPr lang="ko-KR" altLang="en-US" sz="1050" dirty="0"/>
              <a:t>백업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9F1D9D-16FC-4AE7-A05A-A75FE6DA34F8}"/>
              </a:ext>
            </a:extLst>
          </p:cNvPr>
          <p:cNvSpPr txBox="1"/>
          <p:nvPr/>
        </p:nvSpPr>
        <p:spPr>
          <a:xfrm>
            <a:off x="6245567" y="436431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D84131A-33DA-48F7-BBE3-11AA1DC8C317}"/>
              </a:ext>
            </a:extLst>
          </p:cNvPr>
          <p:cNvCxnSpPr>
            <a:stCxn id="71" idx="3"/>
          </p:cNvCxnSpPr>
          <p:nvPr/>
        </p:nvCxnSpPr>
        <p:spPr>
          <a:xfrm flipH="1">
            <a:off x="6021908" y="4184405"/>
            <a:ext cx="1255193" cy="919541"/>
          </a:xfrm>
          <a:prstGeom prst="bentConnector3">
            <a:avLst>
              <a:gd name="adj1" fmla="val -18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3D09131-42F6-488D-B44C-6A56D3DC7EEF}"/>
              </a:ext>
            </a:extLst>
          </p:cNvPr>
          <p:cNvSpPr txBox="1"/>
          <p:nvPr/>
        </p:nvSpPr>
        <p:spPr>
          <a:xfrm>
            <a:off x="7050872" y="3892035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7720546-03B2-47E8-A559-CADF9E021A2F}"/>
              </a:ext>
            </a:extLst>
          </p:cNvPr>
          <p:cNvSpPr/>
          <p:nvPr/>
        </p:nvSpPr>
        <p:spPr>
          <a:xfrm>
            <a:off x="1904275" y="6351999"/>
            <a:ext cx="8324353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이하 투입보고 </a:t>
            </a:r>
            <a:r>
              <a:rPr lang="en-US" altLang="ko-KR" sz="1050" dirty="0"/>
              <a:t>Normal Case</a:t>
            </a:r>
            <a:r>
              <a:rPr lang="ko-KR" altLang="en-US" sz="1050" dirty="0"/>
              <a:t>와 동일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1070D9-2B9A-4CB8-82BC-79FA9C15BD47}"/>
              </a:ext>
            </a:extLst>
          </p:cNvPr>
          <p:cNvSpPr txBox="1"/>
          <p:nvPr/>
        </p:nvSpPr>
        <p:spPr>
          <a:xfrm>
            <a:off x="4120995" y="1149834"/>
            <a:ext cx="491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 Ring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작업 중에 한 개의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더 투입하여 버퍼위치에 둘 수 있음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“Product In Jig”(or “In Jig”)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클램프</a:t>
            </a:r>
            <a:r>
              <a:rPr lang="ko-KR" altLang="en-US" sz="1200" dirty="0"/>
              <a:t> </a:t>
            </a:r>
            <a:r>
              <a:rPr lang="en-US" altLang="ko-KR" sz="1200" dirty="0"/>
              <a:t>Z</a:t>
            </a:r>
            <a:r>
              <a:rPr lang="ko-KR" altLang="en-US" sz="1200" dirty="0"/>
              <a:t>축 </a:t>
            </a:r>
            <a:r>
              <a:rPr lang="ko-KR" altLang="en-US" sz="1200" dirty="0" err="1"/>
              <a:t>상승시</a:t>
            </a:r>
            <a:r>
              <a:rPr lang="ko-KR" altLang="en-US" sz="1200" dirty="0"/>
              <a:t> </a:t>
            </a:r>
            <a:r>
              <a:rPr lang="en-US" altLang="ko-KR" sz="1200" dirty="0"/>
              <a:t>ON, </a:t>
            </a:r>
            <a:r>
              <a:rPr lang="ko-KR" altLang="en-US" sz="1200" dirty="0" err="1"/>
              <a:t>하강시</a:t>
            </a:r>
            <a:r>
              <a:rPr lang="ko-KR" altLang="en-US" sz="1200" dirty="0"/>
              <a:t> </a:t>
            </a:r>
            <a:r>
              <a:rPr lang="en-US" altLang="ko-KR" sz="1200" dirty="0"/>
              <a:t>OFF </a:t>
            </a:r>
            <a:r>
              <a:rPr lang="ko-KR" altLang="en-US" sz="1200" dirty="0"/>
              <a:t>됨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4385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7C6F15-F20A-427E-BBF0-B29C4A6C71E7}"/>
              </a:ext>
            </a:extLst>
          </p:cNvPr>
          <p:cNvCxnSpPr>
            <a:cxnSpLocks/>
          </p:cNvCxnSpPr>
          <p:nvPr/>
        </p:nvCxnSpPr>
        <p:spPr>
          <a:xfrm>
            <a:off x="6899167" y="6001265"/>
            <a:ext cx="3064448" cy="15215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80201" y="2297153"/>
            <a:ext cx="1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427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376974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1" y="3465919"/>
            <a:ext cx="2842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투입보고 </a:t>
            </a:r>
            <a:r>
              <a:rPr lang="en-US" altLang="ko-KR" sz="1200" dirty="0"/>
              <a:t>Request(D51001.4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D2092A-D040-5656-482C-8F7E734E19AD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576E91-6A8F-3D47-1D40-72E246279FD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B6D8FD9-CAB3-8ABC-D4B9-5FC3ADF85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FD6F179-2308-612E-6B0A-737C3CBB5D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631A3-1D01-F946-27DA-C0CF51B5E6EF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A7426C5-1778-FD9F-CE51-75C8F9E337E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E7440B-A33B-4D5D-8589-CB1DC827AF45}"/>
              </a:ext>
            </a:extLst>
          </p:cNvPr>
          <p:cNvCxnSpPr>
            <a:cxnSpLocks/>
          </p:cNvCxnSpPr>
          <p:nvPr/>
        </p:nvCxnSpPr>
        <p:spPr>
          <a:xfrm>
            <a:off x="2080203" y="5322747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26E06F7-623F-4844-B264-2E59AE951CDA}"/>
              </a:ext>
            </a:extLst>
          </p:cNvPr>
          <p:cNvSpPr txBox="1"/>
          <p:nvPr/>
        </p:nvSpPr>
        <p:spPr>
          <a:xfrm>
            <a:off x="3069279" y="5003742"/>
            <a:ext cx="197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 : Event Report Send</a:t>
            </a:r>
            <a:endParaRPr lang="ko-KR" altLang="en-US" sz="12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9C9EACC-720D-4738-BDAF-BDE419011BA5}"/>
              </a:ext>
            </a:extLst>
          </p:cNvPr>
          <p:cNvCxnSpPr>
            <a:cxnSpLocks/>
          </p:cNvCxnSpPr>
          <p:nvPr/>
        </p:nvCxnSpPr>
        <p:spPr>
          <a:xfrm>
            <a:off x="2080203" y="5614460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628EC2C-0F21-424B-A8A0-1EE4BA765E2F}"/>
              </a:ext>
            </a:extLst>
          </p:cNvPr>
          <p:cNvSpPr txBox="1"/>
          <p:nvPr/>
        </p:nvSpPr>
        <p:spPr>
          <a:xfrm>
            <a:off x="3037219" y="5316367"/>
            <a:ext cx="2035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EERS_R : Event Report Ack</a:t>
            </a:r>
            <a:endParaRPr lang="ko-KR" altLang="en-US" sz="1200" dirty="0"/>
          </a:p>
        </p:txBody>
      </p:sp>
      <p:sp>
        <p:nvSpPr>
          <p:cNvPr id="69" name="다이아몬드 68">
            <a:extLst>
              <a:ext uri="{FF2B5EF4-FFF2-40B4-BE49-F238E27FC236}">
                <a16:creationId xmlns:a16="http://schemas.microsoft.com/office/drawing/2014/main" id="{38CBC44A-B890-421F-B489-793AAA26B123}"/>
              </a:ext>
            </a:extLst>
          </p:cNvPr>
          <p:cNvSpPr/>
          <p:nvPr/>
        </p:nvSpPr>
        <p:spPr>
          <a:xfrm>
            <a:off x="4768605" y="574910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0C0B02-E8F0-487F-910C-0A261C250382}"/>
              </a:ext>
            </a:extLst>
          </p:cNvPr>
          <p:cNvSpPr txBox="1"/>
          <p:nvPr/>
        </p:nvSpPr>
        <p:spPr>
          <a:xfrm>
            <a:off x="6778518" y="5709306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5DA11-90EA-48A2-BC9A-10DEEDB691B0}"/>
              </a:ext>
            </a:extLst>
          </p:cNvPr>
          <p:cNvSpPr txBox="1"/>
          <p:nvPr/>
        </p:nvSpPr>
        <p:spPr>
          <a:xfrm>
            <a:off x="7165877" y="5724975"/>
            <a:ext cx="2615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Barcode Error(D50001.8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7" name="제목 1">
            <a:extLst>
              <a:ext uri="{FF2B5EF4-FFF2-40B4-BE49-F238E27FC236}">
                <a16:creationId xmlns:a16="http://schemas.microsoft.com/office/drawing/2014/main" id="{EB9BED59-2919-49E8-BA25-3CFFEDD0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9573983" cy="562057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스테이터</a:t>
            </a:r>
            <a:r>
              <a:rPr lang="ko-KR" altLang="en-US" sz="2000" dirty="0"/>
              <a:t> 투입보고 </a:t>
            </a:r>
            <a:r>
              <a:rPr lang="en-US" altLang="ko-KR" sz="2000" dirty="0"/>
              <a:t>– JIG B Abnormal Case(</a:t>
            </a:r>
            <a:r>
              <a:rPr lang="ko-KR" altLang="en-US" sz="2000" dirty="0"/>
              <a:t>작업중인 </a:t>
            </a:r>
            <a:r>
              <a:rPr lang="en-US" altLang="ko-KR" sz="2000" dirty="0"/>
              <a:t>Stator</a:t>
            </a:r>
            <a:r>
              <a:rPr lang="ko-KR" altLang="en-US" sz="2000" dirty="0"/>
              <a:t>가 있는 경우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0CD1FE-F503-46D1-890E-D49EA71EFF3B}"/>
              </a:ext>
            </a:extLst>
          </p:cNvPr>
          <p:cNvSpPr txBox="1"/>
          <p:nvPr/>
        </p:nvSpPr>
        <p:spPr>
          <a:xfrm>
            <a:off x="4120995" y="1149834"/>
            <a:ext cx="491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 Ring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작업 중에 한 개의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더 투입하여 버퍼위치에 둘 수 있음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“Product In Jig”(or “In Jig”)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클램프</a:t>
            </a:r>
            <a:r>
              <a:rPr lang="ko-KR" altLang="en-US" sz="1200" dirty="0"/>
              <a:t> </a:t>
            </a:r>
            <a:r>
              <a:rPr lang="en-US" altLang="ko-KR" sz="1200" dirty="0"/>
              <a:t>Z</a:t>
            </a:r>
            <a:r>
              <a:rPr lang="ko-KR" altLang="en-US" sz="1200" dirty="0"/>
              <a:t>축 </a:t>
            </a:r>
            <a:r>
              <a:rPr lang="ko-KR" altLang="en-US" sz="1200" dirty="0" err="1"/>
              <a:t>상승시</a:t>
            </a:r>
            <a:r>
              <a:rPr lang="ko-KR" altLang="en-US" sz="1200" dirty="0"/>
              <a:t> </a:t>
            </a:r>
            <a:r>
              <a:rPr lang="en-US" altLang="ko-KR" sz="1200" dirty="0"/>
              <a:t>ON, </a:t>
            </a:r>
            <a:r>
              <a:rPr lang="ko-KR" altLang="en-US" sz="1200" dirty="0" err="1"/>
              <a:t>하강시</a:t>
            </a:r>
            <a:r>
              <a:rPr lang="ko-KR" altLang="en-US" sz="1200" dirty="0"/>
              <a:t> </a:t>
            </a:r>
            <a:r>
              <a:rPr lang="en-US" altLang="ko-KR" sz="1200" dirty="0"/>
              <a:t>OFF </a:t>
            </a:r>
            <a:r>
              <a:rPr lang="ko-KR" altLang="en-US" sz="1200" dirty="0"/>
              <a:t>됨</a:t>
            </a:r>
            <a:r>
              <a:rPr lang="en-US" altLang="ko-KR" sz="1200" dirty="0"/>
              <a:t>.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6695E7D-53B6-4B49-AED8-FD2792954C86}"/>
              </a:ext>
            </a:extLst>
          </p:cNvPr>
          <p:cNvSpPr/>
          <p:nvPr/>
        </p:nvSpPr>
        <p:spPr>
          <a:xfrm>
            <a:off x="8915099" y="2395708"/>
            <a:ext cx="2097030" cy="3907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작업 시작</a:t>
            </a:r>
            <a:endParaRPr lang="en-US" altLang="ko-KR" sz="1050" dirty="0"/>
          </a:p>
          <a:p>
            <a:pPr algn="ctr"/>
            <a:r>
              <a:rPr lang="en-US" altLang="ko-KR" sz="1050" dirty="0"/>
              <a:t>(</a:t>
            </a:r>
            <a:r>
              <a:rPr lang="ko-KR" altLang="en-US" sz="1050" dirty="0" err="1"/>
              <a:t>클랩프</a:t>
            </a:r>
            <a:r>
              <a:rPr lang="ko-KR" altLang="en-US" sz="1050" dirty="0"/>
              <a:t> </a:t>
            </a:r>
            <a:r>
              <a:rPr lang="en-US" altLang="ko-KR" sz="1050" dirty="0"/>
              <a:t>Z</a:t>
            </a:r>
            <a:r>
              <a:rPr lang="ko-KR" altLang="en-US" sz="1050" dirty="0"/>
              <a:t>축</a:t>
            </a:r>
            <a:r>
              <a:rPr lang="en-US" altLang="ko-KR" sz="1050" dirty="0"/>
              <a:t>-</a:t>
            </a:r>
            <a:r>
              <a:rPr lang="ko-KR" altLang="en-US" sz="1050" dirty="0"/>
              <a:t>리프트 상승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FED9341-B708-480A-B34C-01FB3185BC64}"/>
              </a:ext>
            </a:extLst>
          </p:cNvPr>
          <p:cNvCxnSpPr>
            <a:cxnSpLocks/>
          </p:cNvCxnSpPr>
          <p:nvPr/>
        </p:nvCxnSpPr>
        <p:spPr>
          <a:xfrm>
            <a:off x="6021909" y="30918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D5EC2A4-C114-4488-88C6-1A897B6FAA95}"/>
              </a:ext>
            </a:extLst>
          </p:cNvPr>
          <p:cNvSpPr txBox="1"/>
          <p:nvPr/>
        </p:nvSpPr>
        <p:spPr>
          <a:xfrm>
            <a:off x="6832920" y="2788073"/>
            <a:ext cx="2409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Product In Jig B(D51001.8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CD8C830-C3EF-43AA-A750-BDA37896E6F4}"/>
              </a:ext>
            </a:extLst>
          </p:cNvPr>
          <p:cNvSpPr/>
          <p:nvPr/>
        </p:nvSpPr>
        <p:spPr>
          <a:xfrm>
            <a:off x="8915099" y="3163780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신규 투입 보고 요청</a:t>
            </a:r>
          </a:p>
        </p:txBody>
      </p:sp>
      <p:sp>
        <p:nvSpPr>
          <p:cNvPr id="85" name="다이아몬드 84">
            <a:extLst>
              <a:ext uri="{FF2B5EF4-FFF2-40B4-BE49-F238E27FC236}">
                <a16:creationId xmlns:a16="http://schemas.microsoft.com/office/drawing/2014/main" id="{5BC9C80E-EAE4-4603-A5F3-C5F8FCDEB0E5}"/>
              </a:ext>
            </a:extLst>
          </p:cNvPr>
          <p:cNvSpPr/>
          <p:nvPr/>
        </p:nvSpPr>
        <p:spPr>
          <a:xfrm>
            <a:off x="4768605" y="3921753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In Jig Bit ON?</a:t>
            </a:r>
            <a:endParaRPr lang="ko-KR" altLang="en-US" sz="1600" dirty="0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438C3924-9FCE-4AD0-8781-0EACEA422555}"/>
              </a:ext>
            </a:extLst>
          </p:cNvPr>
          <p:cNvSpPr/>
          <p:nvPr/>
        </p:nvSpPr>
        <p:spPr>
          <a:xfrm>
            <a:off x="5040461" y="4608226"/>
            <a:ext cx="2097030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Product Data </a:t>
            </a:r>
            <a:r>
              <a:rPr lang="ko-KR" altLang="en-US" sz="1050" dirty="0"/>
              <a:t>백업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7DB87F-2851-47F1-9FAA-32D8131E705C}"/>
              </a:ext>
            </a:extLst>
          </p:cNvPr>
          <p:cNvSpPr txBox="1"/>
          <p:nvPr/>
        </p:nvSpPr>
        <p:spPr>
          <a:xfrm>
            <a:off x="6245567" y="436431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96E3B5C0-8822-48F8-AA92-C6BCADA7E451}"/>
              </a:ext>
            </a:extLst>
          </p:cNvPr>
          <p:cNvCxnSpPr>
            <a:stCxn id="85" idx="3"/>
          </p:cNvCxnSpPr>
          <p:nvPr/>
        </p:nvCxnSpPr>
        <p:spPr>
          <a:xfrm flipH="1">
            <a:off x="6021908" y="4184405"/>
            <a:ext cx="1255193" cy="919541"/>
          </a:xfrm>
          <a:prstGeom prst="bentConnector3">
            <a:avLst>
              <a:gd name="adj1" fmla="val -18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889262C-5D81-48EE-B399-7C5F61925F8D}"/>
              </a:ext>
            </a:extLst>
          </p:cNvPr>
          <p:cNvSpPr txBox="1"/>
          <p:nvPr/>
        </p:nvSpPr>
        <p:spPr>
          <a:xfrm>
            <a:off x="7050872" y="3892035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B2707C4A-A5BA-47BA-ADFA-F38353D1989A}"/>
              </a:ext>
            </a:extLst>
          </p:cNvPr>
          <p:cNvSpPr/>
          <p:nvPr/>
        </p:nvSpPr>
        <p:spPr>
          <a:xfrm>
            <a:off x="1904275" y="6351999"/>
            <a:ext cx="8324353" cy="27699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이하 투입보고 </a:t>
            </a:r>
            <a:r>
              <a:rPr lang="en-US" altLang="ko-KR" sz="1050" dirty="0"/>
              <a:t>Normal Case</a:t>
            </a:r>
            <a:r>
              <a:rPr lang="ko-KR" altLang="en-US" sz="1050" dirty="0"/>
              <a:t>와 동일</a:t>
            </a:r>
          </a:p>
        </p:txBody>
      </p:sp>
    </p:spTree>
    <p:extLst>
      <p:ext uri="{BB962C8B-B14F-4D97-AF65-F5344CB8AC3E}">
        <p14:creationId xmlns:p14="http://schemas.microsoft.com/office/powerpoint/2010/main" val="1984556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20"/>
            <a:ext cx="1917512" cy="4616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373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3039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23699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730057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0794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085389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A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D51001.6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92EE23-C4C4-416B-8A0F-2FEB554E77A5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01C1D5-2CAC-4254-AEEB-C1FBBE3DF525}"/>
              </a:ext>
            </a:extLst>
          </p:cNvPr>
          <p:cNvSpPr/>
          <p:nvPr/>
        </p:nvSpPr>
        <p:spPr>
          <a:xfrm>
            <a:off x="9008557" y="545504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4207957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투입 </a:t>
            </a:r>
            <a:r>
              <a:rPr lang="en-US" altLang="ko-KR" dirty="0"/>
              <a:t>Pass</a:t>
            </a:r>
            <a:r>
              <a:rPr lang="ko-KR" altLang="en-US" dirty="0"/>
              <a:t>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359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7186317" y="2313422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3056219"/>
            <a:ext cx="1917512" cy="4758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 Jig</a:t>
            </a:r>
            <a:r>
              <a:rPr lang="ko-KR" altLang="en-US" sz="1200" dirty="0"/>
              <a:t> 정보 </a:t>
            </a:r>
            <a:r>
              <a:rPr lang="en-US" altLang="ko-KR" sz="1200" dirty="0"/>
              <a:t>Clear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01828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7124601" y="3511348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FF0000"/>
                </a:solidFill>
              </a:rPr>
              <a:t>ON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327180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7124601" y="4820243"/>
            <a:ext cx="182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Response</a:t>
            </a:r>
          </a:p>
          <a:p>
            <a:pPr algn="ctr"/>
            <a:r>
              <a:rPr lang="en-US" altLang="ko-KR" sz="1400" dirty="0"/>
              <a:t>D50001.9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469813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7186317" y="4175575"/>
            <a:ext cx="1702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B Jig Pass</a:t>
            </a:r>
            <a:r>
              <a:rPr lang="ko-KR" altLang="en-US" sz="1400" dirty="0"/>
              <a:t> </a:t>
            </a:r>
            <a:r>
              <a:rPr lang="en-US" altLang="ko-KR" sz="1400" dirty="0"/>
              <a:t>Request</a:t>
            </a:r>
          </a:p>
          <a:p>
            <a:pPr algn="ctr"/>
            <a:r>
              <a:rPr lang="en-US" altLang="ko-KR" sz="1400" dirty="0"/>
              <a:t>D51001.9 </a:t>
            </a:r>
            <a:r>
              <a:rPr lang="en-US" altLang="ko-KR" sz="1400" b="1" dirty="0">
                <a:solidFill>
                  <a:srgbClr val="0000FF"/>
                </a:solidFill>
              </a:rPr>
              <a:t>OFF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A83A5D-BED6-47AB-B486-EE6F88F1C189}"/>
              </a:ext>
            </a:extLst>
          </p:cNvPr>
          <p:cNvSpPr txBox="1"/>
          <p:nvPr/>
        </p:nvSpPr>
        <p:spPr>
          <a:xfrm>
            <a:off x="4195090" y="1233248"/>
            <a:ext cx="517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MES</a:t>
            </a:r>
            <a:r>
              <a:rPr lang="ko-KR" altLang="en-US" sz="1200" dirty="0"/>
              <a:t>에 투입보고는 하였으나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용접 진행하지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그냥 </a:t>
            </a:r>
            <a:r>
              <a:rPr lang="ko-KR" altLang="en-US" sz="1200" dirty="0" err="1"/>
              <a:t>스테이터를</a:t>
            </a:r>
            <a:r>
              <a:rPr lang="ko-KR" altLang="en-US" sz="1200" dirty="0"/>
              <a:t> </a:t>
            </a:r>
            <a:r>
              <a:rPr lang="en-US" altLang="ko-KR" sz="1200" dirty="0"/>
              <a:t>Pass </a:t>
            </a:r>
            <a:r>
              <a:rPr lang="ko-KR" altLang="en-US" sz="1200" dirty="0"/>
              <a:t>시키는 모드</a:t>
            </a:r>
            <a:r>
              <a:rPr lang="en-US" altLang="ko-KR" sz="1200" dirty="0"/>
              <a:t>(2023.02.10 </a:t>
            </a:r>
            <a:r>
              <a:rPr lang="ko-KR" altLang="en-US" sz="1200" dirty="0"/>
              <a:t>추가</a:t>
            </a:r>
            <a:r>
              <a:rPr lang="en-US" altLang="ko-KR" sz="1200" dirty="0"/>
              <a:t>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D4632E4-CE6D-48BA-B3B0-CC8870041B6D}"/>
              </a:ext>
            </a:extLst>
          </p:cNvPr>
          <p:cNvSpPr/>
          <p:nvPr/>
        </p:nvSpPr>
        <p:spPr>
          <a:xfrm>
            <a:off x="9008557" y="5435996"/>
            <a:ext cx="1917512" cy="434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스테이터</a:t>
            </a:r>
            <a:r>
              <a:rPr lang="ko-KR" altLang="en-US" sz="1200" dirty="0"/>
              <a:t> 용접 없이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그냥 컨베이어로 보냄</a:t>
            </a:r>
          </a:p>
        </p:txBody>
      </p:sp>
    </p:spTree>
    <p:extLst>
      <p:ext uri="{BB962C8B-B14F-4D97-AF65-F5344CB8AC3E}">
        <p14:creationId xmlns:p14="http://schemas.microsoft.com/office/powerpoint/2010/main" val="1287419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Response(D50001.10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15265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</a:t>
            </a:r>
            <a:r>
              <a:rPr lang="en-US" altLang="ko-KR" sz="1200" dirty="0"/>
              <a:t>Response(D50001.11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5668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전 검사 데이터 결과</a:t>
            </a:r>
            <a:r>
              <a:rPr lang="en-US" altLang="ko-KR" sz="1200" dirty="0"/>
              <a:t>(D51001.11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450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84155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79971" y="2547597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50397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01974" y="4163613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F75AF0-EE0D-5892-F54D-749D6956B543}"/>
              </a:ext>
            </a:extLst>
          </p:cNvPr>
          <p:cNvSpPr/>
          <p:nvPr/>
        </p:nvSpPr>
        <p:spPr>
          <a:xfrm>
            <a:off x="5063151" y="3113976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F91018C-0BFB-B084-78CB-F12C0A86E3CF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8929E77-9540-55D1-A65B-5FFBFAB72796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CA46DB5-F911-5AC9-D132-FA5E1BC346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E7931D2-DBDA-F758-A630-429C6C807E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3E4B12-8C02-9A64-407D-A15E928506A6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EF32C9-0DF7-F61B-7733-C976530B977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B50069-9D85-4EC4-A1D5-11CA9875E43A}"/>
              </a:ext>
            </a:extLst>
          </p:cNvPr>
          <p:cNvCxnSpPr>
            <a:cxnSpLocks/>
          </p:cNvCxnSpPr>
          <p:nvPr/>
        </p:nvCxnSpPr>
        <p:spPr>
          <a:xfrm>
            <a:off x="6021909" y="494012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8562343-57CD-44CA-A7BE-C0617A6CC46B}"/>
              </a:ext>
            </a:extLst>
          </p:cNvPr>
          <p:cNvSpPr txBox="1"/>
          <p:nvPr/>
        </p:nvSpPr>
        <p:spPr>
          <a:xfrm>
            <a:off x="6479971" y="4646161"/>
            <a:ext cx="3114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2F9C835-7A31-461E-AE87-3AFE30626FF3}"/>
              </a:ext>
            </a:extLst>
          </p:cNvPr>
          <p:cNvCxnSpPr>
            <a:cxnSpLocks/>
          </p:cNvCxnSpPr>
          <p:nvPr/>
        </p:nvCxnSpPr>
        <p:spPr>
          <a:xfrm>
            <a:off x="6021909" y="53738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9DDC55C-EAC1-4B28-9E79-B06E75E1141E}"/>
              </a:ext>
            </a:extLst>
          </p:cNvPr>
          <p:cNvSpPr txBox="1"/>
          <p:nvPr/>
        </p:nvSpPr>
        <p:spPr>
          <a:xfrm>
            <a:off x="6301974" y="5033452"/>
            <a:ext cx="347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Response(D50001.13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5042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후검사</a:t>
            </a:r>
            <a:r>
              <a:rPr lang="ko-KR" altLang="en-US" dirty="0"/>
              <a:t> 결과 저장 </a:t>
            </a:r>
            <a:r>
              <a:rPr lang="en-US" altLang="ko-KR" dirty="0"/>
              <a:t>– JIG B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3811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76350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489589" y="2469542"/>
            <a:ext cx="3095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DB2888A-DAE6-A4ED-6C91-B50F6281DBA1}"/>
              </a:ext>
            </a:extLst>
          </p:cNvPr>
          <p:cNvCxnSpPr>
            <a:cxnSpLocks/>
          </p:cNvCxnSpPr>
          <p:nvPr/>
        </p:nvCxnSpPr>
        <p:spPr>
          <a:xfrm>
            <a:off x="6021909" y="424787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ADCA69-7CA1-DE63-C449-DA2D0A322EEE}"/>
              </a:ext>
            </a:extLst>
          </p:cNvPr>
          <p:cNvSpPr txBox="1"/>
          <p:nvPr/>
        </p:nvSpPr>
        <p:spPr>
          <a:xfrm>
            <a:off x="6311592" y="3938412"/>
            <a:ext cx="3451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6DA442-67AB-1883-D794-91CA0D74988F}"/>
              </a:ext>
            </a:extLst>
          </p:cNvPr>
          <p:cNvCxnSpPr>
            <a:cxnSpLocks/>
          </p:cNvCxnSpPr>
          <p:nvPr/>
        </p:nvCxnSpPr>
        <p:spPr>
          <a:xfrm>
            <a:off x="6021909" y="536713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6D93F-D970-8F9E-660E-CA975468F273}"/>
              </a:ext>
            </a:extLst>
          </p:cNvPr>
          <p:cNvSpPr txBox="1"/>
          <p:nvPr/>
        </p:nvSpPr>
        <p:spPr>
          <a:xfrm>
            <a:off x="6289150" y="5089509"/>
            <a:ext cx="3496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</a:t>
            </a:r>
            <a:r>
              <a:rPr lang="en-US" altLang="ko-KR" sz="1200" dirty="0"/>
              <a:t>Response(D50001.14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4ECB3C8-C3B4-7D89-EC3E-F31F63581CD6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A451E45-811C-5548-7189-D388073CCF61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73D19A1-3C75-DC86-6D74-CADD711EE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CCEED24-1BD3-649B-9A77-95220CAFA2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5CC744-134D-F88B-C2DE-5950FEC1A615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D4E4C-2C88-05A3-88B9-4E733A0379DB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56B6B2-FFF6-4FF2-8292-3D4E231C5622}"/>
              </a:ext>
            </a:extLst>
          </p:cNvPr>
          <p:cNvSpPr/>
          <p:nvPr/>
        </p:nvSpPr>
        <p:spPr>
          <a:xfrm>
            <a:off x="5063151" y="3037639"/>
            <a:ext cx="1917512" cy="77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F62187F-8A2E-450D-9807-F24AE17A2667}"/>
              </a:ext>
            </a:extLst>
          </p:cNvPr>
          <p:cNvCxnSpPr>
            <a:cxnSpLocks/>
          </p:cNvCxnSpPr>
          <p:nvPr/>
        </p:nvCxnSpPr>
        <p:spPr>
          <a:xfrm>
            <a:off x="6021909" y="490134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EC4AB2-1A38-46A2-8952-840858780ED5}"/>
              </a:ext>
            </a:extLst>
          </p:cNvPr>
          <p:cNvSpPr txBox="1"/>
          <p:nvPr/>
        </p:nvSpPr>
        <p:spPr>
          <a:xfrm>
            <a:off x="6471155" y="4607382"/>
            <a:ext cx="313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후 검사 데이터 결과</a:t>
            </a:r>
            <a:r>
              <a:rPr lang="en-US" altLang="ko-KR" sz="1200" dirty="0"/>
              <a:t>(D51001.14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642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A(Normal</a:t>
            </a:r>
            <a:r>
              <a:rPr lang="ko-KR" altLang="en-US" dirty="0"/>
              <a:t> </a:t>
            </a:r>
            <a:r>
              <a:rPr lang="en-US" altLang="ko-KR" dirty="0"/>
              <a:t>Case)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397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021908" y="2297153"/>
            <a:ext cx="1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09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098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0549" y="2313422"/>
            <a:ext cx="2853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12089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427270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13960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797263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480120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526901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56849" y="4988223"/>
            <a:ext cx="2961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61016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34407" y="5801221"/>
            <a:ext cx="3006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0000FF"/>
                </a:solidFill>
              </a:rPr>
              <a:t>OFF)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679258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592115" y="5382838"/>
            <a:ext cx="2890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42" name="다이아몬드 41">
            <a:extLst>
              <a:ext uri="{FF2B5EF4-FFF2-40B4-BE49-F238E27FC236}">
                <a16:creationId xmlns:a16="http://schemas.microsoft.com/office/drawing/2014/main" id="{B4CE8134-09E2-4A7B-A9EB-7FAEA6636C18}"/>
              </a:ext>
            </a:extLst>
          </p:cNvPr>
          <p:cNvSpPr/>
          <p:nvPr/>
        </p:nvSpPr>
        <p:spPr>
          <a:xfrm>
            <a:off x="4768605" y="400891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7E0DE88-1A8E-4932-AD4C-AC70D33A5641}"/>
              </a:ext>
            </a:extLst>
          </p:cNvPr>
          <p:cNvCxnSpPr>
            <a:cxnSpLocks/>
          </p:cNvCxnSpPr>
          <p:nvPr/>
        </p:nvCxnSpPr>
        <p:spPr>
          <a:xfrm>
            <a:off x="6021909" y="48553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205FEE4-F2EE-45AF-B77F-C30CEB153879}"/>
              </a:ext>
            </a:extLst>
          </p:cNvPr>
          <p:cNvSpPr txBox="1"/>
          <p:nvPr/>
        </p:nvSpPr>
        <p:spPr>
          <a:xfrm>
            <a:off x="6047364" y="455163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C6995-31C6-48F1-AD88-D5A97A3C368D}"/>
              </a:ext>
            </a:extLst>
          </p:cNvPr>
          <p:cNvSpPr txBox="1"/>
          <p:nvPr/>
        </p:nvSpPr>
        <p:spPr>
          <a:xfrm>
            <a:off x="6652241" y="4563014"/>
            <a:ext cx="2635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Output Error(D50001.12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131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B(Normal Case)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63082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0" y="2376200"/>
            <a:ext cx="2842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5277587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62458" y="5016307"/>
            <a:ext cx="2949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621541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44024" y="5901852"/>
            <a:ext cx="2986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2C64F6B-048D-4B63-830F-AC3F632FF420}"/>
              </a:ext>
            </a:extLst>
          </p:cNvPr>
          <p:cNvSpPr/>
          <p:nvPr/>
        </p:nvSpPr>
        <p:spPr>
          <a:xfrm>
            <a:off x="5063152" y="2802981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C3DD71-559A-4C27-9537-81DCD1077654}"/>
              </a:ext>
            </a:extLst>
          </p:cNvPr>
          <p:cNvCxnSpPr>
            <a:cxnSpLocks/>
          </p:cNvCxnSpPr>
          <p:nvPr/>
        </p:nvCxnSpPr>
        <p:spPr>
          <a:xfrm>
            <a:off x="2080203" y="3550228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21900-E777-4F30-B439-DCF9A7E467D2}"/>
              </a:ext>
            </a:extLst>
          </p:cNvPr>
          <p:cNvSpPr txBox="1"/>
          <p:nvPr/>
        </p:nvSpPr>
        <p:spPr>
          <a:xfrm>
            <a:off x="2817868" y="3263806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986694-47AC-4D67-ADEB-F9E9E1457B93}"/>
              </a:ext>
            </a:extLst>
          </p:cNvPr>
          <p:cNvCxnSpPr>
            <a:cxnSpLocks/>
          </p:cNvCxnSpPr>
          <p:nvPr/>
        </p:nvCxnSpPr>
        <p:spPr>
          <a:xfrm>
            <a:off x="2080203" y="3920221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2D68883-B457-4E86-909C-5793D8867AD6}"/>
              </a:ext>
            </a:extLst>
          </p:cNvPr>
          <p:cNvSpPr txBox="1"/>
          <p:nvPr/>
        </p:nvSpPr>
        <p:spPr>
          <a:xfrm>
            <a:off x="2785807" y="3622742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610878F-9527-45E9-9F16-A6C6C293CDFB}"/>
              </a:ext>
            </a:extLst>
          </p:cNvPr>
          <p:cNvCxnSpPr>
            <a:cxnSpLocks/>
          </p:cNvCxnSpPr>
          <p:nvPr/>
        </p:nvCxnSpPr>
        <p:spPr>
          <a:xfrm>
            <a:off x="6021909" y="574649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8B1E52-335E-4E2A-BB3B-7FBB1DD3FEFD}"/>
              </a:ext>
            </a:extLst>
          </p:cNvPr>
          <p:cNvSpPr txBox="1"/>
          <p:nvPr/>
        </p:nvSpPr>
        <p:spPr>
          <a:xfrm>
            <a:off x="6597725" y="5449734"/>
            <a:ext cx="287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45" name="다이아몬드 44">
            <a:extLst>
              <a:ext uri="{FF2B5EF4-FFF2-40B4-BE49-F238E27FC236}">
                <a16:creationId xmlns:a16="http://schemas.microsoft.com/office/drawing/2014/main" id="{106E8390-AC0E-4DB5-81E0-BA9A77D40287}"/>
              </a:ext>
            </a:extLst>
          </p:cNvPr>
          <p:cNvSpPr/>
          <p:nvPr/>
        </p:nvSpPr>
        <p:spPr>
          <a:xfrm>
            <a:off x="4768605" y="4008918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FB1D41B-071D-4000-AB34-ECD432EA0C1A}"/>
              </a:ext>
            </a:extLst>
          </p:cNvPr>
          <p:cNvCxnSpPr>
            <a:cxnSpLocks/>
          </p:cNvCxnSpPr>
          <p:nvPr/>
        </p:nvCxnSpPr>
        <p:spPr>
          <a:xfrm>
            <a:off x="6021909" y="485534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91D8F2E-5314-41DE-B5A9-7737D34D79D8}"/>
              </a:ext>
            </a:extLst>
          </p:cNvPr>
          <p:cNvSpPr txBox="1"/>
          <p:nvPr/>
        </p:nvSpPr>
        <p:spPr>
          <a:xfrm>
            <a:off x="6047364" y="4551638"/>
            <a:ext cx="405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Yes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04AFD7-25D8-4476-B803-33A018ECE9BA}"/>
              </a:ext>
            </a:extLst>
          </p:cNvPr>
          <p:cNvSpPr txBox="1"/>
          <p:nvPr/>
        </p:nvSpPr>
        <p:spPr>
          <a:xfrm>
            <a:off x="6652241" y="4563014"/>
            <a:ext cx="2635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Output Error(D50001.15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4264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A Abnormal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378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4917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06542" y="2350605"/>
            <a:ext cx="2861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168320-56F5-A5EB-579F-06362D529404}"/>
              </a:ext>
            </a:extLst>
          </p:cNvPr>
          <p:cNvSpPr/>
          <p:nvPr/>
        </p:nvSpPr>
        <p:spPr>
          <a:xfrm>
            <a:off x="5063152" y="2771085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AD595E8-03CB-0CF8-4299-811D22999381}"/>
              </a:ext>
            </a:extLst>
          </p:cNvPr>
          <p:cNvCxnSpPr>
            <a:cxnSpLocks/>
          </p:cNvCxnSpPr>
          <p:nvPr/>
        </p:nvCxnSpPr>
        <p:spPr>
          <a:xfrm>
            <a:off x="2080203" y="3574763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8F1994-B7E1-C9C1-5D58-C4EBA57CAEB9}"/>
              </a:ext>
            </a:extLst>
          </p:cNvPr>
          <p:cNvSpPr txBox="1"/>
          <p:nvPr/>
        </p:nvSpPr>
        <p:spPr>
          <a:xfrm>
            <a:off x="2817868" y="326743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3854143-F243-2314-A13B-1A65CD8D6C03}"/>
              </a:ext>
            </a:extLst>
          </p:cNvPr>
          <p:cNvCxnSpPr>
            <a:cxnSpLocks/>
          </p:cNvCxnSpPr>
          <p:nvPr/>
        </p:nvCxnSpPr>
        <p:spPr>
          <a:xfrm>
            <a:off x="2080203" y="3944756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84F076-936B-44C2-5152-D3397AED47B0}"/>
              </a:ext>
            </a:extLst>
          </p:cNvPr>
          <p:cNvSpPr txBox="1"/>
          <p:nvPr/>
        </p:nvSpPr>
        <p:spPr>
          <a:xfrm>
            <a:off x="2785807" y="3627613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890331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56849" y="4613332"/>
            <a:ext cx="2961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698705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38414" y="5405489"/>
            <a:ext cx="2998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F46BD76-93D2-4AFA-AB6A-7E74AD37F7D4}"/>
              </a:ext>
            </a:extLst>
          </p:cNvPr>
          <p:cNvCxnSpPr>
            <a:cxnSpLocks/>
          </p:cNvCxnSpPr>
          <p:nvPr/>
        </p:nvCxnSpPr>
        <p:spPr>
          <a:xfrm>
            <a:off x="6021909" y="5276139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2ACE7E7-3F1F-40CC-B7BC-9F06D0347632}"/>
              </a:ext>
            </a:extLst>
          </p:cNvPr>
          <p:cNvSpPr txBox="1"/>
          <p:nvPr/>
        </p:nvSpPr>
        <p:spPr>
          <a:xfrm>
            <a:off x="6592115" y="4979720"/>
            <a:ext cx="2890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Request(D51001.1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8BC6A0E1-31DE-4200-96DE-B93E46CEAE61}"/>
              </a:ext>
            </a:extLst>
          </p:cNvPr>
          <p:cNvSpPr/>
          <p:nvPr/>
        </p:nvSpPr>
        <p:spPr>
          <a:xfrm>
            <a:off x="4768605" y="4077742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944C84D-C416-4F60-A999-90F35BAF96AF}"/>
              </a:ext>
            </a:extLst>
          </p:cNvPr>
          <p:cNvCxnSpPr>
            <a:cxnSpLocks/>
          </p:cNvCxnSpPr>
          <p:nvPr/>
        </p:nvCxnSpPr>
        <p:spPr>
          <a:xfrm>
            <a:off x="7250121" y="4334173"/>
            <a:ext cx="2713494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A99046-6C34-4D65-AEDC-F70AAD36D4C9}"/>
              </a:ext>
            </a:extLst>
          </p:cNvPr>
          <p:cNvSpPr txBox="1"/>
          <p:nvPr/>
        </p:nvSpPr>
        <p:spPr>
          <a:xfrm>
            <a:off x="7130026" y="4027237"/>
            <a:ext cx="2598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A Jig Output Error(D50001.12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6F8577-65ED-45A1-ADF3-9242B37A5E97}"/>
              </a:ext>
            </a:extLst>
          </p:cNvPr>
          <p:cNvSpPr txBox="1"/>
          <p:nvPr/>
        </p:nvSpPr>
        <p:spPr>
          <a:xfrm>
            <a:off x="6677647" y="392953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06BC8BA-DE06-4480-B2E8-0167CD7D525F}"/>
              </a:ext>
            </a:extLst>
          </p:cNvPr>
          <p:cNvSpPr/>
          <p:nvPr/>
        </p:nvSpPr>
        <p:spPr>
          <a:xfrm>
            <a:off x="8551307" y="5918568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0E0384-6911-4780-AC6C-86F1667F161B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배출보고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691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스테이터</a:t>
            </a:r>
            <a:r>
              <a:rPr lang="ko-KR" altLang="en-US" dirty="0"/>
              <a:t> 배출보고 </a:t>
            </a:r>
            <a:r>
              <a:rPr lang="en-US" altLang="ko-KR" dirty="0"/>
              <a:t>– JIG B Abnormal Case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GMES(PLC)</a:t>
            </a:r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Communication Scenario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294879-7584-2B7B-5075-13ADADCB59EA}"/>
              </a:ext>
            </a:extLst>
          </p:cNvPr>
          <p:cNvSpPr/>
          <p:nvPr/>
        </p:nvSpPr>
        <p:spPr>
          <a:xfrm>
            <a:off x="9110546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PLC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EDC52FF-7CF7-0D85-A109-5DD5429FEF7A}"/>
              </a:ext>
            </a:extLst>
          </p:cNvPr>
          <p:cNvSpPr/>
          <p:nvPr/>
        </p:nvSpPr>
        <p:spPr>
          <a:xfrm>
            <a:off x="5168840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Laser PC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82046B-D4B7-CB30-097A-DC43381463CF}"/>
              </a:ext>
            </a:extLst>
          </p:cNvPr>
          <p:cNvSpPr/>
          <p:nvPr/>
        </p:nvSpPr>
        <p:spPr>
          <a:xfrm>
            <a:off x="1227133" y="1856680"/>
            <a:ext cx="1706137" cy="440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Host(GMES)</a:t>
            </a:r>
            <a:endParaRPr lang="ko-KR" alt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EF1E80-172A-8309-FA63-C328D5562C3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080202" y="2297153"/>
            <a:ext cx="0" cy="4310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08F1A8-F481-116A-94A2-4D49772EF94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21909" y="2297153"/>
            <a:ext cx="0" cy="420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1227DF8-4A95-2BF5-9E66-A37A12044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963615" y="2297153"/>
            <a:ext cx="0" cy="4310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E301C92-0A14-563F-9F9C-8A3A0E580071}"/>
              </a:ext>
            </a:extLst>
          </p:cNvPr>
          <p:cNvCxnSpPr>
            <a:cxnSpLocks/>
          </p:cNvCxnSpPr>
          <p:nvPr/>
        </p:nvCxnSpPr>
        <p:spPr>
          <a:xfrm>
            <a:off x="6021909" y="2639336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45C28C-8B56-F16B-CBD5-8198B0D46ED8}"/>
              </a:ext>
            </a:extLst>
          </p:cNvPr>
          <p:cNvSpPr txBox="1"/>
          <p:nvPr/>
        </p:nvSpPr>
        <p:spPr>
          <a:xfrm>
            <a:off x="6616160" y="2342919"/>
            <a:ext cx="2842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B7A69F-FDA1-D6FC-DBB4-5677808C527A}"/>
              </a:ext>
            </a:extLst>
          </p:cNvPr>
          <p:cNvGrpSpPr/>
          <p:nvPr/>
        </p:nvGrpSpPr>
        <p:grpSpPr>
          <a:xfrm>
            <a:off x="10278382" y="701119"/>
            <a:ext cx="1598179" cy="751414"/>
            <a:chOff x="10278382" y="701119"/>
            <a:chExt cx="1598179" cy="75141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77EF78F-9A13-646B-3B19-402559E035FC}"/>
                </a:ext>
              </a:extLst>
            </p:cNvPr>
            <p:cNvSpPr/>
            <p:nvPr/>
          </p:nvSpPr>
          <p:spPr>
            <a:xfrm>
              <a:off x="10278382" y="701119"/>
              <a:ext cx="1598179" cy="75141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8A477D9-3404-1A26-CFF3-54AEF4D4B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968404"/>
              <a:ext cx="437309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546351D-41D9-0841-7B2D-0743CA58EEA4}"/>
                </a:ext>
              </a:extLst>
            </p:cNvPr>
            <p:cNvCxnSpPr>
              <a:cxnSpLocks/>
            </p:cNvCxnSpPr>
            <p:nvPr/>
          </p:nvCxnSpPr>
          <p:spPr>
            <a:xfrm>
              <a:off x="10435391" y="1261531"/>
              <a:ext cx="437309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480704-6893-41A4-A640-A62B5F2D76CE}"/>
                </a:ext>
              </a:extLst>
            </p:cNvPr>
            <p:cNvSpPr txBox="1"/>
            <p:nvPr/>
          </p:nvSpPr>
          <p:spPr>
            <a:xfrm>
              <a:off x="10926069" y="844995"/>
              <a:ext cx="7468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PLC</a:t>
              </a:r>
              <a:r>
                <a:rPr lang="ko-KR" altLang="en-US" sz="1200" dirty="0"/>
                <a:t>통신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575E79-D151-4217-7CE5-EB00B16FFFD3}"/>
                </a:ext>
              </a:extLst>
            </p:cNvPr>
            <p:cNvSpPr txBox="1"/>
            <p:nvPr/>
          </p:nvSpPr>
          <p:spPr>
            <a:xfrm>
              <a:off x="10926069" y="1135605"/>
              <a:ext cx="7970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MES</a:t>
              </a:r>
              <a:r>
                <a:rPr lang="ko-KR" altLang="en-US" sz="1200" dirty="0"/>
                <a:t>통신</a:t>
              </a: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3A2C80E-18C1-A378-619C-E03C245A232A}"/>
              </a:ext>
            </a:extLst>
          </p:cNvPr>
          <p:cNvCxnSpPr>
            <a:cxnSpLocks/>
          </p:cNvCxnSpPr>
          <p:nvPr/>
        </p:nvCxnSpPr>
        <p:spPr>
          <a:xfrm>
            <a:off x="6021909" y="481445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0A42D18-6ECC-4A6E-8754-97516B07B1B1}"/>
              </a:ext>
            </a:extLst>
          </p:cNvPr>
          <p:cNvSpPr txBox="1"/>
          <p:nvPr/>
        </p:nvSpPr>
        <p:spPr>
          <a:xfrm>
            <a:off x="6562458" y="4501984"/>
            <a:ext cx="2949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E60000"/>
                </a:solidFill>
              </a:rPr>
              <a:t>ON</a:t>
            </a:r>
            <a:r>
              <a:rPr lang="en-US" altLang="ko-KR" sz="1200" dirty="0"/>
              <a:t>)</a:t>
            </a:r>
            <a:endParaRPr lang="ko-KR" altLang="en-US" sz="1200" b="1" dirty="0">
              <a:solidFill>
                <a:srgbClr val="E6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65B036-D8B2-2FB3-A9ED-745397015D2E}"/>
              </a:ext>
            </a:extLst>
          </p:cNvPr>
          <p:cNvCxnSpPr>
            <a:cxnSpLocks/>
          </p:cNvCxnSpPr>
          <p:nvPr/>
        </p:nvCxnSpPr>
        <p:spPr>
          <a:xfrm>
            <a:off x="6021909" y="5770874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CA6B3F-0A11-141F-5746-EA1A5C0C7C20}"/>
              </a:ext>
            </a:extLst>
          </p:cNvPr>
          <p:cNvSpPr txBox="1"/>
          <p:nvPr/>
        </p:nvSpPr>
        <p:spPr>
          <a:xfrm>
            <a:off x="6544024" y="5493875"/>
            <a:ext cx="2986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Response(D50001.5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2C64F6B-048D-4B63-830F-AC3F632FF420}"/>
              </a:ext>
            </a:extLst>
          </p:cNvPr>
          <p:cNvSpPr/>
          <p:nvPr/>
        </p:nvSpPr>
        <p:spPr>
          <a:xfrm>
            <a:off x="5063152" y="2780915"/>
            <a:ext cx="1917512" cy="4404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검사결과 </a:t>
            </a:r>
            <a:r>
              <a:rPr lang="en-US" altLang="ko-KR" sz="1200" dirty="0"/>
              <a:t>Data </a:t>
            </a:r>
          </a:p>
          <a:p>
            <a:pPr algn="ctr"/>
            <a:r>
              <a:rPr lang="ko-KR" altLang="en-US" sz="1200" dirty="0"/>
              <a:t>다시 읽어 처리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2C3DD71-559A-4C27-9537-81DCD1077654}"/>
              </a:ext>
            </a:extLst>
          </p:cNvPr>
          <p:cNvCxnSpPr>
            <a:cxnSpLocks/>
          </p:cNvCxnSpPr>
          <p:nvPr/>
        </p:nvCxnSpPr>
        <p:spPr>
          <a:xfrm>
            <a:off x="2080203" y="3505930"/>
            <a:ext cx="394170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E321900-E777-4F30-B439-DCF9A7E467D2}"/>
              </a:ext>
            </a:extLst>
          </p:cNvPr>
          <p:cNvSpPr txBox="1"/>
          <p:nvPr/>
        </p:nvSpPr>
        <p:spPr>
          <a:xfrm>
            <a:off x="2817868" y="3218263"/>
            <a:ext cx="2592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 : Equip</a:t>
            </a:r>
            <a:r>
              <a:rPr lang="ko-KR" altLang="en-US" sz="1200" dirty="0"/>
              <a:t> </a:t>
            </a:r>
            <a:r>
              <a:rPr lang="en-US" altLang="ko-KR" sz="1200" dirty="0"/>
              <a:t>Inspection Data Send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986694-47AC-4D67-ADEB-F9E9E1457B93}"/>
              </a:ext>
            </a:extLst>
          </p:cNvPr>
          <p:cNvCxnSpPr>
            <a:cxnSpLocks/>
          </p:cNvCxnSpPr>
          <p:nvPr/>
        </p:nvCxnSpPr>
        <p:spPr>
          <a:xfrm>
            <a:off x="2080203" y="3875923"/>
            <a:ext cx="394170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2D68883-B457-4E86-909C-5793D8867AD6}"/>
              </a:ext>
            </a:extLst>
          </p:cNvPr>
          <p:cNvSpPr txBox="1"/>
          <p:nvPr/>
        </p:nvSpPr>
        <p:spPr>
          <a:xfrm>
            <a:off x="2785807" y="3558780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EIDS_R : Equip Inspection Data Ack</a:t>
            </a:r>
            <a:endParaRPr lang="ko-KR" altLang="en-US" sz="1200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610878F-9527-45E9-9F16-A6C6C293CDFB}"/>
              </a:ext>
            </a:extLst>
          </p:cNvPr>
          <p:cNvCxnSpPr>
            <a:cxnSpLocks/>
          </p:cNvCxnSpPr>
          <p:nvPr/>
        </p:nvCxnSpPr>
        <p:spPr>
          <a:xfrm>
            <a:off x="6021909" y="5348223"/>
            <a:ext cx="3941706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8B1E52-335E-4E2A-BB3B-7FBB1DD3FEFD}"/>
              </a:ext>
            </a:extLst>
          </p:cNvPr>
          <p:cNvSpPr txBox="1"/>
          <p:nvPr/>
        </p:nvSpPr>
        <p:spPr>
          <a:xfrm>
            <a:off x="6597725" y="5028931"/>
            <a:ext cx="287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</a:t>
            </a:r>
            <a:r>
              <a:rPr lang="ko-KR" altLang="en-US" sz="1200" dirty="0"/>
              <a:t>배출보고 </a:t>
            </a:r>
            <a:r>
              <a:rPr lang="en-US" altLang="ko-KR" sz="1200" dirty="0"/>
              <a:t>Request(D51001.5 </a:t>
            </a:r>
            <a:r>
              <a:rPr lang="en-US" altLang="ko-KR" sz="1200" b="1" dirty="0">
                <a:solidFill>
                  <a:srgbClr val="0000FF"/>
                </a:solidFill>
              </a:rPr>
              <a:t>OFF</a:t>
            </a:r>
            <a:r>
              <a:rPr lang="en-US" altLang="ko-KR" sz="1200" dirty="0"/>
              <a:t>)</a:t>
            </a:r>
          </a:p>
        </p:txBody>
      </p:sp>
      <p:sp>
        <p:nvSpPr>
          <p:cNvPr id="46" name="다이아몬드 45">
            <a:extLst>
              <a:ext uri="{FF2B5EF4-FFF2-40B4-BE49-F238E27FC236}">
                <a16:creationId xmlns:a16="http://schemas.microsoft.com/office/drawing/2014/main" id="{82BFCD59-4B0F-4503-8D2F-C1F49BE10EBE}"/>
              </a:ext>
            </a:extLst>
          </p:cNvPr>
          <p:cNvSpPr/>
          <p:nvPr/>
        </p:nvSpPr>
        <p:spPr>
          <a:xfrm>
            <a:off x="4768605" y="4077742"/>
            <a:ext cx="2508496" cy="5253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Accepted?</a:t>
            </a:r>
            <a:endParaRPr lang="ko-KR" altLang="en-US" sz="1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6ED4B0D-AD85-4154-B6C7-E3F31790EB0E}"/>
              </a:ext>
            </a:extLst>
          </p:cNvPr>
          <p:cNvCxnSpPr>
            <a:cxnSpLocks/>
          </p:cNvCxnSpPr>
          <p:nvPr/>
        </p:nvCxnSpPr>
        <p:spPr>
          <a:xfrm>
            <a:off x="7250121" y="4334173"/>
            <a:ext cx="2713494" cy="0"/>
          </a:xfrm>
          <a:prstGeom prst="straightConnector1">
            <a:avLst/>
          </a:prstGeom>
          <a:ln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4B4915C-42D1-4B35-975D-F414703BE83F}"/>
              </a:ext>
            </a:extLst>
          </p:cNvPr>
          <p:cNvSpPr txBox="1"/>
          <p:nvPr/>
        </p:nvSpPr>
        <p:spPr>
          <a:xfrm>
            <a:off x="7130026" y="4027237"/>
            <a:ext cx="2598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 Jig Output Error(D50001.15 </a:t>
            </a:r>
            <a:r>
              <a:rPr lang="en-US" altLang="ko-KR" sz="1200" b="1" dirty="0">
                <a:solidFill>
                  <a:srgbClr val="FF0000"/>
                </a:solidFill>
              </a:rPr>
              <a:t>ON</a:t>
            </a:r>
            <a:r>
              <a:rPr lang="en-US" altLang="ko-KR" sz="1200" dirty="0"/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113F01-DB28-4129-B5F3-D857F5F16203}"/>
              </a:ext>
            </a:extLst>
          </p:cNvPr>
          <p:cNvSpPr txBox="1"/>
          <p:nvPr/>
        </p:nvSpPr>
        <p:spPr>
          <a:xfrm>
            <a:off x="6677647" y="392953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No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E19042-878A-4B55-9D08-95CB3C9FDEBD}"/>
              </a:ext>
            </a:extLst>
          </p:cNvPr>
          <p:cNvSpPr/>
          <p:nvPr/>
        </p:nvSpPr>
        <p:spPr>
          <a:xfrm>
            <a:off x="8551307" y="5918568"/>
            <a:ext cx="2775490" cy="4015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 dirty="0"/>
              <a:t>PLC</a:t>
            </a:r>
            <a:r>
              <a:rPr lang="ko-KR" altLang="en-US" sz="1050" dirty="0"/>
              <a:t> </a:t>
            </a:r>
            <a:r>
              <a:rPr lang="en-US" altLang="ko-KR" sz="1050" dirty="0"/>
              <a:t>Touch </a:t>
            </a:r>
            <a:r>
              <a:rPr lang="ko-KR" altLang="en-US" sz="1050" dirty="0"/>
              <a:t>화면에 </a:t>
            </a:r>
            <a:r>
              <a:rPr lang="en-US" altLang="ko-KR" sz="1050" dirty="0"/>
              <a:t>Error </a:t>
            </a:r>
            <a:r>
              <a:rPr lang="ko-KR" altLang="en-US" sz="1050" dirty="0"/>
              <a:t>화면 표시</a:t>
            </a:r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“</a:t>
            </a:r>
            <a:r>
              <a:rPr lang="ko-KR" altLang="en-US" sz="1050" dirty="0"/>
              <a:t>재시도</a:t>
            </a:r>
            <a:r>
              <a:rPr lang="en-US" altLang="ko-KR" sz="1050" dirty="0"/>
              <a:t>”</a:t>
            </a:r>
            <a:r>
              <a:rPr lang="ko-KR" altLang="en-US" sz="1050" dirty="0"/>
              <a:t> </a:t>
            </a:r>
            <a:r>
              <a:rPr lang="en-US" altLang="ko-KR" sz="1050" dirty="0"/>
              <a:t>/ “Pass” / “</a:t>
            </a:r>
            <a:r>
              <a:rPr lang="ko-KR" altLang="en-US" sz="1050" dirty="0"/>
              <a:t>수동조작</a:t>
            </a:r>
            <a:r>
              <a:rPr lang="en-US" altLang="ko-KR" sz="1050" dirty="0"/>
              <a:t>”</a:t>
            </a:r>
            <a:r>
              <a:rPr lang="ko-KR" altLang="en-US" sz="1050" dirty="0"/>
              <a:t> 중 선택</a:t>
            </a:r>
            <a:endParaRPr lang="en-US" altLang="ko-KR" sz="10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5E577D-FA8A-4506-B3CB-60BDD66BEDD4}"/>
              </a:ext>
            </a:extLst>
          </p:cNvPr>
          <p:cNvSpPr txBox="1"/>
          <p:nvPr/>
        </p:nvSpPr>
        <p:spPr>
          <a:xfrm>
            <a:off x="4159477" y="1146658"/>
            <a:ext cx="542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배출보고 하였으나</a:t>
            </a:r>
            <a:r>
              <a:rPr lang="en-US" altLang="ko-KR" sz="1200" dirty="0"/>
              <a:t>, GMES </a:t>
            </a:r>
            <a:r>
              <a:rPr lang="ko-KR" altLang="en-US" sz="1200" dirty="0"/>
              <a:t>서버에서 </a:t>
            </a:r>
            <a:r>
              <a:rPr lang="en-US" altLang="ko-KR" sz="1200" dirty="0"/>
              <a:t>Ack</a:t>
            </a:r>
            <a:r>
              <a:rPr lang="ko-KR" altLang="en-US" sz="1200" dirty="0"/>
              <a:t>신호로 </a:t>
            </a:r>
            <a:r>
              <a:rPr lang="en-US" altLang="ko-KR" sz="1200" dirty="0"/>
              <a:t>“Not Accepted”</a:t>
            </a:r>
            <a:r>
              <a:rPr lang="ko-KR" altLang="en-US" sz="1200" dirty="0"/>
              <a:t>가 왔을 경우</a:t>
            </a:r>
            <a:endParaRPr lang="en-US" altLang="ko-KR" sz="1200" dirty="0"/>
          </a:p>
          <a:p>
            <a:r>
              <a:rPr lang="en-US" altLang="ko-KR" sz="1200" dirty="0"/>
              <a:t>PLC </a:t>
            </a:r>
            <a:r>
              <a:rPr lang="ko-KR" altLang="en-US" sz="1200" dirty="0"/>
              <a:t>터치 화면에 </a:t>
            </a:r>
            <a:r>
              <a:rPr lang="en-US" altLang="ko-KR" sz="1200" dirty="0"/>
              <a:t>Error </a:t>
            </a:r>
            <a:r>
              <a:rPr lang="ko-KR" altLang="en-US" sz="1200" dirty="0"/>
              <a:t>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재시도 할지</a:t>
            </a:r>
            <a:r>
              <a:rPr lang="en-US" altLang="ko-KR" sz="1200" dirty="0"/>
              <a:t>? Pass</a:t>
            </a:r>
            <a:r>
              <a:rPr lang="ko-KR" altLang="en-US" sz="1200" dirty="0"/>
              <a:t>할지</a:t>
            </a:r>
            <a:r>
              <a:rPr lang="en-US" altLang="ko-KR" sz="1200" dirty="0"/>
              <a:t>? </a:t>
            </a:r>
            <a:r>
              <a:rPr lang="ko-KR" altLang="en-US" sz="1200" dirty="0"/>
              <a:t>결정</a:t>
            </a:r>
            <a:endParaRPr lang="en-US" altLang="ko-KR" sz="1200" dirty="0"/>
          </a:p>
          <a:p>
            <a:r>
              <a:rPr lang="en-US" altLang="ko-KR" sz="1200" dirty="0"/>
              <a:t>Pass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“Pass </a:t>
            </a:r>
            <a:r>
              <a:rPr lang="ko-KR" altLang="en-US" sz="1200" dirty="0"/>
              <a:t>시나리오 참고</a:t>
            </a:r>
            <a:r>
              <a:rPr lang="en-US" altLang="ko-KR" sz="1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36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– Message Structure</a:t>
            </a:r>
          </a:p>
        </p:txBody>
      </p:sp>
    </p:spTree>
    <p:extLst>
      <p:ext uri="{BB962C8B-B14F-4D97-AF65-F5344CB8AC3E}">
        <p14:creationId xmlns:p14="http://schemas.microsoft.com/office/powerpoint/2010/main" val="1513102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ELNT : Equipment</a:t>
            </a:r>
            <a:r>
              <a:rPr lang="ko-KR" altLang="en-US" dirty="0"/>
              <a:t> </a:t>
            </a:r>
            <a:r>
              <a:rPr lang="en-US" altLang="ko-KR" dirty="0"/>
              <a:t>Link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714045-1771-42D2-A63F-C87E0026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40" y="2409579"/>
            <a:ext cx="5906324" cy="34961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6326D6-B1A6-486C-8F55-E51863E1C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64" y="2457208"/>
            <a:ext cx="588727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78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EAYT : Are You There Request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62F290-B208-436E-A099-49C1E307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21" y="2912719"/>
            <a:ext cx="5217625" cy="3383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F5DCEB-4B1F-45CB-AA60-2C61E9FB8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5" y="1400141"/>
            <a:ext cx="552527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60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EEMR : Equipment Mode Report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FA897B-7E3A-46FA-A28A-F6BE682D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5" y="2276563"/>
            <a:ext cx="5868219" cy="40201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1FDB6AB-964B-4B90-B822-DAACD4A1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09" y="2300381"/>
            <a:ext cx="587774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14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EDTS : Equipment Date and Time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4B5F-7873-4145-A33B-3D18504C8E89}"/>
              </a:ext>
            </a:extLst>
          </p:cNvPr>
          <p:cNvSpPr txBox="1"/>
          <p:nvPr/>
        </p:nvSpPr>
        <p:spPr>
          <a:xfrm>
            <a:off x="4277572" y="1150497"/>
            <a:ext cx="176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범례</a:t>
            </a:r>
            <a:endParaRPr lang="en-US" altLang="ko-KR" sz="1200" dirty="0"/>
          </a:p>
          <a:p>
            <a:r>
              <a:rPr lang="en-US" altLang="ko-KR" sz="1200" dirty="0"/>
              <a:t>H : Host(GMES Server)</a:t>
            </a:r>
          </a:p>
          <a:p>
            <a:r>
              <a:rPr lang="en-US" altLang="ko-KR" sz="1200" dirty="0"/>
              <a:t>E : Equipment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9A5E2F-E4E3-4CD5-AEB7-C1DEA0C79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2233348"/>
            <a:ext cx="5925377" cy="37819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358355-DEB2-46C6-9457-2339D7B5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27" y="2233348"/>
            <a:ext cx="5877745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65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EERS : Equipment Event Report Send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6BAF82-FADB-4370-B45F-BF93AAA6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1076826"/>
            <a:ext cx="5004181" cy="564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0A0328-4F60-40A3-A701-DE6C57E4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70" y="1076826"/>
            <a:ext cx="4832428" cy="470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48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F69E81-6D2A-4D6E-982C-7280469D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4" y="980671"/>
            <a:ext cx="5553850" cy="5792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5C6C99A-F655-44E4-BDDD-2040A459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2" y="1004549"/>
            <a:ext cx="539190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06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EPDS : Equipment Product Data Send (2/2)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4AC2-2313-4929-8A5D-A7981E92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45" y="1856330"/>
            <a:ext cx="5439534" cy="44869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600F6C9-15E7-4CA6-94E5-6C7EC9E4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3682"/>
            <a:ext cx="5477639" cy="2343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08A599-D5DC-4FBE-A321-8D1D1FB8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95856"/>
            <a:ext cx="5449060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07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3" y="514769"/>
            <a:ext cx="10286502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(1/2)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B25577-236F-490E-B30A-245A0CD5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9" y="1971382"/>
            <a:ext cx="5439534" cy="419158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8FC7DE3-DA0B-47B8-AAC7-EB80E5CA0672}"/>
              </a:ext>
            </a:extLst>
          </p:cNvPr>
          <p:cNvGrpSpPr/>
          <p:nvPr/>
        </p:nvGrpSpPr>
        <p:grpSpPr>
          <a:xfrm>
            <a:off x="6286501" y="980179"/>
            <a:ext cx="4914899" cy="5801680"/>
            <a:chOff x="6096000" y="418590"/>
            <a:chExt cx="5447801" cy="64307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E448A8F-7752-4C29-B91A-A3FD3605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3320" y="418590"/>
              <a:ext cx="5420481" cy="310558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F44FB67-7A4E-434E-B801-F533A3EBB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496054"/>
              <a:ext cx="5420481" cy="335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842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282743"/>
            <a:ext cx="9144000" cy="2320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Message Structure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42D5CA-6872-461A-A3AF-8BF535E8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8" y="1893308"/>
            <a:ext cx="5439534" cy="4477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95FE9B-A030-4847-BD74-C423EA30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925" y="1256421"/>
            <a:ext cx="5410955" cy="2333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564B17-0658-4C3F-98FA-EDE29143D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500" y="3579467"/>
            <a:ext cx="5372850" cy="2800741"/>
          </a:xfrm>
          <a:prstGeom prst="rect">
            <a:avLst/>
          </a:prstGeom>
        </p:spPr>
      </p:pic>
      <p:sp>
        <p:nvSpPr>
          <p:cNvPr id="15" name="제목 14">
            <a:extLst>
              <a:ext uri="{FF2B5EF4-FFF2-40B4-BE49-F238E27FC236}">
                <a16:creationId xmlns:a16="http://schemas.microsoft.com/office/drawing/2014/main" id="{A7813D77-D412-43ED-8645-944AEAA97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10238876" cy="5620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EIDS : Equipment Inspection(Processing) Data Send (2/2)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131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3056</Words>
  <Application>Microsoft Office PowerPoint</Application>
  <PresentationFormat>와이드스크린</PresentationFormat>
  <Paragraphs>597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System Configuration</vt:lpstr>
      <vt:lpstr>System Configuration</vt:lpstr>
      <vt:lpstr>System Configuration</vt:lpstr>
      <vt:lpstr>System Configuration</vt:lpstr>
      <vt:lpstr>System Configuration</vt:lpstr>
      <vt:lpstr>System Configuration</vt:lpstr>
      <vt:lpstr>PowerPoint 프레젠테이션</vt:lpstr>
      <vt:lpstr>ONLINE MODE INITIAL SCENARIO</vt:lpstr>
      <vt:lpstr>ONLINE NORMAL SCENARIO (1/2)</vt:lpstr>
      <vt:lpstr>ONLINE NORMAL SCENARIO (2/2)</vt:lpstr>
      <vt:lpstr>PowerPoint 프레젠테이션</vt:lpstr>
      <vt:lpstr>Link Test</vt:lpstr>
      <vt:lpstr>스테이터 투입보고 – JIG A Normal Case</vt:lpstr>
      <vt:lpstr>스테이터 투입보고 – JIG B Normal Case</vt:lpstr>
      <vt:lpstr>스테이터 투입보고 – JIG A Abnormal Case(GMES Barcode Error)</vt:lpstr>
      <vt:lpstr>스테이터 투입보고 – JIG B Abnormal Case(GMES Barcode Error)</vt:lpstr>
      <vt:lpstr>스테이터 투입보고 – JIG A Abnormal Case(Stator Model Error)</vt:lpstr>
      <vt:lpstr>스테이터 투입보고 – JIG B Abnormal Case(Stator Model Error)</vt:lpstr>
      <vt:lpstr>스테이터 투입보고 – JIG A Abnormal Case(작업중인 Stator가 있는 경우)</vt:lpstr>
      <vt:lpstr>스테이터 투입보고 – JIG B Abnormal Case(작업중인 Stator가 있는 경우)</vt:lpstr>
      <vt:lpstr>스테이터 투입 Pass – JIG A</vt:lpstr>
      <vt:lpstr>스테이터 투입 Pass – JIG B</vt:lpstr>
      <vt:lpstr>전검사 결과 저장 – JIG A</vt:lpstr>
      <vt:lpstr>전검사 결과 저장 – JIG B</vt:lpstr>
      <vt:lpstr>후검사 결과 저장 – JIG A</vt:lpstr>
      <vt:lpstr>후검사 결과 저장 – JIG B</vt:lpstr>
      <vt:lpstr>스테이터 배출보고 – JIG A(Normal Case)</vt:lpstr>
      <vt:lpstr>스테이터 배출보고 – JIG B(Normal Case)</vt:lpstr>
      <vt:lpstr>스테이터 배출보고 – JIG A Abnormal Case</vt:lpstr>
      <vt:lpstr>스테이터 배출보고 – JIG B Abnormal Case</vt:lpstr>
      <vt:lpstr>PowerPoint 프레젠테이션</vt:lpstr>
      <vt:lpstr>ELNT : Equipment Link Test</vt:lpstr>
      <vt:lpstr>EAYT : Are You There Request</vt:lpstr>
      <vt:lpstr>EEMR : Equipment Mode Report</vt:lpstr>
      <vt:lpstr>EDTS : Equipment Date and Time Send</vt:lpstr>
      <vt:lpstr>EERS : Equipment Event Report Send</vt:lpstr>
      <vt:lpstr>EPDS : Equipment Product Data Send (1/2)</vt:lpstr>
      <vt:lpstr>EPDS : Equipment Product Data Send (2/2)</vt:lpstr>
      <vt:lpstr>EIDS : Equipment Inspection(Processing) Data Send (1/2)</vt:lpstr>
      <vt:lpstr>EIDS : Equipment Inspection(Processing) Data Send (2/2)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164</cp:revision>
  <dcterms:created xsi:type="dcterms:W3CDTF">2019-07-08T14:59:17Z</dcterms:created>
  <dcterms:modified xsi:type="dcterms:W3CDTF">2026-02-26T16:57:18Z</dcterms:modified>
</cp:coreProperties>
</file>