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302" r:id="rId2"/>
    <p:sldId id="310" r:id="rId3"/>
    <p:sldId id="338" r:id="rId4"/>
    <p:sldId id="346" r:id="rId5"/>
    <p:sldId id="364" r:id="rId6"/>
    <p:sldId id="365" r:id="rId7"/>
    <p:sldId id="337" r:id="rId8"/>
    <p:sldId id="360" r:id="rId9"/>
    <p:sldId id="361" r:id="rId10"/>
    <p:sldId id="379" r:id="rId11"/>
    <p:sldId id="380" r:id="rId12"/>
    <p:sldId id="381" r:id="rId13"/>
    <p:sldId id="339" r:id="rId14"/>
    <p:sldId id="383" r:id="rId15"/>
    <p:sldId id="382" r:id="rId16"/>
    <p:sldId id="340" r:id="rId17"/>
    <p:sldId id="341" r:id="rId18"/>
    <p:sldId id="372" r:id="rId19"/>
    <p:sldId id="374" r:id="rId20"/>
    <p:sldId id="370" r:id="rId21"/>
    <p:sldId id="345" r:id="rId22"/>
    <p:sldId id="378" r:id="rId23"/>
    <p:sldId id="309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60000"/>
    <a:srgbClr val="CC0000"/>
    <a:srgbClr val="FF2621"/>
    <a:srgbClr val="605F5F"/>
    <a:srgbClr val="999999"/>
    <a:srgbClr val="9F9F9F"/>
    <a:srgbClr val="B3B1B2"/>
    <a:srgbClr val="BEBCBD"/>
    <a:srgbClr val="DBBB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20" autoAdjust="0"/>
    <p:restoredTop sz="92000" autoAdjust="0"/>
  </p:normalViewPr>
  <p:slideViewPr>
    <p:cSldViewPr snapToGrid="0">
      <p:cViewPr varScale="1">
        <p:scale>
          <a:sx n="59" d="100"/>
          <a:sy n="59" d="100"/>
        </p:scale>
        <p:origin x="13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DB0A33-9B35-478B-B925-653420027C7E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E384E5-D9D9-4855-BFBE-E8F30A5353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304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4F1DBD-692B-462B-B598-2A6CBC726E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4" y="514769"/>
            <a:ext cx="8714874" cy="562057"/>
          </a:xfrm>
        </p:spPr>
        <p:txBody>
          <a:bodyPr anchor="b">
            <a:normAutofit/>
          </a:bodyPr>
          <a:lstStyle>
            <a:lvl1pPr algn="l"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FAB1CA-EF17-4C61-B5E5-244BF526B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6299" y="347913"/>
            <a:ext cx="9144000" cy="232026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36834B-B30B-4084-A43C-CF55AD21F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A4C749-7642-45AF-B37C-78253B5F8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C9A0E6-B972-4B1B-93EE-C81B31213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7079" y="6364204"/>
            <a:ext cx="495299" cy="365125"/>
          </a:xfrm>
        </p:spPr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022FD2C-01DE-42B3-9688-37DC7D16DF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3552" y="6375400"/>
            <a:ext cx="870906" cy="31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127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530E27-43D0-4F40-99BB-73CBEBADA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D91BC0-45E3-47DF-80E5-2FEC6F7F7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B8B56F-1184-4C5A-8B01-299AA65A7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C3A633-E43F-4B6F-91AB-DD6F9A8F7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EFA60D-FB23-4A95-AA54-8B547C26E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791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229E0D-8AC4-4C85-8177-34E173F05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9C76ED-7009-4A12-8DA5-3BBC1CD92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9F7C31-B80F-4EA8-AAD6-16636F05B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F4E397-8E6D-490D-A7E0-9D32A5B9D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E92B07-ADE2-4E26-8645-D8DDA1160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0724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2EAF6A-A7B1-4A18-B7D2-024F91A57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90DA0D-D8AE-434F-8399-EB45E58B68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E33109-578E-471A-8A8E-F81AD26519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03F350-2FA2-43F5-9C28-D6F700C59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7A1089-50D8-4F35-A641-043F9617E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AE553E-83B8-49ED-84F5-623AA195C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681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62F7E0-ED16-4ADC-AD39-9E28E6017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A260D5-774E-4FDD-8C87-2EE86E8CC3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DD79DEB-E3DC-49A4-887C-0B01FFD85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5FD8359-B53E-4D69-9A21-B278D0C1F0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A1047C9-375F-467F-976F-34CB8DCFC9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7F1B81B-A36E-472D-AFC2-47A7D8420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7F288A5-A0BE-43D0-B3DB-BA1A42DF0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794A240-A595-4699-8345-3B1A6C86D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1656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71648C-6A42-4626-AAB9-DD0B95ECC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35E9728-D49A-4066-BC5C-881F99C91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0088CB-9B38-4D7D-B4CA-6CD99DA49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A1EA38A-3926-4486-B293-51063ECA3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2488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1A6B8E-94E3-4329-AD16-2E8D6B494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A5182D1-42FA-47F2-924E-4B11FED10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75D54D-C081-48AF-9CEA-A6CF2BA6A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39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F8E886-7EDD-462B-B3BB-D1CBD7B48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A24F62-7B7A-46AB-9B60-08AF6470B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2137DDA-F6CB-42D0-BECA-7DC704DE8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E9993F-7AD7-45FE-83E4-B961F19CB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F2B997-9F5B-4BE4-A47E-D64E0C77E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F68068-429E-411E-B06B-D193F96A3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2243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E2462F-A83C-4A49-BFBD-59C5E2BD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2F199D6-E9C3-49C4-81C9-DDFC8262A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2C50BB-E4FC-45B5-BF4F-4CB32CBCD5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B02DD6-2C23-4309-A6B4-A600B7325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A7EAF2-DACB-4AA8-97B8-67CB3F633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87FCFE-D50E-42A0-88B6-891E95F01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415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DEAA8-2369-4D71-B5C2-81180DB5C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1EE823-E54C-41A8-892C-546A930898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E7556D-EFA7-4564-A73F-76F695398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04CDCE-1E33-4D97-8DDF-423B2990F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45C2FC-63A6-412A-ADD2-E6C05F0C9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6277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0DBB610-D887-4C0A-95DF-37E0D9B9F1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788FA28-FFB5-4445-9EEF-BFCF14A70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82D33D-BD38-4859-A2CD-B074CFF5A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721167-3B9F-407D-A847-AC3DE18B8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A64035-58F3-43CF-AF4D-512BB6037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5733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1DF7D47-602D-435D-B674-AEA7710EA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6A80D7-4E9F-46DB-855E-B5D8D2ACA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E01F84-4470-4D23-8D7E-6CCB5A859F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1D43CD-4D2F-4BC4-A4D9-D0EE88203A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E95B84-B555-455E-B239-88AD61AB83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34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fft6804@hubis.co.kr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8">
            <a:extLst>
              <a:ext uri="{FF2B5EF4-FFF2-40B4-BE49-F238E27FC236}">
                <a16:creationId xmlns:a16="http://schemas.microsoft.com/office/drawing/2014/main" id="{F6B6FAAD-5CD2-4CA7-A74D-68F173A94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24" y="3159995"/>
            <a:ext cx="667362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GMES </a:t>
            </a:r>
            <a:r>
              <a:rPr lang="ko-KR" altLang="en-US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인터페이스 시나리오</a:t>
            </a:r>
            <a:endParaRPr lang="en-US" altLang="ko-KR" sz="3600" dirty="0">
              <a:solidFill>
                <a:schemeClr val="tx1">
                  <a:lumMod val="50000"/>
                  <a:lumOff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eaLnBrk="1" hangingPunct="1"/>
            <a:r>
              <a:rPr lang="en-US" altLang="ko-KR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- </a:t>
            </a:r>
            <a:r>
              <a:rPr lang="ko-KR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멕시코향 </a:t>
            </a:r>
            <a:r>
              <a:rPr lang="en-US" altLang="ko-KR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r>
              <a:rPr lang="ko-KR" alt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차용접기</a:t>
            </a:r>
            <a:r>
              <a:rPr lang="ko-KR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작업자 수동 선택 공간 </a:t>
            </a:r>
            <a:r>
              <a:rPr lang="en-US" altLang="ko-KR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-</a:t>
            </a:r>
            <a:endParaRPr lang="en-US" altLang="ko-KR" sz="3600" dirty="0">
              <a:solidFill>
                <a:schemeClr val="tx1">
                  <a:lumMod val="50000"/>
                  <a:lumOff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6844E09-C4BE-4067-B5E4-736F3F66A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9294" y="6000750"/>
            <a:ext cx="1355531" cy="49458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4" y="101476"/>
            <a:ext cx="11974178" cy="2940858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0904B0A1-1492-CF96-73F1-728153880404}"/>
              </a:ext>
            </a:extLst>
          </p:cNvPr>
          <p:cNvSpPr/>
          <p:nvPr/>
        </p:nvSpPr>
        <p:spPr>
          <a:xfrm>
            <a:off x="257175" y="5786531"/>
            <a:ext cx="45719" cy="81801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DCD42E-8102-9A5B-23C2-1C294D28DFBC}"/>
              </a:ext>
            </a:extLst>
          </p:cNvPr>
          <p:cNvSpPr txBox="1"/>
          <p:nvPr/>
        </p:nvSpPr>
        <p:spPr>
          <a:xfrm>
            <a:off x="302894" y="5556195"/>
            <a:ext cx="15263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이승준 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en-US" altLang="ko-KR" sz="1200" b="1" dirty="0">
                <a:latin typeface="맑은 고딕" panose="020B0503020000020004" pitchFamily="50" charset="-127"/>
              </a:rPr>
              <a:t>SW</a:t>
            </a:r>
            <a:r>
              <a:rPr lang="ko-KR" altLang="en-US" sz="1200" b="1" dirty="0">
                <a:latin typeface="맑은 고딕" panose="020B0503020000020004" pitchFamily="50" charset="-127"/>
              </a:rPr>
              <a:t>기술팀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200" b="1" dirty="0">
                <a:latin typeface="맑은 고딕" panose="020B0503020000020004" pitchFamily="50" charset="-127"/>
              </a:rPr>
              <a:t>sjyi@hubis.co.kr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2024.01.16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9082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8753"/>
            <a:ext cx="12192000" cy="20941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6290" y="725970"/>
            <a:ext cx="17557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INDEX</a:t>
            </a:r>
            <a:endParaRPr lang="ko-KR" altLang="en-US" sz="4000" dirty="0"/>
          </a:p>
        </p:txBody>
      </p:sp>
      <p:sp>
        <p:nvSpPr>
          <p:cNvPr id="11" name="Textfeld 6">
            <a:extLst>
              <a:ext uri="{FF2B5EF4-FFF2-40B4-BE49-F238E27FC236}">
                <a16:creationId xmlns:a16="http://schemas.microsoft.com/office/drawing/2014/main" id="{CCBD8AD4-9FE7-43C0-8328-B7F58E707C11}"/>
              </a:ext>
            </a:extLst>
          </p:cNvPr>
          <p:cNvSpPr txBox="1"/>
          <p:nvPr/>
        </p:nvSpPr>
        <p:spPr>
          <a:xfrm>
            <a:off x="2110202" y="2612899"/>
            <a:ext cx="8427700" cy="2213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pPr marL="742950" indent="-742950">
              <a:lnSpc>
                <a:spcPct val="150000"/>
              </a:lnSpc>
              <a:buAutoNum type="arabicPeriod"/>
            </a:pPr>
            <a:r>
              <a:rPr lang="en-US" altLang="ko-KR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GMES Communication Scenario</a:t>
            </a:r>
            <a:endParaRPr lang="en-US" altLang="ko-KR" sz="3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en-US" altLang="ko-KR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Message Structure(EPDS)</a:t>
            </a: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en-US" altLang="ko-KR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Communication Scenario </a:t>
            </a:r>
            <a:r>
              <a:rPr lang="ko-KR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상세</a:t>
            </a:r>
            <a:r>
              <a:rPr lang="en-US" altLang="ko-KR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(PLC </a:t>
            </a:r>
            <a:r>
              <a:rPr lang="ko-KR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포함</a:t>
            </a:r>
            <a:r>
              <a:rPr lang="en-US" altLang="ko-KR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)</a:t>
            </a:r>
            <a:endParaRPr lang="ko-KR" altLang="en-US" sz="3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11112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CEBBF3D-F8E4-4E56-AB78-E8427C2F4B6F}"/>
              </a:ext>
            </a:extLst>
          </p:cNvPr>
          <p:cNvSpPr/>
          <p:nvPr/>
        </p:nvSpPr>
        <p:spPr>
          <a:xfrm>
            <a:off x="0" y="3879395"/>
            <a:ext cx="10734675" cy="133077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feld 6">
            <a:extLst>
              <a:ext uri="{FF2B5EF4-FFF2-40B4-BE49-F238E27FC236}">
                <a16:creationId xmlns:a16="http://schemas.microsoft.com/office/drawing/2014/main" id="{1B8C4328-CDA4-444F-8733-13141F4F244A}"/>
              </a:ext>
            </a:extLst>
          </p:cNvPr>
          <p:cNvSpPr txBox="1"/>
          <p:nvPr/>
        </p:nvSpPr>
        <p:spPr>
          <a:xfrm>
            <a:off x="504825" y="2776764"/>
            <a:ext cx="14388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pPr algn="r"/>
            <a:r>
              <a:rPr lang="de-DE" sz="86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6" name="Textfeld 6">
            <a:extLst>
              <a:ext uri="{FF2B5EF4-FFF2-40B4-BE49-F238E27FC236}">
                <a16:creationId xmlns:a16="http://schemas.microsoft.com/office/drawing/2014/main" id="{AFBE382C-DF31-481D-9390-4C9B8C903ED3}"/>
              </a:ext>
            </a:extLst>
          </p:cNvPr>
          <p:cNvSpPr txBox="1"/>
          <p:nvPr/>
        </p:nvSpPr>
        <p:spPr>
          <a:xfrm>
            <a:off x="228599" y="3879395"/>
            <a:ext cx="111537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de-DE" sz="4000" b="1" dirty="0">
                <a:solidFill>
                  <a:schemeClr val="bg1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GMES – Communication Scenario</a:t>
            </a:r>
          </a:p>
        </p:txBody>
      </p:sp>
    </p:spTree>
    <p:extLst>
      <p:ext uri="{BB962C8B-B14F-4D97-AF65-F5344CB8AC3E}">
        <p14:creationId xmlns:p14="http://schemas.microsoft.com/office/powerpoint/2010/main" val="3108569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ONLINE MODE INITIAL SCENARIO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BAF3680-0309-4821-ADF0-961DD8B5E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650" y="1889551"/>
            <a:ext cx="2888131" cy="43167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04A320-81EE-45C7-985B-989EC97F86F2}"/>
              </a:ext>
            </a:extLst>
          </p:cNvPr>
          <p:cNvSpPr txBox="1"/>
          <p:nvPr/>
        </p:nvSpPr>
        <p:spPr>
          <a:xfrm>
            <a:off x="4251271" y="1309355"/>
            <a:ext cx="61368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600" dirty="0">
                <a:solidFill>
                  <a:srgbClr val="0000FF"/>
                </a:solidFill>
              </a:rPr>
              <a:t>초기화 시나리오</a:t>
            </a:r>
            <a:r>
              <a:rPr lang="en-US" altLang="ko-KR" sz="1600" dirty="0">
                <a:solidFill>
                  <a:srgbClr val="0000FF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/>
              <a:t>GMES Interface SW(</a:t>
            </a:r>
            <a:r>
              <a:rPr lang="ko-KR" altLang="en-US" sz="1200" dirty="0"/>
              <a:t>이하 </a:t>
            </a:r>
            <a:r>
              <a:rPr lang="en-US" altLang="ko-KR" sz="1200" dirty="0"/>
              <a:t>MIS</a:t>
            </a:r>
            <a:r>
              <a:rPr lang="ko-KR" altLang="en-US" sz="1200" dirty="0"/>
              <a:t>로 표시</a:t>
            </a:r>
            <a:r>
              <a:rPr lang="en-US" altLang="ko-KR" sz="1200" dirty="0"/>
              <a:t>) </a:t>
            </a:r>
            <a:r>
              <a:rPr lang="ko-KR" altLang="en-US" sz="1200" dirty="0"/>
              <a:t>실행 시</a:t>
            </a:r>
            <a:r>
              <a:rPr lang="en-US" altLang="ko-KR" sz="1200" dirty="0"/>
              <a:t>, GMES HOST</a:t>
            </a:r>
            <a:r>
              <a:rPr lang="ko-KR" altLang="en-US" sz="1200" dirty="0"/>
              <a:t>와 초기 연결 시나리오</a:t>
            </a:r>
            <a:endParaRPr lang="en-US" altLang="ko-KR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6AA12C-61B3-419E-9009-2B21A9D291CB}"/>
              </a:ext>
            </a:extLst>
          </p:cNvPr>
          <p:cNvSpPr txBox="1"/>
          <p:nvPr/>
        </p:nvSpPr>
        <p:spPr>
          <a:xfrm>
            <a:off x="4069183" y="4353459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EDTS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메시지 수신 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컴퓨터 시간을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GMES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에서 보내준 시간으로 변경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033666A-F869-4E59-B331-6F4F29012756}"/>
              </a:ext>
            </a:extLst>
          </p:cNvPr>
          <p:cNvSpPr/>
          <p:nvPr/>
        </p:nvSpPr>
        <p:spPr>
          <a:xfrm>
            <a:off x="904875" y="5339554"/>
            <a:ext cx="3076575" cy="562057"/>
          </a:xfrm>
          <a:prstGeom prst="roundRect">
            <a:avLst/>
          </a:prstGeom>
          <a:solidFill>
            <a:schemeClr val="bg1">
              <a:lumMod val="65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생략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84C92D-A812-4554-9FE8-BFCB8703F2DF}"/>
              </a:ext>
            </a:extLst>
          </p:cNvPr>
          <p:cNvSpPr txBox="1"/>
          <p:nvPr/>
        </p:nvSpPr>
        <p:spPr>
          <a:xfrm>
            <a:off x="4069183" y="5407787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장비의 상태는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PLC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에서 제어하므로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EESR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동작은 생략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D52DE2-87B8-4C11-BF7B-8226B3A7E07B}"/>
              </a:ext>
            </a:extLst>
          </p:cNvPr>
          <p:cNvSpPr txBox="1"/>
          <p:nvPr/>
        </p:nvSpPr>
        <p:spPr>
          <a:xfrm>
            <a:off x="4069183" y="484650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통신상태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(Online)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보고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b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</a:br>
            <a:r>
              <a:rPr lang="en-US" altLang="ko-KR" sz="1200" dirty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※ 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주의 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: Online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이 아닐 경우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이후 보고 사항 상위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(GMES)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에서 응답 없음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45A914-5817-4A03-8B81-369EB1784E0B}"/>
              </a:ext>
            </a:extLst>
          </p:cNvPr>
          <p:cNvSpPr txBox="1"/>
          <p:nvPr/>
        </p:nvSpPr>
        <p:spPr>
          <a:xfrm>
            <a:off x="4069183" y="316063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EAYT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메시지를 이용하여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MES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의 현장비에 대한 정보를 획득한다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9777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ONLINE NORMAL SCENARIO (1/2)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04A320-81EE-45C7-985B-989EC97F86F2}"/>
              </a:ext>
            </a:extLst>
          </p:cNvPr>
          <p:cNvSpPr txBox="1"/>
          <p:nvPr/>
        </p:nvSpPr>
        <p:spPr>
          <a:xfrm>
            <a:off x="4240633" y="1281382"/>
            <a:ext cx="48397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600" dirty="0">
                <a:solidFill>
                  <a:srgbClr val="0000FF"/>
                </a:solidFill>
              </a:rPr>
              <a:t>일반 시나리오</a:t>
            </a:r>
            <a:r>
              <a:rPr lang="en-US" altLang="ko-KR" sz="1600" dirty="0">
                <a:solidFill>
                  <a:srgbClr val="0000FF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/>
              <a:t>제품</a:t>
            </a:r>
            <a:r>
              <a:rPr lang="en-US" altLang="ko-KR" sz="1200" dirty="0"/>
              <a:t>(</a:t>
            </a:r>
            <a:r>
              <a:rPr lang="ko-KR" altLang="en-US" sz="1200" dirty="0" err="1"/>
              <a:t>스테이터</a:t>
            </a:r>
            <a:r>
              <a:rPr lang="en-US" altLang="ko-KR" sz="1200" dirty="0"/>
              <a:t>) </a:t>
            </a:r>
            <a:r>
              <a:rPr lang="ko-KR" altLang="en-US" sz="1200" dirty="0"/>
              <a:t>투입에서 배출까지의 일반상황에 대한 시나리오</a:t>
            </a:r>
            <a:endParaRPr lang="en-US" altLang="ko-KR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6AA12C-61B3-419E-9009-2B21A9D291CB}"/>
              </a:ext>
            </a:extLst>
          </p:cNvPr>
          <p:cNvSpPr txBox="1"/>
          <p:nvPr/>
        </p:nvSpPr>
        <p:spPr>
          <a:xfrm>
            <a:off x="4069183" y="290171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Link Test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로 연결여부 확인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상시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약 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10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초 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~ 30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초 간격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, GMES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설정에 따라 달라짐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)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033666A-F869-4E59-B331-6F4F29012756}"/>
              </a:ext>
            </a:extLst>
          </p:cNvPr>
          <p:cNvSpPr/>
          <p:nvPr/>
        </p:nvSpPr>
        <p:spPr>
          <a:xfrm>
            <a:off x="804661" y="5616553"/>
            <a:ext cx="3076575" cy="562057"/>
          </a:xfrm>
          <a:prstGeom prst="roundRect">
            <a:avLst/>
          </a:prstGeom>
          <a:solidFill>
            <a:schemeClr val="bg1">
              <a:lumMod val="65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다음장에 계속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D2ACEC9-DC77-406F-8020-C224FCE67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61" y="2082869"/>
            <a:ext cx="3117396" cy="339518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EF653C1-9F63-48FF-8284-F0A6F43079C2}"/>
              </a:ext>
            </a:extLst>
          </p:cNvPr>
          <p:cNvSpPr txBox="1"/>
          <p:nvPr/>
        </p:nvSpPr>
        <p:spPr>
          <a:xfrm>
            <a:off x="4069183" y="3832113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투입 보고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바코드로 읽은 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LOT ID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보고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)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D2893F-16D2-4D47-A423-DA5431108566}"/>
              </a:ext>
            </a:extLst>
          </p:cNvPr>
          <p:cNvSpPr txBox="1"/>
          <p:nvPr/>
        </p:nvSpPr>
        <p:spPr>
          <a:xfrm>
            <a:off x="4069183" y="4934740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EPDS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통해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LOT ID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 해당되는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Product Data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수신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    - </a:t>
            </a:r>
            <a:r>
              <a:rPr lang="ko-KR" altLang="en-US" sz="1200" b="1" dirty="0">
                <a:solidFill>
                  <a:srgbClr val="0000FF"/>
                </a:solidFill>
                <a:latin typeface="맑은 고딕" panose="020F0502020204030204"/>
                <a:ea typeface="맑은 고딕" panose="020B0503020000020004" pitchFamily="50" charset="-127"/>
              </a:rPr>
              <a:t>이 때</a:t>
            </a:r>
            <a:r>
              <a:rPr lang="en-US" altLang="ko-KR" sz="1200" b="1" dirty="0">
                <a:solidFill>
                  <a:srgbClr val="0000FF"/>
                </a:solidFill>
                <a:latin typeface="맑은 고딕" panose="020F0502020204030204"/>
                <a:ea typeface="맑은 고딕" panose="020B0503020000020004" pitchFamily="50" charset="-127"/>
              </a:rPr>
              <a:t>, 1</a:t>
            </a:r>
            <a:r>
              <a:rPr lang="ko-KR" altLang="en-US" sz="1200" b="1" dirty="0" err="1">
                <a:solidFill>
                  <a:srgbClr val="0000FF"/>
                </a:solidFill>
                <a:latin typeface="맑은 고딕" panose="020F0502020204030204"/>
                <a:ea typeface="맑은 고딕" panose="020B0503020000020004" pitchFamily="50" charset="-127"/>
              </a:rPr>
              <a:t>차용접기</a:t>
            </a:r>
            <a:r>
              <a:rPr lang="ko-KR" altLang="en-US" sz="1200" b="1" dirty="0">
                <a:solidFill>
                  <a:srgbClr val="0000FF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rgbClr val="0000FF"/>
                </a:solidFill>
                <a:latin typeface="맑은 고딕" panose="020F0502020204030204"/>
                <a:ea typeface="맑은 고딕" panose="020B0503020000020004" pitchFamily="50" charset="-127"/>
              </a:rPr>
              <a:t>EQPID</a:t>
            </a:r>
            <a:r>
              <a:rPr lang="ko-KR" altLang="en-US" sz="1200" b="1" dirty="0">
                <a:solidFill>
                  <a:srgbClr val="0000FF"/>
                </a:solidFill>
                <a:latin typeface="맑은 고딕" panose="020F0502020204030204"/>
                <a:ea typeface="맑은 고딕" panose="020B0503020000020004" pitchFamily="50" charset="-127"/>
              </a:rPr>
              <a:t>와 검사결과 수신</a:t>
            </a:r>
            <a:endParaRPr lang="en-US" altLang="ko-KR" sz="1200" b="1" dirty="0">
              <a:solidFill>
                <a:srgbClr val="0000FF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 dirty="0">
                <a:solidFill>
                  <a:srgbClr val="0000FF"/>
                </a:solidFill>
                <a:latin typeface="맑은 고딕" panose="020F0502020204030204"/>
                <a:ea typeface="맑은 고딕" panose="020B0503020000020004" pitchFamily="50" charset="-127"/>
              </a:rPr>
              <a:t>       SUBITEM</a:t>
            </a:r>
            <a:r>
              <a:rPr lang="ko-KR" altLang="en-US" sz="1200" b="1" dirty="0">
                <a:solidFill>
                  <a:srgbClr val="0000FF"/>
                </a:solidFill>
                <a:latin typeface="맑은 고딕" panose="020F0502020204030204"/>
                <a:ea typeface="맑은 고딕" panose="020B0503020000020004" pitchFamily="50" charset="-127"/>
              </a:rPr>
              <a:t>에 </a:t>
            </a:r>
            <a:r>
              <a:rPr lang="en-US" altLang="ko-KR" sz="1200" b="1" dirty="0">
                <a:solidFill>
                  <a:srgbClr val="0000FF"/>
                </a:solidFill>
                <a:latin typeface="맑은 고딕" panose="020F0502020204030204"/>
                <a:ea typeface="맑은 고딕" panose="020B0503020000020004" pitchFamily="50" charset="-127"/>
              </a:rPr>
              <a:t>“WELD_EQPID”,  1</a:t>
            </a:r>
            <a:r>
              <a:rPr lang="ko-KR" altLang="en-US" sz="1200" b="1" dirty="0" err="1">
                <a:solidFill>
                  <a:srgbClr val="0000FF"/>
                </a:solidFill>
                <a:latin typeface="맑은 고딕" panose="020F0502020204030204"/>
                <a:ea typeface="맑은 고딕" panose="020B0503020000020004" pitchFamily="50" charset="-127"/>
              </a:rPr>
              <a:t>차용접기</a:t>
            </a:r>
            <a:r>
              <a:rPr lang="ko-KR" altLang="en-US" sz="1200" b="1" dirty="0">
                <a:solidFill>
                  <a:srgbClr val="0000FF"/>
                </a:solidFill>
                <a:latin typeface="맑은 고딕" panose="020F0502020204030204"/>
                <a:ea typeface="맑은 고딕" panose="020B0503020000020004" pitchFamily="50" charset="-127"/>
              </a:rPr>
              <a:t> 판정 결과 </a:t>
            </a:r>
            <a:r>
              <a:rPr lang="en-US" altLang="ko-KR" sz="1200" b="1" dirty="0">
                <a:solidFill>
                  <a:srgbClr val="0000FF"/>
                </a:solidFill>
                <a:latin typeface="맑은 고딕" panose="020F0502020204030204"/>
                <a:ea typeface="맑은 고딕" panose="020B0503020000020004" pitchFamily="50" charset="-127"/>
              </a:rPr>
              <a:t>“01_1-2”, “01_3-4”, … </a:t>
            </a:r>
            <a:r>
              <a:rPr lang="ko-KR" altLang="en-US" sz="1200" b="1" dirty="0">
                <a:solidFill>
                  <a:srgbClr val="0000FF"/>
                </a:solidFill>
                <a:latin typeface="맑은 고딕" panose="020F0502020204030204"/>
                <a:ea typeface="맑은 고딕" panose="020B0503020000020004" pitchFamily="50" charset="-127"/>
              </a:rPr>
              <a:t>추가</a:t>
            </a:r>
            <a:endParaRPr lang="en-US" altLang="ko-KR" sz="1200" b="1" dirty="0">
              <a:solidFill>
                <a:srgbClr val="0000FF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 dirty="0">
                <a:solidFill>
                  <a:srgbClr val="0000FF"/>
                </a:solidFill>
                <a:latin typeface="맑은 고딕" panose="020F0502020204030204"/>
                <a:ea typeface="맑은 고딕" panose="020B0503020000020004" pitchFamily="50" charset="-127"/>
              </a:rPr>
              <a:t>       (</a:t>
            </a:r>
            <a:r>
              <a:rPr lang="ko-KR" altLang="en-US" sz="1200" b="1" dirty="0">
                <a:solidFill>
                  <a:srgbClr val="0000FF"/>
                </a:solidFill>
                <a:latin typeface="맑은 고딕" panose="020F0502020204030204"/>
                <a:ea typeface="맑은 고딕" panose="020B0503020000020004" pitchFamily="50" charset="-127"/>
              </a:rPr>
              <a:t>상세 내용은 </a:t>
            </a:r>
            <a:r>
              <a:rPr lang="en-US" altLang="ko-KR" sz="1200" b="1" dirty="0">
                <a:solidFill>
                  <a:srgbClr val="0000FF"/>
                </a:solidFill>
                <a:latin typeface="맑은 고딕" panose="020F0502020204030204"/>
                <a:ea typeface="맑은 고딕" panose="020B0503020000020004" pitchFamily="50" charset="-127"/>
              </a:rPr>
              <a:t>02 “GMES – Message Structure” </a:t>
            </a:r>
            <a:r>
              <a:rPr lang="ko-KR" altLang="en-US" sz="1200" b="1" dirty="0">
                <a:solidFill>
                  <a:srgbClr val="0000FF"/>
                </a:solidFill>
                <a:latin typeface="맑은 고딕" panose="020F0502020204030204"/>
                <a:ea typeface="맑은 고딕" panose="020B0503020000020004" pitchFamily="50" charset="-127"/>
              </a:rPr>
              <a:t>참고</a:t>
            </a:r>
            <a:r>
              <a:rPr lang="en-US" altLang="ko-KR" sz="1200" b="1" dirty="0">
                <a:solidFill>
                  <a:srgbClr val="0000FF"/>
                </a:solidFill>
                <a:latin typeface="맑은 고딕" panose="020F0502020204030204"/>
                <a:ea typeface="맑은 고딕" panose="020B050302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72450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ONLINE NORMAL SCENARIO (2/2)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6AA12C-61B3-419E-9009-2B21A9D291CB}"/>
              </a:ext>
            </a:extLst>
          </p:cNvPr>
          <p:cNvSpPr txBox="1"/>
          <p:nvPr/>
        </p:nvSpPr>
        <p:spPr>
          <a:xfrm>
            <a:off x="4069183" y="3458607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제품 정보 관련 생성하지 않으므로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EAPD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생략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F653C1-9F63-48FF-8284-F0A6F43079C2}"/>
              </a:ext>
            </a:extLst>
          </p:cNvPr>
          <p:cNvSpPr txBox="1"/>
          <p:nvPr/>
        </p:nvSpPr>
        <p:spPr>
          <a:xfrm>
            <a:off x="4069183" y="416028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b="1" dirty="0">
                <a:solidFill>
                  <a:srgbClr val="0000FF"/>
                </a:solidFill>
                <a:latin typeface="맑은 고딕" panose="020F0502020204030204"/>
                <a:ea typeface="맑은 고딕" panose="020B0503020000020004" pitchFamily="50" charset="-127"/>
              </a:rPr>
              <a:t>배출보고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2C9E6AF-A51A-4F0D-97C7-7599FE754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282" y="1870501"/>
            <a:ext cx="3065954" cy="3868452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F01B81C-BB27-48EB-920D-2AF57981DD62}"/>
              </a:ext>
            </a:extLst>
          </p:cNvPr>
          <p:cNvSpPr/>
          <p:nvPr/>
        </p:nvSpPr>
        <p:spPr>
          <a:xfrm>
            <a:off x="827477" y="2324100"/>
            <a:ext cx="3076575" cy="590550"/>
          </a:xfrm>
          <a:prstGeom prst="roundRect">
            <a:avLst/>
          </a:prstGeom>
          <a:solidFill>
            <a:schemeClr val="bg1">
              <a:lumMod val="65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생략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81DF45-DFC8-4164-A995-752BCD67682F}"/>
              </a:ext>
            </a:extLst>
          </p:cNvPr>
          <p:cNvSpPr txBox="1"/>
          <p:nvPr/>
        </p:nvSpPr>
        <p:spPr>
          <a:xfrm>
            <a:off x="4069183" y="2384684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장비의 상태는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PLC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에서 제어하므로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EESR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동작은 생략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DCC7EFF-58BC-4B36-89D8-8021073F52BA}"/>
              </a:ext>
            </a:extLst>
          </p:cNvPr>
          <p:cNvSpPr/>
          <p:nvPr/>
        </p:nvSpPr>
        <p:spPr>
          <a:xfrm>
            <a:off x="827477" y="3410982"/>
            <a:ext cx="3076575" cy="590550"/>
          </a:xfrm>
          <a:prstGeom prst="roundRect">
            <a:avLst/>
          </a:prstGeom>
          <a:solidFill>
            <a:schemeClr val="bg1">
              <a:lumMod val="65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생략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48DEC89-BD83-4E77-A8DB-7D02AD34BC7D}"/>
              </a:ext>
            </a:extLst>
          </p:cNvPr>
          <p:cNvSpPr/>
          <p:nvPr/>
        </p:nvSpPr>
        <p:spPr>
          <a:xfrm>
            <a:off x="827477" y="4777171"/>
            <a:ext cx="3076575" cy="590550"/>
          </a:xfrm>
          <a:prstGeom prst="roundRect">
            <a:avLst/>
          </a:prstGeom>
          <a:solidFill>
            <a:schemeClr val="bg1">
              <a:lumMod val="65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생략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25CC70-5098-4967-9633-80D69D77BD4D}"/>
              </a:ext>
            </a:extLst>
          </p:cNvPr>
          <p:cNvSpPr txBox="1"/>
          <p:nvPr/>
        </p:nvSpPr>
        <p:spPr>
          <a:xfrm>
            <a:off x="4069183" y="4875855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장비의 상태는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PLC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에서 제어하므로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EESR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동작은 생략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9491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CEBBF3D-F8E4-4E56-AB78-E8427C2F4B6F}"/>
              </a:ext>
            </a:extLst>
          </p:cNvPr>
          <p:cNvSpPr/>
          <p:nvPr/>
        </p:nvSpPr>
        <p:spPr>
          <a:xfrm>
            <a:off x="0" y="3879395"/>
            <a:ext cx="10734675" cy="133077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feld 6">
            <a:extLst>
              <a:ext uri="{FF2B5EF4-FFF2-40B4-BE49-F238E27FC236}">
                <a16:creationId xmlns:a16="http://schemas.microsoft.com/office/drawing/2014/main" id="{1B8C4328-CDA4-444F-8733-13141F4F244A}"/>
              </a:ext>
            </a:extLst>
          </p:cNvPr>
          <p:cNvSpPr txBox="1"/>
          <p:nvPr/>
        </p:nvSpPr>
        <p:spPr>
          <a:xfrm>
            <a:off x="504825" y="2776764"/>
            <a:ext cx="14388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pPr algn="r"/>
            <a:r>
              <a:rPr lang="de-DE" sz="86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6" name="Textfeld 6">
            <a:extLst>
              <a:ext uri="{FF2B5EF4-FFF2-40B4-BE49-F238E27FC236}">
                <a16:creationId xmlns:a16="http://schemas.microsoft.com/office/drawing/2014/main" id="{AFBE382C-DF31-481D-9390-4C9B8C903ED3}"/>
              </a:ext>
            </a:extLst>
          </p:cNvPr>
          <p:cNvSpPr txBox="1"/>
          <p:nvPr/>
        </p:nvSpPr>
        <p:spPr>
          <a:xfrm>
            <a:off x="228599" y="3879395"/>
            <a:ext cx="111537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de-DE" sz="4000" b="1" dirty="0">
                <a:solidFill>
                  <a:schemeClr val="bg1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GMES – Message Structure</a:t>
            </a:r>
          </a:p>
        </p:txBody>
      </p:sp>
    </p:spTree>
    <p:extLst>
      <p:ext uri="{BB962C8B-B14F-4D97-AF65-F5344CB8AC3E}">
        <p14:creationId xmlns:p14="http://schemas.microsoft.com/office/powerpoint/2010/main" val="1513102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EPDS : Equipment Product Data Send (1/2)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Message Structure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0F69E81-6D2A-4D6E-982C-7280469DD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24" y="980671"/>
            <a:ext cx="5553850" cy="579200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5C6C99A-F655-44E4-BDDD-2040A4593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822" y="1004549"/>
            <a:ext cx="5391902" cy="484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606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EPDS : Equipment Product Data Send (2/2)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Message Structure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DE4AC2-2313-4929-8A5D-A7981E923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645" y="1856330"/>
            <a:ext cx="5439534" cy="448690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600F6C9-15E7-4CA6-94E5-6C7EC9E4C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43682"/>
            <a:ext cx="5477639" cy="234347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808A599-D5DC-4FBE-A321-8D1D1FB848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595856"/>
            <a:ext cx="5449060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107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4" y="514769"/>
            <a:ext cx="9781676" cy="562057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EPDS : Equipment Product Data Send – Sample(1/3)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2331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Message Structure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8AF973-4016-4337-BF4E-7064691F5A39}"/>
              </a:ext>
            </a:extLst>
          </p:cNvPr>
          <p:cNvSpPr txBox="1"/>
          <p:nvPr/>
        </p:nvSpPr>
        <p:spPr>
          <a:xfrm>
            <a:off x="4212058" y="123315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dirty="0">
                <a:latin typeface="맑은 고딕" panose="020F0502020204030204"/>
                <a:ea typeface="맑은 고딕" panose="020B0503020000020004" pitchFamily="50" charset="-127"/>
              </a:rPr>
              <a:t>본 샘플은 </a:t>
            </a:r>
            <a:r>
              <a:rPr lang="en-US" altLang="ko-KR" sz="1200" dirty="0">
                <a:latin typeface="맑은 고딕" panose="020F0502020204030204"/>
                <a:ea typeface="맑은 고딕" panose="020B0503020000020004" pitchFamily="50" charset="-127"/>
              </a:rPr>
              <a:t>1</a:t>
            </a:r>
            <a:r>
              <a:rPr lang="ko-KR" altLang="en-US" sz="1200" dirty="0" err="1">
                <a:latin typeface="맑은 고딕" panose="020F0502020204030204"/>
                <a:ea typeface="맑은 고딕" panose="020B0503020000020004" pitchFamily="50" charset="-127"/>
              </a:rPr>
              <a:t>차용접기</a:t>
            </a:r>
            <a:r>
              <a:rPr lang="ko-KR" altLang="en-US" sz="1200" dirty="0">
                <a:latin typeface="맑은 고딕" panose="020F0502020204030204"/>
                <a:ea typeface="맑은 고딕" panose="020B0503020000020004" pitchFamily="50" charset="-127"/>
              </a:rPr>
              <a:t> 데이터를 가지고 수정한 것으로</a:t>
            </a:r>
            <a:r>
              <a:rPr lang="en-US" altLang="ko-KR" sz="1200" dirty="0">
                <a:latin typeface="맑은 고딕" panose="020F0502020204030204"/>
                <a:ea typeface="맑은 고딕" panose="020B0503020000020004" pitchFamily="50" charset="-127"/>
              </a:rPr>
              <a:t>, </a:t>
            </a:r>
            <a:r>
              <a:rPr lang="ko-KR" altLang="en-US" sz="1200" dirty="0" err="1">
                <a:latin typeface="맑은 고딕" panose="020F0502020204030204"/>
                <a:ea typeface="맑은 고딕" panose="020B0503020000020004" pitchFamily="50" charset="-127"/>
              </a:rPr>
              <a:t>살제</a:t>
            </a:r>
            <a:r>
              <a:rPr lang="ko-KR" altLang="en-US" sz="1200" dirty="0">
                <a:latin typeface="맑은 고딕" panose="020F0502020204030204"/>
                <a:ea typeface="맑은 고딕" panose="020B0503020000020004" pitchFamily="50" charset="-127"/>
              </a:rPr>
              <a:t> 장비 내용과 다를 수 있습니다</a:t>
            </a:r>
            <a:r>
              <a:rPr lang="en-US" altLang="ko-KR" sz="1200" dirty="0">
                <a:latin typeface="맑은 고딕" panose="020F0502020204030204"/>
                <a:ea typeface="맑은 고딕" panose="020B0503020000020004" pitchFamily="50" charset="-127"/>
              </a:rPr>
              <a:t>.(</a:t>
            </a:r>
            <a:r>
              <a:rPr lang="ko-KR" altLang="en-US" sz="1200" dirty="0">
                <a:latin typeface="맑은 고딕" panose="020F0502020204030204"/>
                <a:ea typeface="맑은 고딕" panose="020B0503020000020004" pitchFamily="50" charset="-127"/>
              </a:rPr>
              <a:t>샘플로만 참고 바랍니다</a:t>
            </a:r>
            <a:r>
              <a:rPr lang="en-US" altLang="ko-KR" sz="1200" dirty="0">
                <a:latin typeface="맑은 고딕" panose="020F0502020204030204"/>
                <a:ea typeface="맑은 고딕" panose="020B0503020000020004" pitchFamily="50" charset="-127"/>
              </a:rPr>
              <a:t>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6B4955-7338-4EC6-B650-15D8926EEF4E}"/>
              </a:ext>
            </a:extLst>
          </p:cNvPr>
          <p:cNvSpPr txBox="1"/>
          <p:nvPr/>
        </p:nvSpPr>
        <p:spPr>
          <a:xfrm>
            <a:off x="6147221" y="2519486"/>
            <a:ext cx="38161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“TID” ~ “MODEL” : (</a:t>
            </a:r>
            <a:r>
              <a:rPr lang="ko-KR" altLang="en-US" dirty="0"/>
              <a:t>변경사항 없음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/>
              <a:t>기존 </a:t>
            </a:r>
            <a:r>
              <a:rPr lang="en-US" altLang="ko-KR" dirty="0"/>
              <a:t>1</a:t>
            </a:r>
            <a:r>
              <a:rPr lang="ko-KR" altLang="en-US" dirty="0" err="1"/>
              <a:t>차용접기와</a:t>
            </a:r>
            <a:r>
              <a:rPr lang="ko-KR" altLang="en-US" dirty="0"/>
              <a:t> 동일한 형태 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E2D4F53-FE86-4681-9120-DD83CD221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35" y="2348036"/>
            <a:ext cx="5220429" cy="309605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17298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4" y="514769"/>
            <a:ext cx="9781676" cy="562057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EPDS : Equipment Product Data Send – Sample(2/3)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2331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Message Structure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8AF973-4016-4337-BF4E-7064691F5A39}"/>
              </a:ext>
            </a:extLst>
          </p:cNvPr>
          <p:cNvSpPr txBox="1"/>
          <p:nvPr/>
        </p:nvSpPr>
        <p:spPr>
          <a:xfrm>
            <a:off x="4212058" y="123315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dirty="0">
                <a:latin typeface="맑은 고딕" panose="020F0502020204030204"/>
                <a:ea typeface="맑은 고딕" panose="020B0503020000020004" pitchFamily="50" charset="-127"/>
              </a:rPr>
              <a:t>본 샘플은 </a:t>
            </a:r>
            <a:r>
              <a:rPr lang="en-US" altLang="ko-KR" sz="1200" dirty="0">
                <a:latin typeface="맑은 고딕" panose="020F0502020204030204"/>
                <a:ea typeface="맑은 고딕" panose="020B0503020000020004" pitchFamily="50" charset="-127"/>
              </a:rPr>
              <a:t>1</a:t>
            </a:r>
            <a:r>
              <a:rPr lang="ko-KR" altLang="en-US" sz="1200" dirty="0" err="1">
                <a:latin typeface="맑은 고딕" panose="020F0502020204030204"/>
                <a:ea typeface="맑은 고딕" panose="020B0503020000020004" pitchFamily="50" charset="-127"/>
              </a:rPr>
              <a:t>차용접기</a:t>
            </a:r>
            <a:r>
              <a:rPr lang="ko-KR" altLang="en-US" sz="1200" dirty="0">
                <a:latin typeface="맑은 고딕" panose="020F0502020204030204"/>
                <a:ea typeface="맑은 고딕" panose="020B0503020000020004" pitchFamily="50" charset="-127"/>
              </a:rPr>
              <a:t> 데이터를 가지고 수정한 것으로</a:t>
            </a:r>
            <a:r>
              <a:rPr lang="en-US" altLang="ko-KR" sz="1200" dirty="0">
                <a:latin typeface="맑은 고딕" panose="020F0502020204030204"/>
                <a:ea typeface="맑은 고딕" panose="020B0503020000020004" pitchFamily="50" charset="-127"/>
              </a:rPr>
              <a:t>, </a:t>
            </a:r>
            <a:r>
              <a:rPr lang="ko-KR" altLang="en-US" sz="1200" dirty="0" err="1">
                <a:latin typeface="맑은 고딕" panose="020F0502020204030204"/>
                <a:ea typeface="맑은 고딕" panose="020B0503020000020004" pitchFamily="50" charset="-127"/>
              </a:rPr>
              <a:t>살제</a:t>
            </a:r>
            <a:r>
              <a:rPr lang="ko-KR" altLang="en-US" sz="1200" dirty="0">
                <a:latin typeface="맑은 고딕" panose="020F0502020204030204"/>
                <a:ea typeface="맑은 고딕" panose="020B0503020000020004" pitchFamily="50" charset="-127"/>
              </a:rPr>
              <a:t> 장비 내용과 다를 수 있습니다</a:t>
            </a:r>
            <a:r>
              <a:rPr lang="en-US" altLang="ko-KR" sz="1200" dirty="0">
                <a:latin typeface="맑은 고딕" panose="020F0502020204030204"/>
                <a:ea typeface="맑은 고딕" panose="020B0503020000020004" pitchFamily="50" charset="-127"/>
              </a:rPr>
              <a:t>.(</a:t>
            </a:r>
            <a:r>
              <a:rPr lang="ko-KR" altLang="en-US" sz="1200" dirty="0">
                <a:latin typeface="맑은 고딕" panose="020F0502020204030204"/>
                <a:ea typeface="맑은 고딕" panose="020B0503020000020004" pitchFamily="50" charset="-127"/>
              </a:rPr>
              <a:t>샘플로만 참고 바랍니다</a:t>
            </a:r>
            <a:r>
              <a:rPr lang="en-US" altLang="ko-KR" sz="1200" dirty="0">
                <a:latin typeface="맑은 고딕" panose="020F0502020204030204"/>
                <a:ea typeface="맑은 고딕" panose="020B0503020000020004" pitchFamily="50" charset="-127"/>
              </a:rPr>
              <a:t>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6B4955-7338-4EC6-B650-15D8926EEF4E}"/>
              </a:ext>
            </a:extLst>
          </p:cNvPr>
          <p:cNvSpPr txBox="1"/>
          <p:nvPr/>
        </p:nvSpPr>
        <p:spPr>
          <a:xfrm>
            <a:off x="5352003" y="2090861"/>
            <a:ext cx="59275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“SUBITEM_LIST”</a:t>
            </a:r>
            <a:r>
              <a:rPr lang="ko-KR" altLang="en-US" dirty="0"/>
              <a:t>의 </a:t>
            </a:r>
            <a:endParaRPr lang="en-US" altLang="ko-KR" dirty="0"/>
          </a:p>
          <a:p>
            <a:r>
              <a:rPr lang="en-US" altLang="ko-KR" dirty="0"/>
              <a:t>  “PRODCODE” ~ “KALS_LS_SN_TYPE” : (</a:t>
            </a:r>
            <a:r>
              <a:rPr lang="ko-KR" altLang="en-US" dirty="0"/>
              <a:t>변경사항 없음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기존 </a:t>
            </a:r>
            <a:r>
              <a:rPr lang="en-US" altLang="ko-KR" dirty="0"/>
              <a:t>1</a:t>
            </a:r>
            <a:r>
              <a:rPr lang="ko-KR" altLang="en-US" dirty="0" err="1"/>
              <a:t>차용접기와</a:t>
            </a:r>
            <a:r>
              <a:rPr lang="ko-KR" altLang="en-US" dirty="0"/>
              <a:t> 동일한 형태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997CF83-2CA4-4E5B-977D-F6DF1C7ED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299" y="1851149"/>
            <a:ext cx="4082143" cy="47625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92868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4" y="514769"/>
            <a:ext cx="9781676" cy="562057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EPDS : Equipment Product Data Send – Sample(3/3)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2331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Message Structure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8AF973-4016-4337-BF4E-7064691F5A39}"/>
              </a:ext>
            </a:extLst>
          </p:cNvPr>
          <p:cNvSpPr txBox="1"/>
          <p:nvPr/>
        </p:nvSpPr>
        <p:spPr>
          <a:xfrm>
            <a:off x="4212058" y="123315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dirty="0">
                <a:latin typeface="맑은 고딕" panose="020F0502020204030204"/>
                <a:ea typeface="맑은 고딕" panose="020B0503020000020004" pitchFamily="50" charset="-127"/>
              </a:rPr>
              <a:t>본 샘플은 </a:t>
            </a:r>
            <a:r>
              <a:rPr lang="en-US" altLang="ko-KR" sz="1200" dirty="0">
                <a:latin typeface="맑은 고딕" panose="020F0502020204030204"/>
                <a:ea typeface="맑은 고딕" panose="020B0503020000020004" pitchFamily="50" charset="-127"/>
              </a:rPr>
              <a:t>1</a:t>
            </a:r>
            <a:r>
              <a:rPr lang="ko-KR" altLang="en-US" sz="1200" dirty="0" err="1">
                <a:latin typeface="맑은 고딕" panose="020F0502020204030204"/>
                <a:ea typeface="맑은 고딕" panose="020B0503020000020004" pitchFamily="50" charset="-127"/>
              </a:rPr>
              <a:t>차용접기</a:t>
            </a:r>
            <a:r>
              <a:rPr lang="ko-KR" altLang="en-US" sz="1200" dirty="0">
                <a:latin typeface="맑은 고딕" panose="020F0502020204030204"/>
                <a:ea typeface="맑은 고딕" panose="020B0503020000020004" pitchFamily="50" charset="-127"/>
              </a:rPr>
              <a:t> 데이터를 가지고 수정한 것으로</a:t>
            </a:r>
            <a:r>
              <a:rPr lang="en-US" altLang="ko-KR" sz="1200" dirty="0">
                <a:latin typeface="맑은 고딕" panose="020F0502020204030204"/>
                <a:ea typeface="맑은 고딕" panose="020B0503020000020004" pitchFamily="50" charset="-127"/>
              </a:rPr>
              <a:t>, </a:t>
            </a:r>
            <a:r>
              <a:rPr lang="ko-KR" altLang="en-US" sz="1200" dirty="0" err="1">
                <a:latin typeface="맑은 고딕" panose="020F0502020204030204"/>
                <a:ea typeface="맑은 고딕" panose="020B0503020000020004" pitchFamily="50" charset="-127"/>
              </a:rPr>
              <a:t>살제</a:t>
            </a:r>
            <a:r>
              <a:rPr lang="ko-KR" altLang="en-US" sz="1200" dirty="0">
                <a:latin typeface="맑은 고딕" panose="020F0502020204030204"/>
                <a:ea typeface="맑은 고딕" panose="020B0503020000020004" pitchFamily="50" charset="-127"/>
              </a:rPr>
              <a:t> 장비 내용과 다를 수 있습니다</a:t>
            </a:r>
            <a:r>
              <a:rPr lang="en-US" altLang="ko-KR" sz="1200" dirty="0">
                <a:latin typeface="맑은 고딕" panose="020F0502020204030204"/>
                <a:ea typeface="맑은 고딕" panose="020B0503020000020004" pitchFamily="50" charset="-127"/>
              </a:rPr>
              <a:t>.(</a:t>
            </a:r>
            <a:r>
              <a:rPr lang="ko-KR" altLang="en-US" sz="1200" dirty="0">
                <a:latin typeface="맑은 고딕" panose="020F0502020204030204"/>
                <a:ea typeface="맑은 고딕" panose="020B0503020000020004" pitchFamily="50" charset="-127"/>
              </a:rPr>
              <a:t>샘플로만 참고 바랍니다</a:t>
            </a:r>
            <a:r>
              <a:rPr lang="en-US" altLang="ko-KR" sz="1200" dirty="0">
                <a:latin typeface="맑은 고딕" panose="020F0502020204030204"/>
                <a:ea typeface="맑은 고딕" panose="020B0503020000020004" pitchFamily="50" charset="-127"/>
              </a:rPr>
              <a:t>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6B4955-7338-4EC6-B650-15D8926EEF4E}"/>
              </a:ext>
            </a:extLst>
          </p:cNvPr>
          <p:cNvSpPr txBox="1"/>
          <p:nvPr/>
        </p:nvSpPr>
        <p:spPr>
          <a:xfrm>
            <a:off x="5352003" y="2090861"/>
            <a:ext cx="591219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“SUBITEM_LIST”</a:t>
            </a:r>
            <a:r>
              <a:rPr lang="ko-KR" altLang="en-US" dirty="0"/>
              <a:t> 내 신규 추가 아이템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 </a:t>
            </a:r>
            <a:r>
              <a:rPr lang="en-US" altLang="ko-KR" b="1" dirty="0">
                <a:solidFill>
                  <a:srgbClr val="0000FF"/>
                </a:solidFill>
              </a:rPr>
              <a:t>“WELD_EQPID”</a:t>
            </a:r>
            <a:r>
              <a:rPr lang="en-US" altLang="ko-KR" dirty="0"/>
              <a:t> : </a:t>
            </a:r>
            <a:r>
              <a:rPr lang="ko-KR" altLang="en-US" dirty="0"/>
              <a:t>해당 </a:t>
            </a:r>
            <a:r>
              <a:rPr lang="ko-KR" altLang="en-US" dirty="0" err="1"/>
              <a:t>스테이터의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 err="1"/>
              <a:t>차용접기</a:t>
            </a:r>
            <a:r>
              <a:rPr lang="ko-KR" altLang="en-US" dirty="0"/>
              <a:t> 장비 </a:t>
            </a:r>
            <a:r>
              <a:rPr lang="en-US" altLang="ko-KR" dirty="0"/>
              <a:t>ID</a:t>
            </a:r>
          </a:p>
          <a:p>
            <a:endParaRPr lang="en-US" altLang="ko-KR" dirty="0"/>
          </a:p>
          <a:p>
            <a:r>
              <a:rPr lang="en-US" altLang="ko-KR" dirty="0"/>
              <a:t>- </a:t>
            </a:r>
            <a:r>
              <a:rPr lang="en-US" altLang="ko-KR" b="1" dirty="0">
                <a:solidFill>
                  <a:srgbClr val="0000FF"/>
                </a:solidFill>
              </a:rPr>
              <a:t>“01_1-2” ~ “96_5-6”</a:t>
            </a:r>
            <a:r>
              <a:rPr lang="en-US" altLang="ko-KR" dirty="0"/>
              <a:t> : 1</a:t>
            </a:r>
            <a:r>
              <a:rPr lang="ko-KR" altLang="en-US" dirty="0" err="1"/>
              <a:t>차용접기에서</a:t>
            </a:r>
            <a:r>
              <a:rPr lang="ko-KR" altLang="en-US" dirty="0"/>
              <a:t> 검사한 결과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F454F4-3A61-487D-A877-59A71A3D810A}"/>
              </a:ext>
            </a:extLst>
          </p:cNvPr>
          <p:cNvSpPr txBox="1"/>
          <p:nvPr/>
        </p:nvSpPr>
        <p:spPr>
          <a:xfrm>
            <a:off x="5548562" y="4259058"/>
            <a:ext cx="40094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※ </a:t>
            </a:r>
            <a:r>
              <a:rPr lang="ko-KR" altLang="en-US" dirty="0">
                <a:solidFill>
                  <a:srgbClr val="FF0000"/>
                </a:solidFill>
              </a:rPr>
              <a:t>자세한 샘플 형식은 첨부파일 참고</a:t>
            </a:r>
            <a:br>
              <a:rPr lang="en-US" altLang="ko-KR" dirty="0">
                <a:solidFill>
                  <a:srgbClr val="FF0000"/>
                </a:solidFill>
              </a:rPr>
            </a:br>
            <a:r>
              <a:rPr lang="en-US" altLang="ko-KR" dirty="0">
                <a:solidFill>
                  <a:srgbClr val="FF0000"/>
                </a:solidFill>
              </a:rPr>
              <a:t>(EPDS_Sample_20240109.json)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20EE1FE-1526-40F1-A2BA-810DB36BBE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1005"/>
          <a:stretch/>
        </p:blipFill>
        <p:spPr>
          <a:xfrm>
            <a:off x="264250" y="2090861"/>
            <a:ext cx="4739514" cy="36032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37772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CEBBF3D-F8E4-4E56-AB78-E8427C2F4B6F}"/>
              </a:ext>
            </a:extLst>
          </p:cNvPr>
          <p:cNvSpPr/>
          <p:nvPr/>
        </p:nvSpPr>
        <p:spPr>
          <a:xfrm>
            <a:off x="0" y="3879395"/>
            <a:ext cx="10734675" cy="133077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feld 6">
            <a:extLst>
              <a:ext uri="{FF2B5EF4-FFF2-40B4-BE49-F238E27FC236}">
                <a16:creationId xmlns:a16="http://schemas.microsoft.com/office/drawing/2014/main" id="{1B8C4328-CDA4-444F-8733-13141F4F244A}"/>
              </a:ext>
            </a:extLst>
          </p:cNvPr>
          <p:cNvSpPr txBox="1"/>
          <p:nvPr/>
        </p:nvSpPr>
        <p:spPr>
          <a:xfrm>
            <a:off x="504825" y="2776764"/>
            <a:ext cx="14388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pPr algn="r"/>
            <a:r>
              <a:rPr lang="de-DE" sz="86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6" name="Textfeld 6">
            <a:extLst>
              <a:ext uri="{FF2B5EF4-FFF2-40B4-BE49-F238E27FC236}">
                <a16:creationId xmlns:a16="http://schemas.microsoft.com/office/drawing/2014/main" id="{AFBE382C-DF31-481D-9390-4C9B8C903ED3}"/>
              </a:ext>
            </a:extLst>
          </p:cNvPr>
          <p:cNvSpPr txBox="1"/>
          <p:nvPr/>
        </p:nvSpPr>
        <p:spPr>
          <a:xfrm>
            <a:off x="228599" y="3879395"/>
            <a:ext cx="111537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de-DE" sz="4000" b="1" dirty="0">
                <a:solidFill>
                  <a:schemeClr val="bg1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GMES – Communication Scenario </a:t>
            </a:r>
            <a:r>
              <a:rPr lang="ko-KR" altLang="en-US" sz="4000" b="1" dirty="0">
                <a:solidFill>
                  <a:schemeClr val="bg1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상세</a:t>
            </a:r>
            <a:endParaRPr lang="de-DE" sz="4000" b="1" dirty="0">
              <a:solidFill>
                <a:schemeClr val="bg1"/>
              </a:solidFill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57175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직사각형 63">
            <a:extLst>
              <a:ext uri="{FF2B5EF4-FFF2-40B4-BE49-F238E27FC236}">
                <a16:creationId xmlns:a16="http://schemas.microsoft.com/office/drawing/2014/main" id="{E6692DFB-C252-4720-82CF-D7D05363F5FF}"/>
              </a:ext>
            </a:extLst>
          </p:cNvPr>
          <p:cNvSpPr/>
          <p:nvPr/>
        </p:nvSpPr>
        <p:spPr>
          <a:xfrm>
            <a:off x="7927380" y="3592213"/>
            <a:ext cx="341179" cy="32861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E18FC614-4DED-4866-BAB8-E0213F0A045D}"/>
              </a:ext>
            </a:extLst>
          </p:cNvPr>
          <p:cNvSpPr/>
          <p:nvPr/>
        </p:nvSpPr>
        <p:spPr>
          <a:xfrm>
            <a:off x="7927380" y="4771225"/>
            <a:ext cx="341179" cy="32861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77C7EAF5-5866-47CA-9AA3-469EB17484B9}"/>
              </a:ext>
            </a:extLst>
          </p:cNvPr>
          <p:cNvSpPr/>
          <p:nvPr/>
        </p:nvSpPr>
        <p:spPr>
          <a:xfrm>
            <a:off x="7927380" y="2476785"/>
            <a:ext cx="341179" cy="32861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D2D89B6B-AF56-4067-AE44-E2D25CE92A51}"/>
              </a:ext>
            </a:extLst>
          </p:cNvPr>
          <p:cNvSpPr/>
          <p:nvPr/>
        </p:nvSpPr>
        <p:spPr>
          <a:xfrm>
            <a:off x="5321862" y="3592213"/>
            <a:ext cx="341179" cy="32861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63C78EF9-0603-43A7-BE38-AA70D36463CD}"/>
              </a:ext>
            </a:extLst>
          </p:cNvPr>
          <p:cNvSpPr/>
          <p:nvPr/>
        </p:nvSpPr>
        <p:spPr>
          <a:xfrm>
            <a:off x="5321862" y="4771225"/>
            <a:ext cx="341179" cy="32861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19B2F7FD-A281-47B2-9E10-80D900BFE2DB}"/>
              </a:ext>
            </a:extLst>
          </p:cNvPr>
          <p:cNvSpPr/>
          <p:nvPr/>
        </p:nvSpPr>
        <p:spPr>
          <a:xfrm>
            <a:off x="5321862" y="2476785"/>
            <a:ext cx="341179" cy="32861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4" y="514769"/>
            <a:ext cx="6219326" cy="562057"/>
          </a:xfrm>
        </p:spPr>
        <p:txBody>
          <a:bodyPr>
            <a:normAutofit/>
          </a:bodyPr>
          <a:lstStyle/>
          <a:p>
            <a:r>
              <a:rPr lang="en-US" altLang="ko-KR" dirty="0"/>
              <a:t>LG</a:t>
            </a:r>
            <a:r>
              <a:rPr lang="ko-KR" altLang="en-US" dirty="0" err="1"/>
              <a:t>마그나</a:t>
            </a:r>
            <a:r>
              <a:rPr lang="en-US" altLang="ko-KR" dirty="0"/>
              <a:t>(</a:t>
            </a:r>
            <a:r>
              <a:rPr lang="ko-KR" altLang="en-US" dirty="0"/>
              <a:t>멕시코</a:t>
            </a:r>
            <a:r>
              <a:rPr lang="en-US" altLang="ko-KR" dirty="0"/>
              <a:t>) </a:t>
            </a:r>
            <a:r>
              <a:rPr lang="ko-KR" altLang="en-US" dirty="0"/>
              <a:t>장비 배치도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49" name="AutoShape 6">
            <a:extLst>
              <a:ext uri="{FF2B5EF4-FFF2-40B4-BE49-F238E27FC236}">
                <a16:creationId xmlns:a16="http://schemas.microsoft.com/office/drawing/2014/main" id="{69384C11-4EE6-4BA0-B775-9A529D627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521" y="1275859"/>
            <a:ext cx="3223441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/>
            <a:r>
              <a:rPr lang="ko-KR" altLang="en-US" sz="14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장비 배치도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3628EA6-82E4-4DA5-A8DE-F8F61A0C3250}"/>
              </a:ext>
            </a:extLst>
          </p:cNvPr>
          <p:cNvSpPr/>
          <p:nvPr/>
        </p:nvSpPr>
        <p:spPr>
          <a:xfrm>
            <a:off x="5600700" y="2228850"/>
            <a:ext cx="9715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/>
              <a:t>하부용접기</a:t>
            </a:r>
            <a:endParaRPr lang="en-US" altLang="ko-KR" sz="1100" dirty="0"/>
          </a:p>
          <a:p>
            <a:pPr algn="ctr"/>
            <a:r>
              <a:rPr lang="en-US" altLang="ko-KR" sz="1100" dirty="0"/>
              <a:t>#3</a:t>
            </a:r>
            <a:endParaRPr lang="ko-KR" altLang="en-US" sz="1100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5CB0F5A-42B1-414E-BA92-43D75424560F}"/>
              </a:ext>
            </a:extLst>
          </p:cNvPr>
          <p:cNvSpPr/>
          <p:nvPr/>
        </p:nvSpPr>
        <p:spPr>
          <a:xfrm>
            <a:off x="5600700" y="3352299"/>
            <a:ext cx="9715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/>
              <a:t>하부용접기</a:t>
            </a:r>
            <a:endParaRPr lang="en-US" altLang="ko-KR" sz="1100" dirty="0"/>
          </a:p>
          <a:p>
            <a:pPr algn="ctr"/>
            <a:r>
              <a:rPr lang="en-US" altLang="ko-KR" sz="1100" dirty="0"/>
              <a:t>#2</a:t>
            </a:r>
            <a:endParaRPr lang="ko-KR" altLang="en-US" sz="1100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3E9614C-6F74-497B-8D1F-3BE39B549E70}"/>
              </a:ext>
            </a:extLst>
          </p:cNvPr>
          <p:cNvSpPr/>
          <p:nvPr/>
        </p:nvSpPr>
        <p:spPr>
          <a:xfrm>
            <a:off x="5600700" y="4475748"/>
            <a:ext cx="9715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/>
              <a:t>하부용접기</a:t>
            </a:r>
            <a:endParaRPr lang="en-US" altLang="ko-KR" sz="1100" dirty="0"/>
          </a:p>
          <a:p>
            <a:pPr algn="ctr"/>
            <a:r>
              <a:rPr lang="en-US" altLang="ko-KR" sz="1100" dirty="0"/>
              <a:t>#1</a:t>
            </a:r>
            <a:endParaRPr lang="ko-KR" altLang="en-US" sz="1100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757BFA3-C4AB-4306-A20B-E5F5DDFD987A}"/>
              </a:ext>
            </a:extLst>
          </p:cNvPr>
          <p:cNvSpPr/>
          <p:nvPr/>
        </p:nvSpPr>
        <p:spPr>
          <a:xfrm>
            <a:off x="7019925" y="4475748"/>
            <a:ext cx="9715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/>
              <a:t>하부용접기</a:t>
            </a:r>
            <a:endParaRPr lang="en-US" altLang="ko-KR" sz="1100" dirty="0"/>
          </a:p>
          <a:p>
            <a:pPr algn="ctr"/>
            <a:r>
              <a:rPr lang="en-US" altLang="ko-KR" sz="1100" dirty="0"/>
              <a:t>#4</a:t>
            </a:r>
            <a:endParaRPr lang="ko-KR" altLang="en-US" sz="1100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B0A85EC-552A-4645-9372-935D24D090D5}"/>
              </a:ext>
            </a:extLst>
          </p:cNvPr>
          <p:cNvSpPr/>
          <p:nvPr/>
        </p:nvSpPr>
        <p:spPr>
          <a:xfrm>
            <a:off x="7019925" y="3352299"/>
            <a:ext cx="9715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/>
              <a:t>하부용접기</a:t>
            </a:r>
            <a:endParaRPr lang="en-US" altLang="ko-KR" sz="1100" dirty="0"/>
          </a:p>
          <a:p>
            <a:pPr algn="ctr"/>
            <a:r>
              <a:rPr lang="en-US" altLang="ko-KR" sz="1100" dirty="0"/>
              <a:t>#5</a:t>
            </a:r>
            <a:endParaRPr lang="ko-KR" altLang="en-US" sz="1100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9DAFF5F-78A3-4AF0-B046-79A0761D4318}"/>
              </a:ext>
            </a:extLst>
          </p:cNvPr>
          <p:cNvSpPr/>
          <p:nvPr/>
        </p:nvSpPr>
        <p:spPr>
          <a:xfrm>
            <a:off x="7019925" y="2239461"/>
            <a:ext cx="9715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/>
              <a:t>하부용접기</a:t>
            </a:r>
            <a:endParaRPr lang="en-US" altLang="ko-KR" sz="1100" dirty="0"/>
          </a:p>
          <a:p>
            <a:pPr algn="ctr"/>
            <a:r>
              <a:rPr lang="en-US" altLang="ko-KR" sz="1100" dirty="0"/>
              <a:t>#6</a:t>
            </a:r>
            <a:endParaRPr lang="ko-KR" altLang="en-US" sz="11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6F0D748-3571-4C2B-95F8-FAA1C4E66A8B}"/>
              </a:ext>
            </a:extLst>
          </p:cNvPr>
          <p:cNvSpPr/>
          <p:nvPr/>
        </p:nvSpPr>
        <p:spPr>
          <a:xfrm>
            <a:off x="306521" y="5591176"/>
            <a:ext cx="9847130" cy="32861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A199E6D-F207-4F8F-A769-56A13F126345}"/>
              </a:ext>
            </a:extLst>
          </p:cNvPr>
          <p:cNvSpPr/>
          <p:nvPr/>
        </p:nvSpPr>
        <p:spPr>
          <a:xfrm>
            <a:off x="4982435" y="2250486"/>
            <a:ext cx="341179" cy="33406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D18C6B53-C6DD-414F-B7DD-6887BFE1204C}"/>
              </a:ext>
            </a:extLst>
          </p:cNvPr>
          <p:cNvSpPr/>
          <p:nvPr/>
        </p:nvSpPr>
        <p:spPr>
          <a:xfrm>
            <a:off x="8268561" y="2250486"/>
            <a:ext cx="341179" cy="33406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6F0CE57B-73D6-49B5-A54C-38327D71D9B1}"/>
              </a:ext>
            </a:extLst>
          </p:cNvPr>
          <p:cNvSpPr/>
          <p:nvPr/>
        </p:nvSpPr>
        <p:spPr>
          <a:xfrm>
            <a:off x="1714927" y="5000624"/>
            <a:ext cx="341179" cy="59055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DAADD5F9-443E-404A-8E07-7F42030CF25D}"/>
              </a:ext>
            </a:extLst>
          </p:cNvPr>
          <p:cNvSpPr/>
          <p:nvPr/>
        </p:nvSpPr>
        <p:spPr>
          <a:xfrm>
            <a:off x="1399741" y="4124324"/>
            <a:ext cx="9715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2</a:t>
            </a:r>
            <a:r>
              <a:rPr lang="ko-KR" altLang="en-US" sz="1100" dirty="0"/>
              <a:t>차 </a:t>
            </a:r>
            <a:r>
              <a:rPr lang="ko-KR" altLang="en-US" sz="1100" dirty="0" err="1"/>
              <a:t>용접기</a:t>
            </a:r>
            <a:endParaRPr lang="ko-KR" altLang="en-US" sz="110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A6BEC978-5304-45FD-AD45-AB9437C1E82F}"/>
              </a:ext>
            </a:extLst>
          </p:cNvPr>
          <p:cNvGrpSpPr/>
          <p:nvPr/>
        </p:nvGrpSpPr>
        <p:grpSpPr>
          <a:xfrm>
            <a:off x="10079791" y="2200274"/>
            <a:ext cx="1713262" cy="1167934"/>
            <a:chOff x="8429623" y="216755"/>
            <a:chExt cx="1713262" cy="1167934"/>
          </a:xfrm>
        </p:grpSpPr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A104865B-43B8-4CC3-8B3A-2268EAB659CC}"/>
                </a:ext>
              </a:extLst>
            </p:cNvPr>
            <p:cNvSpPr/>
            <p:nvPr/>
          </p:nvSpPr>
          <p:spPr>
            <a:xfrm>
              <a:off x="8429623" y="262485"/>
              <a:ext cx="314327" cy="28351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7D53B63-231B-4E16-A9A7-9C0CF8B7CAA3}"/>
                </a:ext>
              </a:extLst>
            </p:cNvPr>
            <p:cNvSpPr txBox="1"/>
            <p:nvPr/>
          </p:nvSpPr>
          <p:spPr>
            <a:xfrm>
              <a:off x="8953136" y="216755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err="1"/>
                <a:t>용접기</a:t>
              </a:r>
              <a:endParaRPr lang="ko-KR" altLang="en-US" dirty="0"/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2FF2BDB0-35CB-4C5B-ADAC-924596963EC1}"/>
                </a:ext>
              </a:extLst>
            </p:cNvPr>
            <p:cNvSpPr/>
            <p:nvPr/>
          </p:nvSpPr>
          <p:spPr>
            <a:xfrm>
              <a:off x="8429623" y="643414"/>
              <a:ext cx="314327" cy="283511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014DBF1-D056-47A1-8524-D87BA60D0EFD}"/>
                </a:ext>
              </a:extLst>
            </p:cNvPr>
            <p:cNvSpPr txBox="1"/>
            <p:nvPr/>
          </p:nvSpPr>
          <p:spPr>
            <a:xfrm>
              <a:off x="8953136" y="616056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컨베이어</a:t>
              </a: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B412DB8B-3F61-4DEF-9693-331F8E0D2B09}"/>
                </a:ext>
              </a:extLst>
            </p:cNvPr>
            <p:cNvSpPr/>
            <p:nvPr/>
          </p:nvSpPr>
          <p:spPr>
            <a:xfrm>
              <a:off x="8429623" y="1041583"/>
              <a:ext cx="314327" cy="283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D50838C6-1EEE-4052-94DA-4099DBF52912}"/>
                </a:ext>
              </a:extLst>
            </p:cNvPr>
            <p:cNvSpPr txBox="1"/>
            <p:nvPr/>
          </p:nvSpPr>
          <p:spPr>
            <a:xfrm>
              <a:off x="8953136" y="1015357"/>
              <a:ext cx="11897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신규 추가</a:t>
              </a:r>
            </a:p>
          </p:txBody>
        </p: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30890D01-A238-46D5-A953-136259A176F4}"/>
              </a:ext>
            </a:extLst>
          </p:cNvPr>
          <p:cNvSpPr/>
          <p:nvPr/>
        </p:nvSpPr>
        <p:spPr>
          <a:xfrm>
            <a:off x="3191517" y="4714876"/>
            <a:ext cx="970691" cy="8763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작업자</a:t>
            </a:r>
            <a:endParaRPr lang="en-US" altLang="ko-KR" sz="900" dirty="0"/>
          </a:p>
          <a:p>
            <a:pPr algn="ctr"/>
            <a:r>
              <a:rPr lang="ko-KR" altLang="en-US" sz="900" dirty="0" err="1"/>
              <a:t>재용접</a:t>
            </a:r>
            <a:r>
              <a:rPr lang="ko-KR" altLang="en-US" sz="900" dirty="0"/>
              <a:t> 포인트</a:t>
            </a:r>
            <a:endParaRPr lang="en-US" altLang="ko-KR" sz="900" dirty="0"/>
          </a:p>
          <a:p>
            <a:pPr algn="ctr"/>
            <a:r>
              <a:rPr lang="ko-KR" altLang="en-US" sz="900" dirty="0"/>
              <a:t>선택공간</a:t>
            </a:r>
          </a:p>
        </p:txBody>
      </p:sp>
    </p:spTree>
    <p:extLst>
      <p:ext uri="{BB962C8B-B14F-4D97-AF65-F5344CB8AC3E}">
        <p14:creationId xmlns:p14="http://schemas.microsoft.com/office/powerpoint/2010/main" val="1629975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장비 전체 운영 방안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BF74279-227A-4E3D-B34A-96FE06022A6C}"/>
              </a:ext>
            </a:extLst>
          </p:cNvPr>
          <p:cNvSpPr txBox="1"/>
          <p:nvPr/>
        </p:nvSpPr>
        <p:spPr>
          <a:xfrm>
            <a:off x="612557" y="1402003"/>
            <a:ext cx="11140577" cy="358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ko-KR" sz="1600" b="1" dirty="0">
                <a:solidFill>
                  <a:srgbClr val="2630FA"/>
                </a:solidFill>
              </a:rPr>
              <a:t>GMES, PLC, GMES I/F System</a:t>
            </a:r>
            <a:r>
              <a:rPr lang="ko-KR" altLang="en-US" sz="1600" b="1" dirty="0">
                <a:solidFill>
                  <a:srgbClr val="2630FA"/>
                </a:solidFill>
              </a:rPr>
              <a:t> 연동 동작 순서</a:t>
            </a:r>
            <a:endParaRPr lang="en-US" altLang="ko-KR" sz="1600" b="1" dirty="0">
              <a:solidFill>
                <a:srgbClr val="2630FA"/>
              </a:solidFill>
            </a:endParaRPr>
          </a:p>
        </p:txBody>
      </p:sp>
      <p:sp>
        <p:nvSpPr>
          <p:cNvPr id="49" name="AutoShape 6">
            <a:extLst>
              <a:ext uri="{FF2B5EF4-FFF2-40B4-BE49-F238E27FC236}">
                <a16:creationId xmlns:a16="http://schemas.microsoft.com/office/drawing/2014/main" id="{69384C11-4EE6-4BA0-B775-9A529D627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521" y="1017680"/>
            <a:ext cx="3223441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/>
            <a:r>
              <a:rPr lang="en-US" altLang="ko-KR" sz="14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2</a:t>
            </a:r>
            <a:r>
              <a:rPr lang="ko-KR" altLang="en-US" sz="1400" b="1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차용접기</a:t>
            </a:r>
            <a:r>
              <a:rPr lang="ko-KR" altLang="en-US" sz="14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 사용자 공간 동작 순서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C72F5D1F-0D8A-4F51-8E9E-B325135170E2}"/>
              </a:ext>
            </a:extLst>
          </p:cNvPr>
          <p:cNvSpPr/>
          <p:nvPr/>
        </p:nvSpPr>
        <p:spPr>
          <a:xfrm>
            <a:off x="1473981" y="1838692"/>
            <a:ext cx="1544715" cy="426129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GMES</a:t>
            </a:r>
            <a:endParaRPr lang="ko-KR" altLang="en-US" sz="1200" dirty="0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8981CDB4-1320-4A5A-BDCD-B470B53F3D7A}"/>
              </a:ext>
            </a:extLst>
          </p:cNvPr>
          <p:cNvSpPr/>
          <p:nvPr/>
        </p:nvSpPr>
        <p:spPr>
          <a:xfrm>
            <a:off x="5018520" y="1839888"/>
            <a:ext cx="1544715" cy="426129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GMES I/F System</a:t>
            </a:r>
            <a:endParaRPr lang="ko-KR" altLang="en-US" sz="1200" dirty="0"/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58536723-6F34-4E5F-B7A7-BC9B98C689F4}"/>
              </a:ext>
            </a:extLst>
          </p:cNvPr>
          <p:cNvSpPr/>
          <p:nvPr/>
        </p:nvSpPr>
        <p:spPr>
          <a:xfrm>
            <a:off x="8227638" y="1838692"/>
            <a:ext cx="1544715" cy="426129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PLC</a:t>
            </a:r>
            <a:endParaRPr lang="ko-KR" altLang="en-US" sz="1200" dirty="0"/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992D7500-0504-4034-AF61-48A4F440E25F}"/>
              </a:ext>
            </a:extLst>
          </p:cNvPr>
          <p:cNvCxnSpPr>
            <a:cxnSpLocks/>
            <a:stCxn id="50" idx="2"/>
          </p:cNvCxnSpPr>
          <p:nvPr/>
        </p:nvCxnSpPr>
        <p:spPr>
          <a:xfrm>
            <a:off x="2246339" y="2264821"/>
            <a:ext cx="0" cy="42388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2F6BA660-CEFF-4DDA-9995-DE82E733B9C1}"/>
              </a:ext>
            </a:extLst>
          </p:cNvPr>
          <p:cNvCxnSpPr>
            <a:cxnSpLocks/>
            <a:stCxn id="51" idx="2"/>
          </p:cNvCxnSpPr>
          <p:nvPr/>
        </p:nvCxnSpPr>
        <p:spPr>
          <a:xfrm flipH="1">
            <a:off x="5790876" y="2266017"/>
            <a:ext cx="2" cy="44377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80ED9BAD-7D30-4058-AFAC-F7B6C6315E87}"/>
              </a:ext>
            </a:extLst>
          </p:cNvPr>
          <p:cNvCxnSpPr>
            <a:cxnSpLocks/>
            <a:stCxn id="52" idx="2"/>
          </p:cNvCxnSpPr>
          <p:nvPr/>
        </p:nvCxnSpPr>
        <p:spPr>
          <a:xfrm>
            <a:off x="8999996" y="2264821"/>
            <a:ext cx="0" cy="43645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타원 55">
            <a:extLst>
              <a:ext uri="{FF2B5EF4-FFF2-40B4-BE49-F238E27FC236}">
                <a16:creationId xmlns:a16="http://schemas.microsoft.com/office/drawing/2014/main" id="{D1E6A7EA-8EC9-4D05-9E7B-29F47AD47460}"/>
              </a:ext>
            </a:extLst>
          </p:cNvPr>
          <p:cNvSpPr/>
          <p:nvPr/>
        </p:nvSpPr>
        <p:spPr>
          <a:xfrm>
            <a:off x="1386198" y="3011133"/>
            <a:ext cx="1720273" cy="400110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투입보고 수신</a:t>
            </a:r>
          </a:p>
        </p:txBody>
      </p: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761D6A21-24F8-4EED-A4D1-D8EE03180C30}"/>
              </a:ext>
            </a:extLst>
          </p:cNvPr>
          <p:cNvCxnSpPr>
            <a:cxnSpLocks/>
            <a:endCxn id="56" idx="6"/>
          </p:cNvCxnSpPr>
          <p:nvPr/>
        </p:nvCxnSpPr>
        <p:spPr>
          <a:xfrm rot="10800000" flipV="1">
            <a:off x="3106472" y="3151968"/>
            <a:ext cx="1824269" cy="59219"/>
          </a:xfrm>
          <a:prstGeom prst="bentConnector3">
            <a:avLst>
              <a:gd name="adj1" fmla="val 50000"/>
            </a:avLst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1B9FB0BF-D499-412A-96FC-82BBD210B419}"/>
              </a:ext>
            </a:extLst>
          </p:cNvPr>
          <p:cNvSpPr txBox="1"/>
          <p:nvPr/>
        </p:nvSpPr>
        <p:spPr>
          <a:xfrm>
            <a:off x="4247998" y="3222867"/>
            <a:ext cx="6367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EERS</a:t>
            </a:r>
            <a:endParaRPr lang="ko-KR" altLang="en-US" sz="1000" dirty="0"/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8B5AC5A4-3C90-425B-A9DA-254121383DF8}"/>
              </a:ext>
            </a:extLst>
          </p:cNvPr>
          <p:cNvSpPr/>
          <p:nvPr/>
        </p:nvSpPr>
        <p:spPr>
          <a:xfrm>
            <a:off x="4930739" y="2909896"/>
            <a:ext cx="1720273" cy="390678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투입보고</a:t>
            </a:r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1D461C71-EA12-4155-87E7-E1003E75368B}"/>
              </a:ext>
            </a:extLst>
          </p:cNvPr>
          <p:cNvSpPr/>
          <p:nvPr/>
        </p:nvSpPr>
        <p:spPr>
          <a:xfrm>
            <a:off x="8188738" y="2909896"/>
            <a:ext cx="1720273" cy="464886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바코드 리더</a:t>
            </a:r>
            <a:br>
              <a:rPr lang="en-US" altLang="ko-KR" sz="1200" dirty="0"/>
            </a:br>
            <a:r>
              <a:rPr lang="ko-KR" altLang="en-US" sz="1200" dirty="0"/>
              <a:t>입력</a:t>
            </a:r>
          </a:p>
        </p:txBody>
      </p:sp>
      <p:cxnSp>
        <p:nvCxnSpPr>
          <p:cNvPr id="89" name="연결선: 꺾임 88">
            <a:extLst>
              <a:ext uri="{FF2B5EF4-FFF2-40B4-BE49-F238E27FC236}">
                <a16:creationId xmlns:a16="http://schemas.microsoft.com/office/drawing/2014/main" id="{A1AD36FA-4EEA-4205-B658-85E78061678E}"/>
              </a:ext>
            </a:extLst>
          </p:cNvPr>
          <p:cNvCxnSpPr>
            <a:cxnSpLocks/>
            <a:stCxn id="88" idx="2"/>
            <a:endCxn id="87" idx="6"/>
          </p:cNvCxnSpPr>
          <p:nvPr/>
        </p:nvCxnSpPr>
        <p:spPr>
          <a:xfrm rot="10800000">
            <a:off x="6651012" y="3105235"/>
            <a:ext cx="1537726" cy="37104"/>
          </a:xfrm>
          <a:prstGeom prst="bentConnector3">
            <a:avLst>
              <a:gd name="adj1" fmla="val 50000"/>
            </a:avLst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DCC5422F-C7D3-47AA-9EBB-43228C4790CC}"/>
              </a:ext>
            </a:extLst>
          </p:cNvPr>
          <p:cNvSpPr txBox="1"/>
          <p:nvPr/>
        </p:nvSpPr>
        <p:spPr>
          <a:xfrm>
            <a:off x="6923284" y="3176311"/>
            <a:ext cx="13837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투입보고 </a:t>
            </a:r>
            <a:r>
              <a:rPr lang="en-US" altLang="ko-KR" sz="1000" dirty="0"/>
              <a:t>Request</a:t>
            </a:r>
            <a:endParaRPr lang="ko-KR" altLang="en-US" sz="1000" dirty="0"/>
          </a:p>
        </p:txBody>
      </p:sp>
      <p:sp>
        <p:nvSpPr>
          <p:cNvPr id="91" name="타원 90">
            <a:extLst>
              <a:ext uri="{FF2B5EF4-FFF2-40B4-BE49-F238E27FC236}">
                <a16:creationId xmlns:a16="http://schemas.microsoft.com/office/drawing/2014/main" id="{4ACBBB8A-E287-4362-86C9-08ED9D1568E8}"/>
              </a:ext>
            </a:extLst>
          </p:cNvPr>
          <p:cNvSpPr/>
          <p:nvPr/>
        </p:nvSpPr>
        <p:spPr>
          <a:xfrm>
            <a:off x="1386198" y="3519382"/>
            <a:ext cx="1720273" cy="400110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투입 </a:t>
            </a:r>
            <a:r>
              <a:rPr lang="en-US" altLang="ko-KR" sz="1200" dirty="0"/>
              <a:t>Ack</a:t>
            </a:r>
            <a:endParaRPr lang="ko-KR" altLang="en-US" sz="1200" dirty="0"/>
          </a:p>
        </p:txBody>
      </p:sp>
      <p:cxnSp>
        <p:nvCxnSpPr>
          <p:cNvPr id="92" name="연결선: 꺾임 91">
            <a:extLst>
              <a:ext uri="{FF2B5EF4-FFF2-40B4-BE49-F238E27FC236}">
                <a16:creationId xmlns:a16="http://schemas.microsoft.com/office/drawing/2014/main" id="{DE99614D-0C43-4544-A060-B7306DF95469}"/>
              </a:ext>
            </a:extLst>
          </p:cNvPr>
          <p:cNvCxnSpPr>
            <a:cxnSpLocks/>
            <a:stCxn id="91" idx="6"/>
            <a:endCxn id="94" idx="2"/>
          </p:cNvCxnSpPr>
          <p:nvPr/>
        </p:nvCxnSpPr>
        <p:spPr>
          <a:xfrm>
            <a:off x="3106471" y="3719437"/>
            <a:ext cx="1824268" cy="117731"/>
          </a:xfrm>
          <a:prstGeom prst="bentConnector3">
            <a:avLst>
              <a:gd name="adj1" fmla="val 50000"/>
            </a:avLst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DEF77920-D323-4E72-B804-A173579896F8}"/>
              </a:ext>
            </a:extLst>
          </p:cNvPr>
          <p:cNvSpPr txBox="1"/>
          <p:nvPr/>
        </p:nvSpPr>
        <p:spPr>
          <a:xfrm>
            <a:off x="2658035" y="3860444"/>
            <a:ext cx="15744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EERS_ACK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rgbClr val="0000FF"/>
                </a:solidFill>
              </a:rPr>
              <a:t>EPDS(Product Data)</a:t>
            </a:r>
            <a:endParaRPr lang="ko-KR" altLang="en-US" sz="1000" b="1" dirty="0">
              <a:solidFill>
                <a:srgbClr val="0000FF"/>
              </a:solidFill>
            </a:endParaRPr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7E38907B-4545-4125-81E9-215AD40BF5B1}"/>
              </a:ext>
            </a:extLst>
          </p:cNvPr>
          <p:cNvSpPr/>
          <p:nvPr/>
        </p:nvSpPr>
        <p:spPr>
          <a:xfrm>
            <a:off x="4930739" y="3590636"/>
            <a:ext cx="1720273" cy="493064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Product Data </a:t>
            </a:r>
            <a:r>
              <a:rPr lang="ko-KR" altLang="en-US" sz="1200" dirty="0"/>
              <a:t>분석</a:t>
            </a:r>
            <a:r>
              <a:rPr lang="en-US" altLang="ko-KR" sz="1200" dirty="0"/>
              <a:t>/</a:t>
            </a:r>
            <a:r>
              <a:rPr lang="ko-KR" altLang="en-US" sz="1200" dirty="0"/>
              <a:t>저장</a:t>
            </a:r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807CB782-7B57-4429-B7E3-E7876E43C543}"/>
              </a:ext>
            </a:extLst>
          </p:cNvPr>
          <p:cNvSpPr/>
          <p:nvPr/>
        </p:nvSpPr>
        <p:spPr>
          <a:xfrm>
            <a:off x="8188738" y="3639111"/>
            <a:ext cx="1720273" cy="680316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재용접</a:t>
            </a:r>
            <a:r>
              <a:rPr lang="ko-KR" altLang="en-US" sz="1200" dirty="0"/>
              <a:t> 포인트</a:t>
            </a:r>
            <a:endParaRPr lang="en-US" altLang="ko-KR" sz="1200" dirty="0"/>
          </a:p>
          <a:p>
            <a:pPr algn="ctr"/>
            <a:r>
              <a:rPr lang="ko-KR" altLang="en-US" sz="1200" dirty="0"/>
              <a:t>선택화면</a:t>
            </a:r>
            <a:endParaRPr lang="en-US" altLang="ko-KR" sz="1200" dirty="0"/>
          </a:p>
          <a:p>
            <a:pPr algn="ctr"/>
            <a:r>
              <a:rPr lang="en-US" altLang="ko-KR" sz="1200" dirty="0"/>
              <a:t>Pop Up</a:t>
            </a:r>
            <a:endParaRPr lang="ko-KR" altLang="en-US" sz="1200" dirty="0"/>
          </a:p>
        </p:txBody>
      </p:sp>
      <p:cxnSp>
        <p:nvCxnSpPr>
          <p:cNvPr id="96" name="연결선: 꺾임 95">
            <a:extLst>
              <a:ext uri="{FF2B5EF4-FFF2-40B4-BE49-F238E27FC236}">
                <a16:creationId xmlns:a16="http://schemas.microsoft.com/office/drawing/2014/main" id="{69349BBB-4119-4BE6-9164-80FF318296B2}"/>
              </a:ext>
            </a:extLst>
          </p:cNvPr>
          <p:cNvCxnSpPr>
            <a:cxnSpLocks/>
            <a:stCxn id="94" idx="6"/>
            <a:endCxn id="95" idx="2"/>
          </p:cNvCxnSpPr>
          <p:nvPr/>
        </p:nvCxnSpPr>
        <p:spPr>
          <a:xfrm>
            <a:off x="6651012" y="3837168"/>
            <a:ext cx="1537726" cy="142101"/>
          </a:xfrm>
          <a:prstGeom prst="bentConnector3">
            <a:avLst>
              <a:gd name="adj1" fmla="val 50000"/>
            </a:avLst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1F4A91DD-A3C5-441F-BB14-E570CC8EB862}"/>
              </a:ext>
            </a:extLst>
          </p:cNvPr>
          <p:cNvSpPr txBox="1"/>
          <p:nvPr/>
        </p:nvSpPr>
        <p:spPr>
          <a:xfrm>
            <a:off x="5914033" y="4083700"/>
            <a:ext cx="20185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투입보고 </a:t>
            </a:r>
            <a:r>
              <a:rPr lang="en-US" altLang="ko-KR" sz="1000" dirty="0"/>
              <a:t>Response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rgbClr val="0000FF"/>
                </a:solidFill>
              </a:rPr>
              <a:t>Product Data </a:t>
            </a:r>
            <a:r>
              <a:rPr lang="ko-KR" altLang="en-US" sz="1000" b="1" dirty="0">
                <a:solidFill>
                  <a:srgbClr val="0000FF"/>
                </a:solidFill>
              </a:rPr>
              <a:t>분석하여</a:t>
            </a:r>
            <a:r>
              <a:rPr lang="en-US" altLang="ko-KR" sz="1000" b="1" dirty="0">
                <a:solidFill>
                  <a:srgbClr val="0000FF"/>
                </a:solidFill>
              </a:rPr>
              <a:t>,</a:t>
            </a:r>
            <a:br>
              <a:rPr lang="en-US" altLang="ko-KR" sz="1000" b="1" dirty="0">
                <a:solidFill>
                  <a:srgbClr val="0000FF"/>
                </a:solidFill>
              </a:rPr>
            </a:br>
            <a:r>
              <a:rPr lang="ko-KR" altLang="en-US" sz="1000" b="1" dirty="0">
                <a:solidFill>
                  <a:srgbClr val="0000FF"/>
                </a:solidFill>
              </a:rPr>
              <a:t>이전장비 용접결과</a:t>
            </a:r>
            <a:r>
              <a:rPr lang="en-US" altLang="ko-KR" sz="1000" b="1" dirty="0">
                <a:solidFill>
                  <a:srgbClr val="0000FF"/>
                </a:solidFill>
              </a:rPr>
              <a:t>(</a:t>
            </a:r>
            <a:r>
              <a:rPr lang="ko-KR" altLang="en-US" sz="1000" b="1" dirty="0">
                <a:solidFill>
                  <a:srgbClr val="0000FF"/>
                </a:solidFill>
              </a:rPr>
              <a:t>최종결과</a:t>
            </a:r>
            <a:r>
              <a:rPr lang="en-US" altLang="ko-KR" sz="1000" b="1" dirty="0">
                <a:solidFill>
                  <a:srgbClr val="0000FF"/>
                </a:solidFill>
              </a:rPr>
              <a:t>)</a:t>
            </a:r>
            <a:br>
              <a:rPr lang="en-US" altLang="ko-KR" sz="1000" b="1" dirty="0">
                <a:solidFill>
                  <a:srgbClr val="0000FF"/>
                </a:solidFill>
              </a:rPr>
            </a:br>
            <a:r>
              <a:rPr lang="ko-KR" altLang="en-US" sz="1000" b="1" dirty="0" err="1">
                <a:solidFill>
                  <a:srgbClr val="0000FF"/>
                </a:solidFill>
              </a:rPr>
              <a:t>후검사</a:t>
            </a:r>
            <a:r>
              <a:rPr lang="ko-KR" altLang="en-US" sz="1000" b="1" dirty="0">
                <a:solidFill>
                  <a:srgbClr val="0000FF"/>
                </a:solidFill>
              </a:rPr>
              <a:t> 영역에 </a:t>
            </a:r>
            <a:r>
              <a:rPr lang="en-US" altLang="ko-KR" sz="1000" b="1" dirty="0">
                <a:solidFill>
                  <a:srgbClr val="0000FF"/>
                </a:solidFill>
              </a:rPr>
              <a:t>Write</a:t>
            </a:r>
            <a:endParaRPr lang="ko-KR" altLang="en-US" sz="1000" b="1" dirty="0">
              <a:solidFill>
                <a:srgbClr val="0000FF"/>
              </a:solidFill>
            </a:endParaRPr>
          </a:p>
        </p:txBody>
      </p:sp>
      <p:sp>
        <p:nvSpPr>
          <p:cNvPr id="99" name="타원 98">
            <a:extLst>
              <a:ext uri="{FF2B5EF4-FFF2-40B4-BE49-F238E27FC236}">
                <a16:creationId xmlns:a16="http://schemas.microsoft.com/office/drawing/2014/main" id="{F15E4C27-B75C-45EC-A8E9-01154EF7798E}"/>
              </a:ext>
            </a:extLst>
          </p:cNvPr>
          <p:cNvSpPr/>
          <p:nvPr/>
        </p:nvSpPr>
        <p:spPr>
          <a:xfrm>
            <a:off x="8188737" y="4495708"/>
            <a:ext cx="1720273" cy="680316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사용자에 의해</a:t>
            </a:r>
            <a:r>
              <a:rPr lang="en-US" altLang="ko-KR" sz="1200" dirty="0"/>
              <a:t>,</a:t>
            </a:r>
          </a:p>
          <a:p>
            <a:pPr algn="ctr"/>
            <a:r>
              <a:rPr lang="ko-KR" altLang="en-US" sz="1200" dirty="0" err="1"/>
              <a:t>재용접</a:t>
            </a:r>
            <a:r>
              <a:rPr lang="ko-KR" altLang="en-US" sz="1200" dirty="0"/>
              <a:t> 포인트 수정</a:t>
            </a:r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73473992-A736-43A7-817D-92FD1C56AB14}"/>
              </a:ext>
            </a:extLst>
          </p:cNvPr>
          <p:cNvSpPr/>
          <p:nvPr/>
        </p:nvSpPr>
        <p:spPr>
          <a:xfrm>
            <a:off x="8188737" y="5392064"/>
            <a:ext cx="1720273" cy="437236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양수버튼 </a:t>
            </a:r>
            <a:r>
              <a:rPr lang="en-US" altLang="ko-KR" sz="1200" dirty="0"/>
              <a:t>ON</a:t>
            </a:r>
            <a:endParaRPr lang="ko-KR" altLang="en-US" sz="1200" dirty="0"/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F78A856D-3F15-4690-8A5E-BDFD4847829B}"/>
              </a:ext>
            </a:extLst>
          </p:cNvPr>
          <p:cNvSpPr/>
          <p:nvPr/>
        </p:nvSpPr>
        <p:spPr>
          <a:xfrm>
            <a:off x="4930739" y="5438621"/>
            <a:ext cx="1720273" cy="390678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배출보고</a:t>
            </a:r>
          </a:p>
        </p:txBody>
      </p:sp>
      <p:cxnSp>
        <p:nvCxnSpPr>
          <p:cNvPr id="102" name="연결선: 꺾임 101">
            <a:extLst>
              <a:ext uri="{FF2B5EF4-FFF2-40B4-BE49-F238E27FC236}">
                <a16:creationId xmlns:a16="http://schemas.microsoft.com/office/drawing/2014/main" id="{84AEFABD-4285-44BB-9BEF-07107B60BC71}"/>
              </a:ext>
            </a:extLst>
          </p:cNvPr>
          <p:cNvCxnSpPr>
            <a:cxnSpLocks/>
            <a:stCxn id="100" idx="2"/>
            <a:endCxn id="101" idx="6"/>
          </p:cNvCxnSpPr>
          <p:nvPr/>
        </p:nvCxnSpPr>
        <p:spPr>
          <a:xfrm rot="10800000" flipV="1">
            <a:off x="6651013" y="5610682"/>
            <a:ext cx="1537725" cy="23278"/>
          </a:xfrm>
          <a:prstGeom prst="bentConnector3">
            <a:avLst>
              <a:gd name="adj1" fmla="val 50000"/>
            </a:avLst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00215A71-0C17-4CDA-906C-7B3B4B2E6941}"/>
              </a:ext>
            </a:extLst>
          </p:cNvPr>
          <p:cNvSpPr txBox="1"/>
          <p:nvPr/>
        </p:nvSpPr>
        <p:spPr>
          <a:xfrm>
            <a:off x="6832357" y="5706189"/>
            <a:ext cx="13837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배출보고 </a:t>
            </a:r>
            <a:r>
              <a:rPr lang="en-US" altLang="ko-KR" sz="1000" dirty="0"/>
              <a:t>Request</a:t>
            </a:r>
            <a:endParaRPr lang="ko-KR" altLang="en-US" sz="1000" dirty="0"/>
          </a:p>
        </p:txBody>
      </p:sp>
      <p:cxnSp>
        <p:nvCxnSpPr>
          <p:cNvPr id="104" name="연결선: 꺾임 103">
            <a:extLst>
              <a:ext uri="{FF2B5EF4-FFF2-40B4-BE49-F238E27FC236}">
                <a16:creationId xmlns:a16="http://schemas.microsoft.com/office/drawing/2014/main" id="{7A160A40-2621-4C86-9914-920FD9C1C482}"/>
              </a:ext>
            </a:extLst>
          </p:cNvPr>
          <p:cNvCxnSpPr>
            <a:cxnSpLocks/>
            <a:stCxn id="101" idx="2"/>
            <a:endCxn id="114" idx="6"/>
          </p:cNvCxnSpPr>
          <p:nvPr/>
        </p:nvCxnSpPr>
        <p:spPr>
          <a:xfrm rot="10800000">
            <a:off x="3143127" y="5633960"/>
            <a:ext cx="1787613" cy="12700"/>
          </a:xfrm>
          <a:prstGeom prst="bentConnector3">
            <a:avLst>
              <a:gd name="adj1" fmla="val 50000"/>
            </a:avLst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타원 104">
            <a:extLst>
              <a:ext uri="{FF2B5EF4-FFF2-40B4-BE49-F238E27FC236}">
                <a16:creationId xmlns:a16="http://schemas.microsoft.com/office/drawing/2014/main" id="{836ED4A9-0707-436A-83A9-38A2FD5A24E6}"/>
              </a:ext>
            </a:extLst>
          </p:cNvPr>
          <p:cNvSpPr/>
          <p:nvPr/>
        </p:nvSpPr>
        <p:spPr>
          <a:xfrm>
            <a:off x="1422853" y="5952410"/>
            <a:ext cx="1720273" cy="400110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배출 </a:t>
            </a:r>
            <a:r>
              <a:rPr lang="en-US" altLang="ko-KR" sz="1200" dirty="0"/>
              <a:t>Ack</a:t>
            </a:r>
            <a:endParaRPr lang="ko-KR" altLang="en-US" sz="120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F17C08A-8801-41D2-923E-7D0CF89271F6}"/>
              </a:ext>
            </a:extLst>
          </p:cNvPr>
          <p:cNvSpPr txBox="1"/>
          <p:nvPr/>
        </p:nvSpPr>
        <p:spPr>
          <a:xfrm>
            <a:off x="4270698" y="5682268"/>
            <a:ext cx="6190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EIDS</a:t>
            </a:r>
            <a:endParaRPr lang="ko-KR" altLang="en-US" sz="1000" dirty="0"/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507EC64C-E16E-4DC1-9AAF-4708ED0EF8AF}"/>
              </a:ext>
            </a:extLst>
          </p:cNvPr>
          <p:cNvSpPr/>
          <p:nvPr/>
        </p:nvSpPr>
        <p:spPr>
          <a:xfrm>
            <a:off x="1422853" y="5433905"/>
            <a:ext cx="1720273" cy="400110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배출보고 수신</a:t>
            </a:r>
          </a:p>
        </p:txBody>
      </p:sp>
      <p:cxnSp>
        <p:nvCxnSpPr>
          <p:cNvPr id="117" name="연결선: 꺾임 116">
            <a:extLst>
              <a:ext uri="{FF2B5EF4-FFF2-40B4-BE49-F238E27FC236}">
                <a16:creationId xmlns:a16="http://schemas.microsoft.com/office/drawing/2014/main" id="{B7D0E55F-152F-44A0-AA28-CD18CE2DE1BC}"/>
              </a:ext>
            </a:extLst>
          </p:cNvPr>
          <p:cNvCxnSpPr>
            <a:cxnSpLocks/>
            <a:stCxn id="105" idx="6"/>
            <a:endCxn id="121" idx="2"/>
          </p:cNvCxnSpPr>
          <p:nvPr/>
        </p:nvCxnSpPr>
        <p:spPr>
          <a:xfrm>
            <a:off x="3143126" y="6152465"/>
            <a:ext cx="1787613" cy="90791"/>
          </a:xfrm>
          <a:prstGeom prst="bentConnector3">
            <a:avLst>
              <a:gd name="adj1" fmla="val 50000"/>
            </a:avLst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타원 120">
            <a:extLst>
              <a:ext uri="{FF2B5EF4-FFF2-40B4-BE49-F238E27FC236}">
                <a16:creationId xmlns:a16="http://schemas.microsoft.com/office/drawing/2014/main" id="{076E0C55-F097-4612-A049-4C7F6DCD12D3}"/>
              </a:ext>
            </a:extLst>
          </p:cNvPr>
          <p:cNvSpPr/>
          <p:nvPr/>
        </p:nvSpPr>
        <p:spPr>
          <a:xfrm>
            <a:off x="4930739" y="6047917"/>
            <a:ext cx="1720273" cy="390678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배출보고 응답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172CF94D-19C4-4039-BBBC-490A98193E60}"/>
              </a:ext>
            </a:extLst>
          </p:cNvPr>
          <p:cNvSpPr txBox="1"/>
          <p:nvPr/>
        </p:nvSpPr>
        <p:spPr>
          <a:xfrm>
            <a:off x="3108312" y="6243256"/>
            <a:ext cx="9156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EIDS_ACK</a:t>
            </a:r>
            <a:endParaRPr lang="ko-KR" altLang="en-US" sz="1000" dirty="0"/>
          </a:p>
        </p:txBody>
      </p:sp>
      <p:cxnSp>
        <p:nvCxnSpPr>
          <p:cNvPr id="124" name="연결선: 꺾임 123">
            <a:extLst>
              <a:ext uri="{FF2B5EF4-FFF2-40B4-BE49-F238E27FC236}">
                <a16:creationId xmlns:a16="http://schemas.microsoft.com/office/drawing/2014/main" id="{E0FC2BEA-EFB2-4C50-B459-06D1F66B4707}"/>
              </a:ext>
            </a:extLst>
          </p:cNvPr>
          <p:cNvCxnSpPr>
            <a:cxnSpLocks/>
            <a:stCxn id="121" idx="6"/>
            <a:endCxn id="129" idx="2"/>
          </p:cNvCxnSpPr>
          <p:nvPr/>
        </p:nvCxnSpPr>
        <p:spPr>
          <a:xfrm>
            <a:off x="6651012" y="6243256"/>
            <a:ext cx="1537725" cy="135283"/>
          </a:xfrm>
          <a:prstGeom prst="bentConnector3">
            <a:avLst>
              <a:gd name="adj1" fmla="val 50000"/>
            </a:avLst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79DF7858-F299-4CA1-8A12-2577AADF535F}"/>
              </a:ext>
            </a:extLst>
          </p:cNvPr>
          <p:cNvSpPr txBox="1"/>
          <p:nvPr/>
        </p:nvSpPr>
        <p:spPr>
          <a:xfrm>
            <a:off x="6189140" y="6410992"/>
            <a:ext cx="14718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배출보고 </a:t>
            </a:r>
            <a:r>
              <a:rPr lang="en-US" altLang="ko-KR" sz="1000" dirty="0"/>
              <a:t>Response</a:t>
            </a:r>
            <a:endParaRPr lang="ko-KR" altLang="en-US" sz="1000" dirty="0"/>
          </a:p>
        </p:txBody>
      </p:sp>
      <p:sp>
        <p:nvSpPr>
          <p:cNvPr id="129" name="타원 128">
            <a:extLst>
              <a:ext uri="{FF2B5EF4-FFF2-40B4-BE49-F238E27FC236}">
                <a16:creationId xmlns:a16="http://schemas.microsoft.com/office/drawing/2014/main" id="{F8806D78-D4AD-468F-9637-EBF143EFFE87}"/>
              </a:ext>
            </a:extLst>
          </p:cNvPr>
          <p:cNvSpPr/>
          <p:nvPr/>
        </p:nvSpPr>
        <p:spPr>
          <a:xfrm>
            <a:off x="8188737" y="6159921"/>
            <a:ext cx="1720273" cy="437236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배출</a:t>
            </a: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4345EAEC-2D2A-4A9B-939F-5C85824936D7}"/>
              </a:ext>
            </a:extLst>
          </p:cNvPr>
          <p:cNvSpPr/>
          <p:nvPr/>
        </p:nvSpPr>
        <p:spPr>
          <a:xfrm>
            <a:off x="8188737" y="2376468"/>
            <a:ext cx="1720273" cy="437236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투입</a:t>
            </a:r>
          </a:p>
        </p:txBody>
      </p:sp>
    </p:spTree>
    <p:extLst>
      <p:ext uri="{BB962C8B-B14F-4D97-AF65-F5344CB8AC3E}">
        <p14:creationId xmlns:p14="http://schemas.microsoft.com/office/powerpoint/2010/main" val="1646885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Link Test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080202" y="2297153"/>
            <a:ext cx="0" cy="3978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C5DD750D-C13C-6BC2-0526-C77FD44AB0DC}"/>
              </a:ext>
            </a:extLst>
          </p:cNvPr>
          <p:cNvCxnSpPr>
            <a:cxnSpLocks/>
          </p:cNvCxnSpPr>
          <p:nvPr/>
        </p:nvCxnSpPr>
        <p:spPr>
          <a:xfrm>
            <a:off x="6021909" y="2898587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FFC429C-F306-6816-E9A5-75FB7AB77604}"/>
              </a:ext>
            </a:extLst>
          </p:cNvPr>
          <p:cNvSpPr txBox="1"/>
          <p:nvPr/>
        </p:nvSpPr>
        <p:spPr>
          <a:xfrm>
            <a:off x="7348195" y="2590810"/>
            <a:ext cx="12891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D52000.0 </a:t>
            </a:r>
            <a:r>
              <a:rPr lang="en-US" altLang="ko-KR" sz="1400" b="1" dirty="0">
                <a:solidFill>
                  <a:srgbClr val="FF0000"/>
                </a:solidFill>
              </a:rPr>
              <a:t>ON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F1F45F6-F38C-242A-3061-8112648B7F61}"/>
              </a:ext>
            </a:extLst>
          </p:cNvPr>
          <p:cNvSpPr/>
          <p:nvPr/>
        </p:nvSpPr>
        <p:spPr>
          <a:xfrm>
            <a:off x="6779941" y="3077007"/>
            <a:ext cx="2732048" cy="27878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 </a:t>
            </a:r>
            <a:r>
              <a:rPr lang="ko-KR" altLang="en-US" sz="1200" dirty="0"/>
              <a:t>초 후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44616E10-8434-E351-A072-4F745736FD3A}"/>
              </a:ext>
            </a:extLst>
          </p:cNvPr>
          <p:cNvCxnSpPr>
            <a:cxnSpLocks/>
          </p:cNvCxnSpPr>
          <p:nvPr/>
        </p:nvCxnSpPr>
        <p:spPr>
          <a:xfrm>
            <a:off x="6021909" y="3801835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641DF68-DF35-C6E4-240A-5621CA2F2A4D}"/>
              </a:ext>
            </a:extLst>
          </p:cNvPr>
          <p:cNvSpPr txBox="1"/>
          <p:nvPr/>
        </p:nvSpPr>
        <p:spPr>
          <a:xfrm>
            <a:off x="7348195" y="3494058"/>
            <a:ext cx="1330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D52000.0 </a:t>
            </a:r>
            <a:r>
              <a:rPr lang="en-US" altLang="ko-KR" sz="1400" b="1" dirty="0">
                <a:solidFill>
                  <a:srgbClr val="0000FF"/>
                </a:solidFill>
              </a:rPr>
              <a:t>OFF</a:t>
            </a:r>
            <a:endParaRPr lang="ko-KR" altLang="en-US" sz="1400" b="1" dirty="0">
              <a:solidFill>
                <a:srgbClr val="0000FF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AF2F3EA9-89A9-24DE-212D-D610F182BE57}"/>
              </a:ext>
            </a:extLst>
          </p:cNvPr>
          <p:cNvSpPr/>
          <p:nvPr/>
        </p:nvSpPr>
        <p:spPr>
          <a:xfrm>
            <a:off x="5698274" y="2497873"/>
            <a:ext cx="4672360" cy="1449659"/>
          </a:xfrm>
          <a:prstGeom prst="roundRect">
            <a:avLst>
              <a:gd name="adj" fmla="val 8592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74DACD2A-218D-B7C1-BF42-A6E95FD8A11D}"/>
              </a:ext>
            </a:extLst>
          </p:cNvPr>
          <p:cNvSpPr/>
          <p:nvPr/>
        </p:nvSpPr>
        <p:spPr>
          <a:xfrm>
            <a:off x="5700578" y="2503838"/>
            <a:ext cx="1102517" cy="305539"/>
          </a:xfrm>
          <a:prstGeom prst="roundRect">
            <a:avLst>
              <a:gd name="adj" fmla="val 8592"/>
            </a:avLst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반복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483151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7348195" y="4523735"/>
            <a:ext cx="12891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D53000.0 </a:t>
            </a:r>
            <a:r>
              <a:rPr lang="en-US" altLang="ko-KR" sz="1400" b="1" dirty="0">
                <a:solidFill>
                  <a:srgbClr val="FF0000"/>
                </a:solidFill>
              </a:rPr>
              <a:t>ON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9924312-AA5D-B5D5-EAC2-B1E80350A592}"/>
              </a:ext>
            </a:extLst>
          </p:cNvPr>
          <p:cNvSpPr/>
          <p:nvPr/>
        </p:nvSpPr>
        <p:spPr>
          <a:xfrm>
            <a:off x="6779941" y="5009932"/>
            <a:ext cx="2732048" cy="27878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 </a:t>
            </a:r>
            <a:r>
              <a:rPr lang="ko-KR" altLang="en-US" sz="1200" dirty="0"/>
              <a:t>초 후</a:t>
            </a: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63E6C3D9-87FB-8515-BCA9-E0DBCF781AA9}"/>
              </a:ext>
            </a:extLst>
          </p:cNvPr>
          <p:cNvCxnSpPr>
            <a:cxnSpLocks/>
          </p:cNvCxnSpPr>
          <p:nvPr/>
        </p:nvCxnSpPr>
        <p:spPr>
          <a:xfrm>
            <a:off x="6021909" y="5734760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A03F46E-8A59-51B0-E538-212EA2DD7FFA}"/>
              </a:ext>
            </a:extLst>
          </p:cNvPr>
          <p:cNvSpPr txBox="1"/>
          <p:nvPr/>
        </p:nvSpPr>
        <p:spPr>
          <a:xfrm>
            <a:off x="7348195" y="5426983"/>
            <a:ext cx="1330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D53000.0 </a:t>
            </a:r>
            <a:r>
              <a:rPr lang="en-US" altLang="ko-KR" sz="1400" b="1" dirty="0">
                <a:solidFill>
                  <a:srgbClr val="0000FF"/>
                </a:solidFill>
              </a:rPr>
              <a:t>OFF</a:t>
            </a:r>
            <a:endParaRPr lang="ko-KR" altLang="en-US" sz="1400" b="1" dirty="0">
              <a:solidFill>
                <a:srgbClr val="0000FF"/>
              </a:solidFill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E7CDE51C-A6F9-5088-9547-9C810CA02B7A}"/>
              </a:ext>
            </a:extLst>
          </p:cNvPr>
          <p:cNvSpPr/>
          <p:nvPr/>
        </p:nvSpPr>
        <p:spPr>
          <a:xfrm>
            <a:off x="5698274" y="4430798"/>
            <a:ext cx="4672360" cy="1449659"/>
          </a:xfrm>
          <a:prstGeom prst="roundRect">
            <a:avLst>
              <a:gd name="adj" fmla="val 8592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31375457-B7D7-0BD8-0C5B-4999816B647D}"/>
              </a:ext>
            </a:extLst>
          </p:cNvPr>
          <p:cNvSpPr/>
          <p:nvPr/>
        </p:nvSpPr>
        <p:spPr>
          <a:xfrm>
            <a:off x="5700578" y="4436763"/>
            <a:ext cx="1102517" cy="305539"/>
          </a:xfrm>
          <a:prstGeom prst="roundRect">
            <a:avLst>
              <a:gd name="adj" fmla="val 8592"/>
            </a:avLst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반복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60A00483-FDBF-5C45-077A-578A56865B23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955D1375-CDF1-27E7-BC47-2E82E13F0684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83975F24-75D3-5502-F138-034292963934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화살표 연결선 44">
              <a:extLst>
                <a:ext uri="{FF2B5EF4-FFF2-40B4-BE49-F238E27FC236}">
                  <a16:creationId xmlns:a16="http://schemas.microsoft.com/office/drawing/2014/main" id="{D5A5F700-1429-6DF7-7409-401229CE2B92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6FB6BD0-50C6-0815-D03D-EA2BD88417F4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497F1C8-6F35-1364-DA19-0AC580A9AE99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95724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DA7C6F15-F20A-427E-BBF0-B29C4A6C71E7}"/>
              </a:ext>
            </a:extLst>
          </p:cNvPr>
          <p:cNvCxnSpPr>
            <a:cxnSpLocks/>
          </p:cNvCxnSpPr>
          <p:nvPr/>
        </p:nvCxnSpPr>
        <p:spPr>
          <a:xfrm>
            <a:off x="6899167" y="3387787"/>
            <a:ext cx="3064448" cy="15215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4" y="514769"/>
            <a:ext cx="7838576" cy="562057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스테이터</a:t>
            </a:r>
            <a:r>
              <a:rPr lang="ko-KR" altLang="en-US" dirty="0"/>
              <a:t> 투입보고 </a:t>
            </a:r>
            <a:r>
              <a:rPr lang="en-US" altLang="ko-KR" dirty="0"/>
              <a:t>– Normal Case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080201" y="2297153"/>
            <a:ext cx="1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56928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809322" y="2265456"/>
            <a:ext cx="24562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투입보고 </a:t>
            </a:r>
            <a:r>
              <a:rPr lang="en-US" altLang="ko-KR" sz="1200" dirty="0"/>
              <a:t>Request(D53001.0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42" name="다이아몬드 41">
            <a:extLst>
              <a:ext uri="{FF2B5EF4-FFF2-40B4-BE49-F238E27FC236}">
                <a16:creationId xmlns:a16="http://schemas.microsoft.com/office/drawing/2014/main" id="{5E3C6343-7471-0A19-186D-7A33C0E02A04}"/>
              </a:ext>
            </a:extLst>
          </p:cNvPr>
          <p:cNvSpPr/>
          <p:nvPr/>
        </p:nvSpPr>
        <p:spPr>
          <a:xfrm>
            <a:off x="5146538" y="4399907"/>
            <a:ext cx="1752629" cy="4505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Error?</a:t>
            </a:r>
            <a:endParaRPr lang="ko-KR" altLang="en-US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4A743804-EE77-D65D-263E-1FDFB0C53B61}"/>
              </a:ext>
            </a:extLst>
          </p:cNvPr>
          <p:cNvSpPr/>
          <p:nvPr/>
        </p:nvSpPr>
        <p:spPr>
          <a:xfrm>
            <a:off x="6328170" y="3741346"/>
            <a:ext cx="3350342" cy="58031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Error </a:t>
            </a:r>
            <a:r>
              <a:rPr lang="ko-KR" altLang="en-US" sz="1050" dirty="0"/>
              <a:t>판단 기준</a:t>
            </a:r>
            <a:endParaRPr lang="en-US" altLang="ko-KR" sz="1050" dirty="0"/>
          </a:p>
          <a:p>
            <a:r>
              <a:rPr lang="en-US" altLang="ko-KR" sz="1050" dirty="0"/>
              <a:t>: </a:t>
            </a:r>
            <a:r>
              <a:rPr lang="ko-KR" altLang="en-US" sz="1050" dirty="0" err="1"/>
              <a:t>스테이터</a:t>
            </a:r>
            <a:r>
              <a:rPr lang="ko-KR" altLang="en-US" sz="1050" dirty="0"/>
              <a:t> 모델명이 현재 </a:t>
            </a:r>
            <a:r>
              <a:rPr lang="en-US" altLang="ko-KR" sz="1050" dirty="0"/>
              <a:t>PLC </a:t>
            </a:r>
            <a:r>
              <a:rPr lang="ko-KR" altLang="en-US" sz="1050" dirty="0"/>
              <a:t>설정과 </a:t>
            </a:r>
            <a:r>
              <a:rPr lang="ko-KR" altLang="en-US" sz="1050" dirty="0" err="1"/>
              <a:t>같은지</a:t>
            </a:r>
            <a:r>
              <a:rPr lang="ko-KR" altLang="en-US" sz="1050" dirty="0"/>
              <a:t> 판단</a:t>
            </a:r>
            <a:endParaRPr lang="en-US" altLang="ko-KR" sz="1050" dirty="0"/>
          </a:p>
          <a:p>
            <a:r>
              <a:rPr lang="en-US" altLang="ko-KR" sz="1050" dirty="0"/>
              <a:t>(77 Model or 76 Model)</a:t>
            </a:r>
            <a:endParaRPr lang="ko-KR" altLang="en-US" sz="1050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F8D2092A-D040-5656-482C-8F7E734E19AD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82576E91-6A8F-3D47-1D40-72E246279FD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9B6D8FD9-CAB3-8ABC-D4B9-5FC3ADF854B8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9FD6F179-2308-612E-6B0A-737C3CBB5D12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9F631A3-1D01-F946-27DA-C0CF51B5E6EF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A7426C5-1778-FD9F-CE51-75C8F9E337EB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CE7440B-A33B-4D5D-8589-CB1DC827AF45}"/>
              </a:ext>
            </a:extLst>
          </p:cNvPr>
          <p:cNvCxnSpPr>
            <a:cxnSpLocks/>
          </p:cNvCxnSpPr>
          <p:nvPr/>
        </p:nvCxnSpPr>
        <p:spPr>
          <a:xfrm>
            <a:off x="2080203" y="2709269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26E06F7-623F-4844-B264-2E59AE951CDA}"/>
              </a:ext>
            </a:extLst>
          </p:cNvPr>
          <p:cNvSpPr txBox="1"/>
          <p:nvPr/>
        </p:nvSpPr>
        <p:spPr>
          <a:xfrm>
            <a:off x="3069279" y="2390264"/>
            <a:ext cx="19711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 : Event Report Send</a:t>
            </a:r>
            <a:endParaRPr lang="ko-KR" altLang="en-US" sz="1200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29C9EACC-720D-4738-BDAF-BDE419011BA5}"/>
              </a:ext>
            </a:extLst>
          </p:cNvPr>
          <p:cNvCxnSpPr>
            <a:cxnSpLocks/>
          </p:cNvCxnSpPr>
          <p:nvPr/>
        </p:nvCxnSpPr>
        <p:spPr>
          <a:xfrm>
            <a:off x="2080203" y="3000982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628EC2C-0F21-424B-A8A0-1EE4BA765E2F}"/>
              </a:ext>
            </a:extLst>
          </p:cNvPr>
          <p:cNvSpPr txBox="1"/>
          <p:nvPr/>
        </p:nvSpPr>
        <p:spPr>
          <a:xfrm>
            <a:off x="3037219" y="2702889"/>
            <a:ext cx="20353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EERS_R : Event Report Ack</a:t>
            </a:r>
            <a:endParaRPr lang="ko-KR" altLang="en-US" sz="1200" dirty="0"/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F55E84BF-4B89-43E5-B294-DF0F8E1EFD79}"/>
              </a:ext>
            </a:extLst>
          </p:cNvPr>
          <p:cNvCxnSpPr>
            <a:cxnSpLocks/>
          </p:cNvCxnSpPr>
          <p:nvPr/>
        </p:nvCxnSpPr>
        <p:spPr>
          <a:xfrm>
            <a:off x="2080203" y="3840338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75A0EC2C-F38F-48B4-BBC3-FA5255C82E4D}"/>
              </a:ext>
            </a:extLst>
          </p:cNvPr>
          <p:cNvSpPr txBox="1"/>
          <p:nvPr/>
        </p:nvSpPr>
        <p:spPr>
          <a:xfrm>
            <a:off x="3049113" y="3551611"/>
            <a:ext cx="20115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EPDS : Product Data Send</a:t>
            </a:r>
            <a:endParaRPr lang="ko-KR" altLang="en-US" sz="1200" dirty="0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CE330305-0FED-4CD3-80DB-C696BEFBBD0D}"/>
              </a:ext>
            </a:extLst>
          </p:cNvPr>
          <p:cNvCxnSpPr>
            <a:cxnSpLocks/>
          </p:cNvCxnSpPr>
          <p:nvPr/>
        </p:nvCxnSpPr>
        <p:spPr>
          <a:xfrm>
            <a:off x="2080203" y="4147599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35A8F4C-4CEB-48FD-AEED-A4295802CE0D}"/>
              </a:ext>
            </a:extLst>
          </p:cNvPr>
          <p:cNvSpPr txBox="1"/>
          <p:nvPr/>
        </p:nvSpPr>
        <p:spPr>
          <a:xfrm>
            <a:off x="3017053" y="3842997"/>
            <a:ext cx="20756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EPDS_R :</a:t>
            </a:r>
            <a:r>
              <a:rPr lang="ko-KR" altLang="en-US" sz="1200" dirty="0"/>
              <a:t> </a:t>
            </a:r>
            <a:r>
              <a:rPr lang="en-US" altLang="ko-KR" sz="1200" dirty="0"/>
              <a:t>Product Data Ack</a:t>
            </a:r>
            <a:endParaRPr lang="ko-KR" altLang="en-US" sz="1200" dirty="0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E0465D6E-9D17-40A8-9906-2CC6E7F3EDF3}"/>
              </a:ext>
            </a:extLst>
          </p:cNvPr>
          <p:cNvCxnSpPr>
            <a:cxnSpLocks/>
            <a:stCxn id="42" idx="3"/>
          </p:cNvCxnSpPr>
          <p:nvPr/>
        </p:nvCxnSpPr>
        <p:spPr>
          <a:xfrm>
            <a:off x="6899167" y="4625177"/>
            <a:ext cx="3064448" cy="15215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56918C11-476B-4410-B8A1-5DE15E918AE4}"/>
              </a:ext>
            </a:extLst>
          </p:cNvPr>
          <p:cNvSpPr txBox="1"/>
          <p:nvPr/>
        </p:nvSpPr>
        <p:spPr>
          <a:xfrm>
            <a:off x="6778518" y="4371318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No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A5F34E0-ADBC-4421-B748-E401828A6AAB}"/>
              </a:ext>
            </a:extLst>
          </p:cNvPr>
          <p:cNvSpPr txBox="1"/>
          <p:nvPr/>
        </p:nvSpPr>
        <p:spPr>
          <a:xfrm>
            <a:off x="7126314" y="4348887"/>
            <a:ext cx="26943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Model No Error OFF(D52001.2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36EC43F6-C1E7-4578-9601-C6EEDD51DB54}"/>
              </a:ext>
            </a:extLst>
          </p:cNvPr>
          <p:cNvCxnSpPr>
            <a:cxnSpLocks/>
          </p:cNvCxnSpPr>
          <p:nvPr/>
        </p:nvCxnSpPr>
        <p:spPr>
          <a:xfrm>
            <a:off x="6021909" y="6018536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6E0CB010-7DF4-41E0-828D-BC8B7EE35D10}"/>
              </a:ext>
            </a:extLst>
          </p:cNvPr>
          <p:cNvSpPr txBox="1"/>
          <p:nvPr/>
        </p:nvSpPr>
        <p:spPr>
          <a:xfrm>
            <a:off x="6784949" y="5739232"/>
            <a:ext cx="25636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투입보고 </a:t>
            </a:r>
            <a:r>
              <a:rPr lang="en-US" altLang="ko-KR" sz="1200" dirty="0"/>
              <a:t>Response(D52001.0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1C626636-AA06-4474-989C-8AA39FC530F0}"/>
              </a:ext>
            </a:extLst>
          </p:cNvPr>
          <p:cNvCxnSpPr>
            <a:cxnSpLocks/>
          </p:cNvCxnSpPr>
          <p:nvPr/>
        </p:nvCxnSpPr>
        <p:spPr>
          <a:xfrm>
            <a:off x="6021909" y="6395868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1B75E83-379D-4CB4-B85C-2E8A168D116B}"/>
              </a:ext>
            </a:extLst>
          </p:cNvPr>
          <p:cNvSpPr txBox="1"/>
          <p:nvPr/>
        </p:nvSpPr>
        <p:spPr>
          <a:xfrm>
            <a:off x="6790889" y="6092042"/>
            <a:ext cx="24931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투입보고 </a:t>
            </a:r>
            <a:r>
              <a:rPr lang="en-US" altLang="ko-KR" sz="1200" dirty="0"/>
              <a:t>Request(D53001.0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0B6DCE37-F217-4F10-8034-1BD7386C861C}"/>
              </a:ext>
            </a:extLst>
          </p:cNvPr>
          <p:cNvCxnSpPr>
            <a:cxnSpLocks/>
          </p:cNvCxnSpPr>
          <p:nvPr/>
        </p:nvCxnSpPr>
        <p:spPr>
          <a:xfrm>
            <a:off x="6021909" y="668613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058DACC-6358-4154-A178-F48ACA97EB86}"/>
              </a:ext>
            </a:extLst>
          </p:cNvPr>
          <p:cNvSpPr txBox="1"/>
          <p:nvPr/>
        </p:nvSpPr>
        <p:spPr>
          <a:xfrm>
            <a:off x="6766515" y="6406827"/>
            <a:ext cx="26005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투입보고 </a:t>
            </a:r>
            <a:r>
              <a:rPr lang="en-US" altLang="ko-KR" sz="1200" dirty="0"/>
              <a:t>Response(D52001.0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69" name="다이아몬드 68">
            <a:extLst>
              <a:ext uri="{FF2B5EF4-FFF2-40B4-BE49-F238E27FC236}">
                <a16:creationId xmlns:a16="http://schemas.microsoft.com/office/drawing/2014/main" id="{38CBC44A-B890-421F-B489-793AAA26B123}"/>
              </a:ext>
            </a:extLst>
          </p:cNvPr>
          <p:cNvSpPr/>
          <p:nvPr/>
        </p:nvSpPr>
        <p:spPr>
          <a:xfrm>
            <a:off x="4768605" y="3135625"/>
            <a:ext cx="2508496" cy="5253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Accepted?</a:t>
            </a:r>
            <a:endParaRPr lang="ko-KR" altLang="en-US" sz="16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00C0B02-E8F0-487F-910C-0A261C250382}"/>
              </a:ext>
            </a:extLst>
          </p:cNvPr>
          <p:cNvSpPr txBox="1"/>
          <p:nvPr/>
        </p:nvSpPr>
        <p:spPr>
          <a:xfrm>
            <a:off x="6778518" y="3095828"/>
            <a:ext cx="405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Yes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F15DA11-90EA-48A2-BC9A-10DEEDB691B0}"/>
              </a:ext>
            </a:extLst>
          </p:cNvPr>
          <p:cNvSpPr txBox="1"/>
          <p:nvPr/>
        </p:nvSpPr>
        <p:spPr>
          <a:xfrm>
            <a:off x="7201143" y="3111497"/>
            <a:ext cx="25447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Barcode Error OFF(D52001.7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246D31C-6E16-4EDD-AE0C-BFDFA375E56E}"/>
              </a:ext>
            </a:extLst>
          </p:cNvPr>
          <p:cNvSpPr txBox="1"/>
          <p:nvPr/>
        </p:nvSpPr>
        <p:spPr>
          <a:xfrm>
            <a:off x="4194734" y="1317535"/>
            <a:ext cx="2583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Error</a:t>
            </a:r>
            <a:r>
              <a:rPr lang="ko-KR" altLang="en-US" sz="1200" dirty="0"/>
              <a:t> 없이 정상적으로 투입된 경우</a:t>
            </a:r>
            <a:endParaRPr lang="en-US" altLang="ko-KR" sz="1200" dirty="0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84E96026-C894-4C87-9E67-16753E055C75}"/>
              </a:ext>
            </a:extLst>
          </p:cNvPr>
          <p:cNvCxnSpPr>
            <a:cxnSpLocks/>
          </p:cNvCxnSpPr>
          <p:nvPr/>
        </p:nvCxnSpPr>
        <p:spPr>
          <a:xfrm>
            <a:off x="6034449" y="5409798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9D5A264-4174-471B-8A5A-1E2D1D836A6B}"/>
              </a:ext>
            </a:extLst>
          </p:cNvPr>
          <p:cNvSpPr txBox="1"/>
          <p:nvPr/>
        </p:nvSpPr>
        <p:spPr>
          <a:xfrm>
            <a:off x="7155850" y="5121071"/>
            <a:ext cx="22669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MES </a:t>
            </a:r>
            <a:r>
              <a:rPr lang="ko-KR" altLang="en-US" sz="1200" dirty="0" err="1"/>
              <a:t>전검사</a:t>
            </a:r>
            <a:r>
              <a:rPr lang="ko-KR" altLang="en-US" sz="1200" dirty="0"/>
              <a:t> 결과 </a:t>
            </a:r>
            <a:r>
              <a:rPr lang="en-US" altLang="ko-KR" sz="1200" dirty="0"/>
              <a:t>(D39000 ~ )</a:t>
            </a:r>
            <a:endParaRPr lang="ko-KR" alt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698B80-EAEB-4DD7-9568-4F1642394ADD}"/>
              </a:ext>
            </a:extLst>
          </p:cNvPr>
          <p:cNvSpPr txBox="1"/>
          <p:nvPr/>
        </p:nvSpPr>
        <p:spPr>
          <a:xfrm>
            <a:off x="7201143" y="5423745"/>
            <a:ext cx="2114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(1=Pass, Rework = 2, NG = 3)</a:t>
            </a:r>
            <a:endParaRPr lang="ko-KR" altLang="en-US" sz="1100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FD3D30E0-2C46-42E2-AC75-DBC83111AB87}"/>
              </a:ext>
            </a:extLst>
          </p:cNvPr>
          <p:cNvSpPr/>
          <p:nvPr/>
        </p:nvSpPr>
        <p:spPr>
          <a:xfrm>
            <a:off x="5143239" y="4920286"/>
            <a:ext cx="1761333" cy="35511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GMES </a:t>
            </a:r>
            <a:r>
              <a:rPr lang="ko-KR" altLang="en-US" sz="1000" dirty="0" err="1"/>
              <a:t>전검사</a:t>
            </a:r>
            <a:r>
              <a:rPr lang="ko-KR" altLang="en-US" sz="1000" dirty="0"/>
              <a:t> 결과 저장</a:t>
            </a:r>
            <a:endParaRPr lang="en-US" altLang="ko-KR" sz="1000" dirty="0"/>
          </a:p>
          <a:p>
            <a:pPr algn="ctr"/>
            <a:r>
              <a:rPr lang="en-US" altLang="ko-KR" sz="1000" dirty="0"/>
              <a:t>(1,2,3 </a:t>
            </a:r>
            <a:r>
              <a:rPr lang="ko-KR" altLang="en-US" sz="1000" dirty="0"/>
              <a:t>호기</a:t>
            </a:r>
            <a:r>
              <a:rPr lang="en-US" altLang="ko-KR" sz="1000" dirty="0"/>
              <a:t> 4,5,6 </a:t>
            </a:r>
            <a:r>
              <a:rPr lang="ko-KR" altLang="en-US" sz="1000" dirty="0"/>
              <a:t>호기 구분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D12682D-0567-4BAC-A117-9C768DA086D1}"/>
              </a:ext>
            </a:extLst>
          </p:cNvPr>
          <p:cNvSpPr/>
          <p:nvPr/>
        </p:nvSpPr>
        <p:spPr>
          <a:xfrm>
            <a:off x="5040461" y="4869119"/>
            <a:ext cx="5170338" cy="867808"/>
          </a:xfrm>
          <a:prstGeom prst="roundRect">
            <a:avLst>
              <a:gd name="adj" fmla="val 10081"/>
            </a:avLst>
          </a:prstGeom>
          <a:noFill/>
          <a:ln w="412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D74F19-00B2-4C4E-BA37-071FAD06F2A7}"/>
              </a:ext>
            </a:extLst>
          </p:cNvPr>
          <p:cNvSpPr txBox="1"/>
          <p:nvPr/>
        </p:nvSpPr>
        <p:spPr>
          <a:xfrm>
            <a:off x="10209003" y="485044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신규추가</a:t>
            </a:r>
          </a:p>
        </p:txBody>
      </p:sp>
    </p:spTree>
    <p:extLst>
      <p:ext uri="{BB962C8B-B14F-4D97-AF65-F5344CB8AC3E}">
        <p14:creationId xmlns:p14="http://schemas.microsoft.com/office/powerpoint/2010/main" val="13369398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3" y="514769"/>
            <a:ext cx="9573983" cy="562057"/>
          </a:xfrm>
        </p:spPr>
        <p:txBody>
          <a:bodyPr>
            <a:noAutofit/>
          </a:bodyPr>
          <a:lstStyle/>
          <a:p>
            <a:r>
              <a:rPr lang="ko-KR" altLang="en-US" sz="2400" dirty="0" err="1"/>
              <a:t>스테이터</a:t>
            </a:r>
            <a:r>
              <a:rPr lang="ko-KR" altLang="en-US" sz="2400" dirty="0"/>
              <a:t> 투입보고 </a:t>
            </a:r>
            <a:r>
              <a:rPr lang="en-US" altLang="ko-KR" sz="2400" dirty="0"/>
              <a:t>–Abnormal Case(GMES Barcode Error)</a:t>
            </a:r>
            <a:endParaRPr lang="ko-KR" altLang="en-US" sz="2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080201" y="2297153"/>
            <a:ext cx="1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635957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809322" y="2332131"/>
            <a:ext cx="24562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투입보고 </a:t>
            </a:r>
            <a:r>
              <a:rPr lang="en-US" altLang="ko-KR" sz="1200" dirty="0"/>
              <a:t>Request(D53001.0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F8D2092A-D040-5656-482C-8F7E734E19AD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82576E91-6A8F-3D47-1D40-72E246279FD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9B6D8FD9-CAB3-8ABC-D4B9-5FC3ADF854B8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9FD6F179-2308-612E-6B0A-737C3CBB5D12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9F631A3-1D01-F946-27DA-C0CF51B5E6EF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A7426C5-1778-FD9F-CE51-75C8F9E337EB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CE7440B-A33B-4D5D-8589-CB1DC827AF45}"/>
              </a:ext>
            </a:extLst>
          </p:cNvPr>
          <p:cNvCxnSpPr>
            <a:cxnSpLocks/>
          </p:cNvCxnSpPr>
          <p:nvPr/>
        </p:nvCxnSpPr>
        <p:spPr>
          <a:xfrm>
            <a:off x="2080203" y="2775944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26E06F7-623F-4844-B264-2E59AE951CDA}"/>
              </a:ext>
            </a:extLst>
          </p:cNvPr>
          <p:cNvSpPr txBox="1"/>
          <p:nvPr/>
        </p:nvSpPr>
        <p:spPr>
          <a:xfrm>
            <a:off x="3069279" y="2456939"/>
            <a:ext cx="19711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 : Event Report Send</a:t>
            </a:r>
            <a:endParaRPr lang="ko-KR" altLang="en-US" sz="1200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29C9EACC-720D-4738-BDAF-BDE419011BA5}"/>
              </a:ext>
            </a:extLst>
          </p:cNvPr>
          <p:cNvCxnSpPr>
            <a:cxnSpLocks/>
          </p:cNvCxnSpPr>
          <p:nvPr/>
        </p:nvCxnSpPr>
        <p:spPr>
          <a:xfrm>
            <a:off x="2080203" y="3067657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628EC2C-0F21-424B-A8A0-1EE4BA765E2F}"/>
              </a:ext>
            </a:extLst>
          </p:cNvPr>
          <p:cNvSpPr txBox="1"/>
          <p:nvPr/>
        </p:nvSpPr>
        <p:spPr>
          <a:xfrm>
            <a:off x="3037219" y="2769564"/>
            <a:ext cx="20353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EERS_R : Event Report Ack</a:t>
            </a:r>
            <a:endParaRPr lang="ko-KR" altLang="en-US" sz="1200" dirty="0"/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36EC43F6-C1E7-4578-9601-C6EEDD51DB54}"/>
              </a:ext>
            </a:extLst>
          </p:cNvPr>
          <p:cNvCxnSpPr>
            <a:cxnSpLocks/>
          </p:cNvCxnSpPr>
          <p:nvPr/>
        </p:nvCxnSpPr>
        <p:spPr>
          <a:xfrm>
            <a:off x="6021909" y="475487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6E0CB010-7DF4-41E0-828D-BC8B7EE35D10}"/>
              </a:ext>
            </a:extLst>
          </p:cNvPr>
          <p:cNvSpPr txBox="1"/>
          <p:nvPr/>
        </p:nvSpPr>
        <p:spPr>
          <a:xfrm>
            <a:off x="6784949" y="4475567"/>
            <a:ext cx="25636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투입보고 </a:t>
            </a:r>
            <a:r>
              <a:rPr lang="en-US" altLang="ko-KR" sz="1200" dirty="0"/>
              <a:t>Response(D52001.0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1C626636-AA06-4474-989C-8AA39FC530F0}"/>
              </a:ext>
            </a:extLst>
          </p:cNvPr>
          <p:cNvCxnSpPr>
            <a:cxnSpLocks/>
          </p:cNvCxnSpPr>
          <p:nvPr/>
        </p:nvCxnSpPr>
        <p:spPr>
          <a:xfrm>
            <a:off x="6021909" y="5141728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1B75E83-379D-4CB4-B85C-2E8A168D116B}"/>
              </a:ext>
            </a:extLst>
          </p:cNvPr>
          <p:cNvSpPr txBox="1"/>
          <p:nvPr/>
        </p:nvSpPr>
        <p:spPr>
          <a:xfrm>
            <a:off x="6790889" y="4837902"/>
            <a:ext cx="24931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투입보고 </a:t>
            </a:r>
            <a:r>
              <a:rPr lang="en-US" altLang="ko-KR" sz="1200" dirty="0"/>
              <a:t>Request(D53001.0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0B6DCE37-F217-4F10-8034-1BD7386C861C}"/>
              </a:ext>
            </a:extLst>
          </p:cNvPr>
          <p:cNvCxnSpPr>
            <a:cxnSpLocks/>
          </p:cNvCxnSpPr>
          <p:nvPr/>
        </p:nvCxnSpPr>
        <p:spPr>
          <a:xfrm>
            <a:off x="6021909" y="550819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058DACC-6358-4154-A178-F48ACA97EB86}"/>
              </a:ext>
            </a:extLst>
          </p:cNvPr>
          <p:cNvSpPr txBox="1"/>
          <p:nvPr/>
        </p:nvSpPr>
        <p:spPr>
          <a:xfrm>
            <a:off x="6766515" y="5228887"/>
            <a:ext cx="26005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투입보고 </a:t>
            </a:r>
            <a:r>
              <a:rPr lang="en-US" altLang="ko-KR" sz="1200" dirty="0"/>
              <a:t>Response(D52001.0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69" name="다이아몬드 68">
            <a:extLst>
              <a:ext uri="{FF2B5EF4-FFF2-40B4-BE49-F238E27FC236}">
                <a16:creationId xmlns:a16="http://schemas.microsoft.com/office/drawing/2014/main" id="{38CBC44A-B890-421F-B489-793AAA26B123}"/>
              </a:ext>
            </a:extLst>
          </p:cNvPr>
          <p:cNvSpPr/>
          <p:nvPr/>
        </p:nvSpPr>
        <p:spPr>
          <a:xfrm>
            <a:off x="4768605" y="3202300"/>
            <a:ext cx="2508496" cy="5253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Accepted?</a:t>
            </a:r>
            <a:endParaRPr lang="ko-KR" altLang="en-US" sz="16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A9E7F7C-C70F-4B4A-87EF-F8616F8FF6B0}"/>
              </a:ext>
            </a:extLst>
          </p:cNvPr>
          <p:cNvSpPr txBox="1"/>
          <p:nvPr/>
        </p:nvSpPr>
        <p:spPr>
          <a:xfrm>
            <a:off x="6475015" y="3572016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No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4C2BEE90-D12A-4EE3-9354-8571B08FD595}"/>
              </a:ext>
            </a:extLst>
          </p:cNvPr>
          <p:cNvCxnSpPr>
            <a:cxnSpLocks/>
          </p:cNvCxnSpPr>
          <p:nvPr/>
        </p:nvCxnSpPr>
        <p:spPr>
          <a:xfrm>
            <a:off x="6021909" y="382210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387E507-74B8-4A64-B858-65ED3C418C36}"/>
              </a:ext>
            </a:extLst>
          </p:cNvPr>
          <p:cNvSpPr txBox="1"/>
          <p:nvPr/>
        </p:nvSpPr>
        <p:spPr>
          <a:xfrm>
            <a:off x="7399925" y="3556915"/>
            <a:ext cx="21808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Barcode Error(D52001.7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ECA188-F486-4260-B9D9-1DC2D9B5CE77}"/>
              </a:ext>
            </a:extLst>
          </p:cNvPr>
          <p:cNvSpPr txBox="1"/>
          <p:nvPr/>
        </p:nvSpPr>
        <p:spPr>
          <a:xfrm>
            <a:off x="10127260" y="4475567"/>
            <a:ext cx="20420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PLC </a:t>
            </a:r>
            <a:r>
              <a:rPr lang="ko-KR" altLang="en-US" sz="1200" dirty="0"/>
              <a:t>터치에 </a:t>
            </a:r>
            <a:r>
              <a:rPr lang="ko-KR" altLang="en-US" sz="1200" dirty="0" err="1"/>
              <a:t>알람신호</a:t>
            </a:r>
            <a:r>
              <a:rPr lang="ko-KR" altLang="en-US" sz="1200" dirty="0"/>
              <a:t> 표시 </a:t>
            </a:r>
            <a:endParaRPr lang="en-US" altLang="ko-KR" sz="1200" dirty="0"/>
          </a:p>
          <a:p>
            <a:r>
              <a:rPr lang="ko-KR" altLang="en-US" sz="1200" dirty="0"/>
              <a:t>및 진행여부 판단을 위해</a:t>
            </a:r>
            <a:r>
              <a:rPr lang="en-US" altLang="ko-KR" sz="1200" dirty="0"/>
              <a:t>,</a:t>
            </a:r>
          </a:p>
          <a:p>
            <a:r>
              <a:rPr lang="en-US" altLang="ko-KR" sz="1200" dirty="0"/>
              <a:t>Error </a:t>
            </a:r>
            <a:r>
              <a:rPr lang="ko-KR" altLang="en-US" sz="1200" dirty="0"/>
              <a:t>신호 </a:t>
            </a:r>
            <a:r>
              <a:rPr lang="en-US" altLang="ko-KR" sz="1200" dirty="0"/>
              <a:t>ON </a:t>
            </a:r>
            <a:r>
              <a:rPr lang="ko-KR" altLang="en-US" sz="1200" dirty="0"/>
              <a:t>이후</a:t>
            </a:r>
            <a:r>
              <a:rPr lang="en-US" altLang="ko-KR" sz="1200" dirty="0"/>
              <a:t>, </a:t>
            </a:r>
          </a:p>
          <a:p>
            <a:r>
              <a:rPr lang="ko-KR" altLang="en-US" sz="1200" dirty="0"/>
              <a:t>투입보고 </a:t>
            </a:r>
            <a:r>
              <a:rPr lang="en-US" altLang="ko-KR" sz="1200" dirty="0"/>
              <a:t>Response ON</a:t>
            </a:r>
            <a:endParaRPr lang="ko-KR" altLang="en-US" sz="1200" dirty="0"/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35AECDB9-3D36-428F-8BF3-102F6B63999A}"/>
              </a:ext>
            </a:extLst>
          </p:cNvPr>
          <p:cNvSpPr/>
          <p:nvPr/>
        </p:nvSpPr>
        <p:spPr>
          <a:xfrm>
            <a:off x="2264266" y="3898500"/>
            <a:ext cx="3464835" cy="58031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Event Report Ack</a:t>
            </a:r>
            <a:r>
              <a:rPr lang="ko-KR" altLang="en-US" sz="1050" dirty="0"/>
              <a:t>에서 </a:t>
            </a:r>
            <a:r>
              <a:rPr lang="en-US" altLang="ko-KR" sz="1050" dirty="0"/>
              <a:t>Not Accepted</a:t>
            </a:r>
            <a:r>
              <a:rPr lang="ko-KR" altLang="en-US" sz="1050" dirty="0"/>
              <a:t>일 경우</a:t>
            </a:r>
            <a:r>
              <a:rPr lang="en-US" altLang="ko-KR" sz="1050" dirty="0"/>
              <a:t>,</a:t>
            </a:r>
          </a:p>
          <a:p>
            <a:r>
              <a:rPr lang="en-US" altLang="ko-KR" sz="1050" dirty="0"/>
              <a:t>EPDS(Product Data Send) </a:t>
            </a:r>
            <a:r>
              <a:rPr lang="ko-KR" altLang="en-US" sz="1050" dirty="0"/>
              <a:t>메시지는 들어오지 않는다</a:t>
            </a:r>
            <a:r>
              <a:rPr lang="en-US" altLang="ko-KR" sz="1050" dirty="0"/>
              <a:t>.</a:t>
            </a:r>
            <a:endParaRPr lang="ko-KR" altLang="en-US" sz="105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BD02892-2549-487C-BC9E-412DA6DE0428}"/>
              </a:ext>
            </a:extLst>
          </p:cNvPr>
          <p:cNvSpPr txBox="1"/>
          <p:nvPr/>
        </p:nvSpPr>
        <p:spPr>
          <a:xfrm>
            <a:off x="4159477" y="1146658"/>
            <a:ext cx="5420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투입보고 하였으나</a:t>
            </a:r>
            <a:r>
              <a:rPr lang="en-US" altLang="ko-KR" sz="1200" dirty="0"/>
              <a:t>, GMES </a:t>
            </a:r>
            <a:r>
              <a:rPr lang="ko-KR" altLang="en-US" sz="1200" dirty="0"/>
              <a:t>서버에서 </a:t>
            </a:r>
            <a:r>
              <a:rPr lang="en-US" altLang="ko-KR" sz="1200" dirty="0"/>
              <a:t>Ack</a:t>
            </a:r>
            <a:r>
              <a:rPr lang="ko-KR" altLang="en-US" sz="1200" dirty="0"/>
              <a:t>신호로 </a:t>
            </a:r>
            <a:r>
              <a:rPr lang="en-US" altLang="ko-KR" sz="1200" dirty="0"/>
              <a:t>“Not Accepted”</a:t>
            </a:r>
            <a:r>
              <a:rPr lang="ko-KR" altLang="en-US" sz="1200" dirty="0"/>
              <a:t>가 왔을 경우</a:t>
            </a:r>
            <a:endParaRPr lang="en-US" altLang="ko-KR" sz="1200" dirty="0"/>
          </a:p>
          <a:p>
            <a:r>
              <a:rPr lang="en-US" altLang="ko-KR" sz="1200" dirty="0"/>
              <a:t>PLC </a:t>
            </a:r>
            <a:r>
              <a:rPr lang="ko-KR" altLang="en-US" sz="1200" dirty="0"/>
              <a:t>터치 화면에 </a:t>
            </a:r>
            <a:r>
              <a:rPr lang="en-US" altLang="ko-KR" sz="1200" dirty="0"/>
              <a:t>Error </a:t>
            </a:r>
            <a:r>
              <a:rPr lang="ko-KR" altLang="en-US" sz="1200" dirty="0"/>
              <a:t>표시하고</a:t>
            </a:r>
            <a:r>
              <a:rPr lang="en-US" altLang="ko-KR" sz="1200" dirty="0"/>
              <a:t>, </a:t>
            </a:r>
            <a:r>
              <a:rPr lang="ko-KR" altLang="en-US" sz="1200" dirty="0"/>
              <a:t>재시도 할지</a:t>
            </a:r>
            <a:r>
              <a:rPr lang="en-US" altLang="ko-KR" sz="1200" dirty="0"/>
              <a:t>? Pass</a:t>
            </a:r>
            <a:r>
              <a:rPr lang="ko-KR" altLang="en-US" sz="1200" dirty="0"/>
              <a:t>할지</a:t>
            </a:r>
            <a:r>
              <a:rPr lang="en-US" altLang="ko-KR" sz="1200" dirty="0"/>
              <a:t>? </a:t>
            </a:r>
            <a:r>
              <a:rPr lang="ko-KR" altLang="en-US" sz="1200" dirty="0"/>
              <a:t>결정</a:t>
            </a:r>
            <a:endParaRPr lang="en-US" altLang="ko-KR" sz="1200" dirty="0"/>
          </a:p>
          <a:p>
            <a:r>
              <a:rPr lang="en-US" altLang="ko-KR" sz="1200" dirty="0"/>
              <a:t>Pass</a:t>
            </a:r>
            <a:r>
              <a:rPr lang="ko-KR" altLang="en-US" sz="1200" dirty="0"/>
              <a:t>의 경우</a:t>
            </a:r>
            <a:r>
              <a:rPr lang="en-US" altLang="ko-KR" sz="1200" dirty="0"/>
              <a:t>, “Pass </a:t>
            </a:r>
            <a:r>
              <a:rPr lang="ko-KR" altLang="en-US" sz="1200" dirty="0"/>
              <a:t>시나리오 참고</a:t>
            </a:r>
            <a:r>
              <a:rPr lang="en-US" altLang="ko-KR" sz="1200" dirty="0"/>
              <a:t>”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A582597E-1497-44C1-BD78-402D0CD8770D}"/>
              </a:ext>
            </a:extLst>
          </p:cNvPr>
          <p:cNvSpPr/>
          <p:nvPr/>
        </p:nvSpPr>
        <p:spPr>
          <a:xfrm>
            <a:off x="8575869" y="5632164"/>
            <a:ext cx="2775490" cy="93746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PLC</a:t>
            </a:r>
            <a:r>
              <a:rPr lang="ko-KR" altLang="en-US" sz="1050" dirty="0"/>
              <a:t> </a:t>
            </a:r>
            <a:r>
              <a:rPr lang="en-US" altLang="ko-KR" sz="1050" dirty="0"/>
              <a:t>Touch </a:t>
            </a:r>
            <a:r>
              <a:rPr lang="ko-KR" altLang="en-US" sz="1050" dirty="0"/>
              <a:t>화면에 </a:t>
            </a:r>
            <a:r>
              <a:rPr lang="en-US" altLang="ko-KR" sz="1050" dirty="0"/>
              <a:t>Error </a:t>
            </a:r>
            <a:r>
              <a:rPr lang="ko-KR" altLang="en-US" sz="1050" dirty="0"/>
              <a:t>화면 표시</a:t>
            </a:r>
            <a:r>
              <a:rPr lang="en-US" altLang="ko-KR" sz="1050" dirty="0"/>
              <a:t>.</a:t>
            </a:r>
          </a:p>
          <a:p>
            <a:r>
              <a:rPr lang="en-US" altLang="ko-KR" sz="1050" dirty="0"/>
              <a:t>“</a:t>
            </a:r>
            <a:r>
              <a:rPr lang="ko-KR" altLang="en-US" sz="1050" dirty="0"/>
              <a:t>재시도</a:t>
            </a:r>
            <a:r>
              <a:rPr lang="en-US" altLang="ko-KR" sz="1050" dirty="0"/>
              <a:t>”</a:t>
            </a:r>
            <a:r>
              <a:rPr lang="ko-KR" altLang="en-US" sz="1050" dirty="0"/>
              <a:t> </a:t>
            </a:r>
            <a:r>
              <a:rPr lang="en-US" altLang="ko-KR" sz="1050" dirty="0"/>
              <a:t>/ “Pass” / “</a:t>
            </a:r>
            <a:r>
              <a:rPr lang="ko-KR" altLang="en-US" sz="1050" dirty="0"/>
              <a:t>수동조작</a:t>
            </a:r>
            <a:r>
              <a:rPr lang="en-US" altLang="ko-KR" sz="1050" dirty="0"/>
              <a:t>”</a:t>
            </a:r>
            <a:r>
              <a:rPr lang="ko-KR" altLang="en-US" sz="1050" dirty="0"/>
              <a:t> 중 선택</a:t>
            </a:r>
            <a:r>
              <a:rPr lang="en-US" altLang="ko-KR" sz="1050" dirty="0"/>
              <a:t>.</a:t>
            </a:r>
          </a:p>
          <a:p>
            <a:endParaRPr lang="en-US" altLang="ko-KR" sz="1050" dirty="0"/>
          </a:p>
          <a:p>
            <a:r>
              <a:rPr lang="ko-KR" altLang="en-US" sz="1050" dirty="0"/>
              <a:t>재시도를 선택할 경우</a:t>
            </a:r>
            <a:r>
              <a:rPr lang="en-US" altLang="ko-KR" sz="1050" dirty="0"/>
              <a:t>, </a:t>
            </a:r>
            <a:r>
              <a:rPr lang="ko-KR" altLang="en-US" sz="1050" dirty="0"/>
              <a:t>투입보고부터 다시</a:t>
            </a:r>
            <a:r>
              <a:rPr lang="en-US" altLang="ko-KR" sz="1050" dirty="0"/>
              <a:t>,</a:t>
            </a:r>
          </a:p>
          <a:p>
            <a:r>
              <a:rPr lang="en-US" altLang="ko-KR" sz="1050" dirty="0"/>
              <a:t>PASS</a:t>
            </a:r>
            <a:r>
              <a:rPr lang="ko-KR" altLang="en-US" sz="1050" dirty="0"/>
              <a:t>의 경우</a:t>
            </a:r>
            <a:r>
              <a:rPr lang="en-US" altLang="ko-KR" sz="1050" dirty="0"/>
              <a:t>, Pass Case </a:t>
            </a:r>
            <a:r>
              <a:rPr lang="ko-KR" altLang="en-US" sz="1050" dirty="0"/>
              <a:t>시나리오 참고</a:t>
            </a:r>
            <a:r>
              <a:rPr lang="en-US" altLang="ko-KR" sz="1050" dirty="0"/>
              <a:t>.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34854188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DA7C6F15-F20A-427E-BBF0-B29C4A6C71E7}"/>
              </a:ext>
            </a:extLst>
          </p:cNvPr>
          <p:cNvCxnSpPr>
            <a:cxnSpLocks/>
          </p:cNvCxnSpPr>
          <p:nvPr/>
        </p:nvCxnSpPr>
        <p:spPr>
          <a:xfrm>
            <a:off x="6899167" y="3454462"/>
            <a:ext cx="3064448" cy="15215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3" y="514769"/>
            <a:ext cx="9573983" cy="562057"/>
          </a:xfrm>
        </p:spPr>
        <p:txBody>
          <a:bodyPr>
            <a:noAutofit/>
          </a:bodyPr>
          <a:lstStyle/>
          <a:p>
            <a:r>
              <a:rPr lang="ko-KR" altLang="en-US" sz="2400" dirty="0" err="1"/>
              <a:t>스테이터</a:t>
            </a:r>
            <a:r>
              <a:rPr lang="ko-KR" altLang="en-US" sz="2400" dirty="0"/>
              <a:t> 투입보고 </a:t>
            </a:r>
            <a:r>
              <a:rPr lang="en-US" altLang="ko-KR" sz="2400" dirty="0"/>
              <a:t>–Abnormal Case(Stator Model Error)</a:t>
            </a:r>
            <a:endParaRPr lang="ko-KR" altLang="en-US" sz="2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080201" y="2297153"/>
            <a:ext cx="1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635957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809322" y="2332131"/>
            <a:ext cx="24562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투입보고 </a:t>
            </a:r>
            <a:r>
              <a:rPr lang="en-US" altLang="ko-KR" sz="1200" dirty="0"/>
              <a:t>Request(D53001.0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42" name="다이아몬드 41">
            <a:extLst>
              <a:ext uri="{FF2B5EF4-FFF2-40B4-BE49-F238E27FC236}">
                <a16:creationId xmlns:a16="http://schemas.microsoft.com/office/drawing/2014/main" id="{5E3C6343-7471-0A19-186D-7A33C0E02A04}"/>
              </a:ext>
            </a:extLst>
          </p:cNvPr>
          <p:cNvSpPr/>
          <p:nvPr/>
        </p:nvSpPr>
        <p:spPr>
          <a:xfrm>
            <a:off x="5146538" y="4430451"/>
            <a:ext cx="1752629" cy="487368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Error?</a:t>
            </a:r>
            <a:endParaRPr lang="ko-KR" altLang="en-US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4A743804-EE77-D65D-263E-1FDFB0C53B61}"/>
              </a:ext>
            </a:extLst>
          </p:cNvPr>
          <p:cNvSpPr/>
          <p:nvPr/>
        </p:nvSpPr>
        <p:spPr>
          <a:xfrm>
            <a:off x="6328170" y="3893746"/>
            <a:ext cx="3350342" cy="58031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Error </a:t>
            </a:r>
            <a:r>
              <a:rPr lang="ko-KR" altLang="en-US" sz="1050" dirty="0"/>
              <a:t>판단 기준</a:t>
            </a:r>
            <a:endParaRPr lang="en-US" altLang="ko-KR" sz="1050" dirty="0"/>
          </a:p>
          <a:p>
            <a:r>
              <a:rPr lang="en-US" altLang="ko-KR" sz="1050" dirty="0"/>
              <a:t>: </a:t>
            </a:r>
            <a:r>
              <a:rPr lang="ko-KR" altLang="en-US" sz="1050" dirty="0" err="1"/>
              <a:t>스테이터</a:t>
            </a:r>
            <a:r>
              <a:rPr lang="ko-KR" altLang="en-US" sz="1050" dirty="0"/>
              <a:t> 모델명이 현재 </a:t>
            </a:r>
            <a:r>
              <a:rPr lang="en-US" altLang="ko-KR" sz="1050" dirty="0"/>
              <a:t>PLC </a:t>
            </a:r>
            <a:r>
              <a:rPr lang="ko-KR" altLang="en-US" sz="1050" dirty="0"/>
              <a:t>설정과 </a:t>
            </a:r>
            <a:r>
              <a:rPr lang="ko-KR" altLang="en-US" sz="1050" dirty="0" err="1"/>
              <a:t>같은지</a:t>
            </a:r>
            <a:r>
              <a:rPr lang="ko-KR" altLang="en-US" sz="1050" dirty="0"/>
              <a:t> 판단</a:t>
            </a:r>
            <a:endParaRPr lang="en-US" altLang="ko-KR" sz="1050" dirty="0"/>
          </a:p>
          <a:p>
            <a:r>
              <a:rPr lang="en-US" altLang="ko-KR" sz="1050" dirty="0"/>
              <a:t>(77 Model or 76 Model)</a:t>
            </a:r>
            <a:endParaRPr lang="ko-KR" altLang="en-US" sz="105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5DB1358-5A3F-B73C-6502-F7083FF50806}"/>
              </a:ext>
            </a:extLst>
          </p:cNvPr>
          <p:cNvSpPr txBox="1"/>
          <p:nvPr/>
        </p:nvSpPr>
        <p:spPr>
          <a:xfrm>
            <a:off x="6042691" y="4837427"/>
            <a:ext cx="405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Yes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9DB2888A-DAE6-A4ED-6C91-B50F6281DBA1}"/>
              </a:ext>
            </a:extLst>
          </p:cNvPr>
          <p:cNvCxnSpPr>
            <a:cxnSpLocks/>
          </p:cNvCxnSpPr>
          <p:nvPr/>
        </p:nvCxnSpPr>
        <p:spPr>
          <a:xfrm>
            <a:off x="6021909" y="509759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9ADCA69-7CA1-DE63-C449-DA2D0A322EEE}"/>
              </a:ext>
            </a:extLst>
          </p:cNvPr>
          <p:cNvSpPr txBox="1"/>
          <p:nvPr/>
        </p:nvSpPr>
        <p:spPr>
          <a:xfrm>
            <a:off x="6925045" y="4775255"/>
            <a:ext cx="2330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Model No Error(D52001.2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F8D2092A-D040-5656-482C-8F7E734E19AD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82576E91-6A8F-3D47-1D40-72E246279FD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9B6D8FD9-CAB3-8ABC-D4B9-5FC3ADF854B8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9FD6F179-2308-612E-6B0A-737C3CBB5D12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9F631A3-1D01-F946-27DA-C0CF51B5E6EF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A7426C5-1778-FD9F-CE51-75C8F9E337EB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CE7440B-A33B-4D5D-8589-CB1DC827AF45}"/>
              </a:ext>
            </a:extLst>
          </p:cNvPr>
          <p:cNvCxnSpPr>
            <a:cxnSpLocks/>
          </p:cNvCxnSpPr>
          <p:nvPr/>
        </p:nvCxnSpPr>
        <p:spPr>
          <a:xfrm>
            <a:off x="2080203" y="2775944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26E06F7-623F-4844-B264-2E59AE951CDA}"/>
              </a:ext>
            </a:extLst>
          </p:cNvPr>
          <p:cNvSpPr txBox="1"/>
          <p:nvPr/>
        </p:nvSpPr>
        <p:spPr>
          <a:xfrm>
            <a:off x="3069279" y="2456939"/>
            <a:ext cx="19711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 : Event Report Send</a:t>
            </a:r>
            <a:endParaRPr lang="ko-KR" altLang="en-US" sz="1200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29C9EACC-720D-4738-BDAF-BDE419011BA5}"/>
              </a:ext>
            </a:extLst>
          </p:cNvPr>
          <p:cNvCxnSpPr>
            <a:cxnSpLocks/>
          </p:cNvCxnSpPr>
          <p:nvPr/>
        </p:nvCxnSpPr>
        <p:spPr>
          <a:xfrm>
            <a:off x="2080203" y="3067657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628EC2C-0F21-424B-A8A0-1EE4BA765E2F}"/>
              </a:ext>
            </a:extLst>
          </p:cNvPr>
          <p:cNvSpPr txBox="1"/>
          <p:nvPr/>
        </p:nvSpPr>
        <p:spPr>
          <a:xfrm>
            <a:off x="3037219" y="2769564"/>
            <a:ext cx="20353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EERS_R : Event Report Ack</a:t>
            </a:r>
            <a:endParaRPr lang="ko-KR" altLang="en-US" sz="1200" dirty="0"/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F55E84BF-4B89-43E5-B294-DF0F8E1EFD79}"/>
              </a:ext>
            </a:extLst>
          </p:cNvPr>
          <p:cNvCxnSpPr>
            <a:cxnSpLocks/>
          </p:cNvCxnSpPr>
          <p:nvPr/>
        </p:nvCxnSpPr>
        <p:spPr>
          <a:xfrm>
            <a:off x="2080203" y="3992738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75A0EC2C-F38F-48B4-BBC3-FA5255C82E4D}"/>
              </a:ext>
            </a:extLst>
          </p:cNvPr>
          <p:cNvSpPr txBox="1"/>
          <p:nvPr/>
        </p:nvSpPr>
        <p:spPr>
          <a:xfrm>
            <a:off x="3049113" y="3704011"/>
            <a:ext cx="20115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EPDS : Product Data Send</a:t>
            </a:r>
            <a:endParaRPr lang="ko-KR" altLang="en-US" sz="1200" dirty="0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CE330305-0FED-4CD3-80DB-C696BEFBBD0D}"/>
              </a:ext>
            </a:extLst>
          </p:cNvPr>
          <p:cNvCxnSpPr>
            <a:cxnSpLocks/>
          </p:cNvCxnSpPr>
          <p:nvPr/>
        </p:nvCxnSpPr>
        <p:spPr>
          <a:xfrm>
            <a:off x="2080203" y="4299999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35A8F4C-4CEB-48FD-AEED-A4295802CE0D}"/>
              </a:ext>
            </a:extLst>
          </p:cNvPr>
          <p:cNvSpPr txBox="1"/>
          <p:nvPr/>
        </p:nvSpPr>
        <p:spPr>
          <a:xfrm>
            <a:off x="3017053" y="3995397"/>
            <a:ext cx="20756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EPDS_R :</a:t>
            </a:r>
            <a:r>
              <a:rPr lang="ko-KR" altLang="en-US" sz="1200" dirty="0"/>
              <a:t> </a:t>
            </a:r>
            <a:r>
              <a:rPr lang="en-US" altLang="ko-KR" sz="1200" dirty="0"/>
              <a:t>Product Data Ack</a:t>
            </a:r>
            <a:endParaRPr lang="ko-KR" altLang="en-US" sz="1200" dirty="0"/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36EC43F6-C1E7-4578-9601-C6EEDD51DB54}"/>
              </a:ext>
            </a:extLst>
          </p:cNvPr>
          <p:cNvCxnSpPr>
            <a:cxnSpLocks/>
          </p:cNvCxnSpPr>
          <p:nvPr/>
        </p:nvCxnSpPr>
        <p:spPr>
          <a:xfrm>
            <a:off x="6021909" y="5436158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6E0CB010-7DF4-41E0-828D-BC8B7EE35D10}"/>
              </a:ext>
            </a:extLst>
          </p:cNvPr>
          <p:cNvSpPr txBox="1"/>
          <p:nvPr/>
        </p:nvSpPr>
        <p:spPr>
          <a:xfrm>
            <a:off x="6784949" y="5156854"/>
            <a:ext cx="25636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투입보고 </a:t>
            </a:r>
            <a:r>
              <a:rPr lang="en-US" altLang="ko-KR" sz="1200" dirty="0"/>
              <a:t>Response(D52001.0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1C626636-AA06-4474-989C-8AA39FC530F0}"/>
              </a:ext>
            </a:extLst>
          </p:cNvPr>
          <p:cNvCxnSpPr>
            <a:cxnSpLocks/>
          </p:cNvCxnSpPr>
          <p:nvPr/>
        </p:nvCxnSpPr>
        <p:spPr>
          <a:xfrm>
            <a:off x="6021909" y="5823015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1B75E83-379D-4CB4-B85C-2E8A168D116B}"/>
              </a:ext>
            </a:extLst>
          </p:cNvPr>
          <p:cNvSpPr txBox="1"/>
          <p:nvPr/>
        </p:nvSpPr>
        <p:spPr>
          <a:xfrm>
            <a:off x="6790889" y="5519189"/>
            <a:ext cx="24931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투입보고 </a:t>
            </a:r>
            <a:r>
              <a:rPr lang="en-US" altLang="ko-KR" sz="1200" dirty="0"/>
              <a:t>Request(D53001.0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0B6DCE37-F217-4F10-8034-1BD7386C861C}"/>
              </a:ext>
            </a:extLst>
          </p:cNvPr>
          <p:cNvCxnSpPr>
            <a:cxnSpLocks/>
          </p:cNvCxnSpPr>
          <p:nvPr/>
        </p:nvCxnSpPr>
        <p:spPr>
          <a:xfrm>
            <a:off x="6021909" y="6189478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058DACC-6358-4154-A178-F48ACA97EB86}"/>
              </a:ext>
            </a:extLst>
          </p:cNvPr>
          <p:cNvSpPr txBox="1"/>
          <p:nvPr/>
        </p:nvSpPr>
        <p:spPr>
          <a:xfrm>
            <a:off x="6766515" y="5910174"/>
            <a:ext cx="26005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투입보고 </a:t>
            </a:r>
            <a:r>
              <a:rPr lang="en-US" altLang="ko-KR" sz="1200" dirty="0"/>
              <a:t>Response(D52001.0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69" name="다이아몬드 68">
            <a:extLst>
              <a:ext uri="{FF2B5EF4-FFF2-40B4-BE49-F238E27FC236}">
                <a16:creationId xmlns:a16="http://schemas.microsoft.com/office/drawing/2014/main" id="{38CBC44A-B890-421F-B489-793AAA26B123}"/>
              </a:ext>
            </a:extLst>
          </p:cNvPr>
          <p:cNvSpPr/>
          <p:nvPr/>
        </p:nvSpPr>
        <p:spPr>
          <a:xfrm>
            <a:off x="4768605" y="3202300"/>
            <a:ext cx="2508496" cy="5253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Accepted?</a:t>
            </a:r>
            <a:endParaRPr lang="ko-KR" altLang="en-US" sz="16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00C0B02-E8F0-487F-910C-0A261C250382}"/>
              </a:ext>
            </a:extLst>
          </p:cNvPr>
          <p:cNvSpPr txBox="1"/>
          <p:nvPr/>
        </p:nvSpPr>
        <p:spPr>
          <a:xfrm>
            <a:off x="6778518" y="3162503"/>
            <a:ext cx="405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Yes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F15DA11-90EA-48A2-BC9A-10DEEDB691B0}"/>
              </a:ext>
            </a:extLst>
          </p:cNvPr>
          <p:cNvSpPr txBox="1"/>
          <p:nvPr/>
        </p:nvSpPr>
        <p:spPr>
          <a:xfrm>
            <a:off x="7364649" y="3178172"/>
            <a:ext cx="22177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Barcode Error(D52001.7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ECA188-F486-4260-B9D9-1DC2D9B5CE77}"/>
              </a:ext>
            </a:extLst>
          </p:cNvPr>
          <p:cNvSpPr txBox="1"/>
          <p:nvPr/>
        </p:nvSpPr>
        <p:spPr>
          <a:xfrm>
            <a:off x="10046643" y="4913754"/>
            <a:ext cx="20420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PLC </a:t>
            </a:r>
            <a:r>
              <a:rPr lang="ko-KR" altLang="en-US" sz="1200" dirty="0"/>
              <a:t>터치에 </a:t>
            </a:r>
            <a:r>
              <a:rPr lang="ko-KR" altLang="en-US" sz="1200" dirty="0" err="1"/>
              <a:t>알람신호</a:t>
            </a:r>
            <a:r>
              <a:rPr lang="ko-KR" altLang="en-US" sz="1200" dirty="0"/>
              <a:t> 표시 </a:t>
            </a:r>
            <a:endParaRPr lang="en-US" altLang="ko-KR" sz="1200" dirty="0"/>
          </a:p>
          <a:p>
            <a:r>
              <a:rPr lang="ko-KR" altLang="en-US" sz="1200" dirty="0"/>
              <a:t>및 진행여부 판단을 위해</a:t>
            </a:r>
            <a:r>
              <a:rPr lang="en-US" altLang="ko-KR" sz="1200" dirty="0"/>
              <a:t>,</a:t>
            </a:r>
          </a:p>
          <a:p>
            <a:r>
              <a:rPr lang="en-US" altLang="ko-KR" sz="1200" dirty="0"/>
              <a:t>Error </a:t>
            </a:r>
            <a:r>
              <a:rPr lang="ko-KR" altLang="en-US" sz="1200" dirty="0"/>
              <a:t>신호 </a:t>
            </a:r>
            <a:r>
              <a:rPr lang="en-US" altLang="ko-KR" sz="1200" dirty="0"/>
              <a:t>ON </a:t>
            </a:r>
            <a:r>
              <a:rPr lang="ko-KR" altLang="en-US" sz="1200" dirty="0"/>
              <a:t>이후</a:t>
            </a:r>
            <a:r>
              <a:rPr lang="en-US" altLang="ko-KR" sz="1200" dirty="0"/>
              <a:t>, </a:t>
            </a:r>
          </a:p>
          <a:p>
            <a:r>
              <a:rPr lang="ko-KR" altLang="en-US" sz="1200" dirty="0"/>
              <a:t>투입보고 </a:t>
            </a:r>
            <a:r>
              <a:rPr lang="en-US" altLang="ko-KR" sz="1200" dirty="0"/>
              <a:t>Response ON</a:t>
            </a:r>
            <a:endParaRPr lang="ko-KR" altLang="en-US" sz="12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C8F62E5-C3C1-4514-8F71-5A8E08943B9F}"/>
              </a:ext>
            </a:extLst>
          </p:cNvPr>
          <p:cNvSpPr txBox="1"/>
          <p:nvPr/>
        </p:nvSpPr>
        <p:spPr>
          <a:xfrm>
            <a:off x="4120995" y="1042155"/>
            <a:ext cx="57097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투입보고 하였으나</a:t>
            </a:r>
            <a:r>
              <a:rPr lang="en-US" altLang="ko-KR" sz="1200" dirty="0"/>
              <a:t>,</a:t>
            </a:r>
          </a:p>
          <a:p>
            <a:r>
              <a:rPr lang="en-US" altLang="ko-KR" sz="1200" dirty="0"/>
              <a:t>EPDS</a:t>
            </a:r>
            <a:r>
              <a:rPr lang="ko-KR" altLang="en-US" sz="1200" dirty="0"/>
              <a:t>로 받은 </a:t>
            </a:r>
            <a:r>
              <a:rPr lang="ko-KR" altLang="en-US" sz="1200" dirty="0" err="1"/>
              <a:t>스테이터</a:t>
            </a:r>
            <a:r>
              <a:rPr lang="ko-KR" altLang="en-US" sz="1200" dirty="0"/>
              <a:t> 모델과 </a:t>
            </a:r>
            <a:r>
              <a:rPr lang="en-US" altLang="ko-KR" sz="1200" dirty="0"/>
              <a:t>PLC</a:t>
            </a:r>
            <a:r>
              <a:rPr lang="ko-KR" altLang="en-US" sz="1200" dirty="0"/>
              <a:t>에 설정되어 있는 </a:t>
            </a:r>
            <a:r>
              <a:rPr lang="ko-KR" altLang="en-US" sz="1200" dirty="0" err="1"/>
              <a:t>스테이터</a:t>
            </a:r>
            <a:r>
              <a:rPr lang="ko-KR" altLang="en-US" sz="1200" dirty="0"/>
              <a:t> 모델이 다를 경우</a:t>
            </a:r>
            <a:endParaRPr lang="en-US" altLang="ko-KR" sz="1200" dirty="0"/>
          </a:p>
          <a:p>
            <a:r>
              <a:rPr lang="en-US" altLang="ko-KR" sz="1200" dirty="0"/>
              <a:t>PLC </a:t>
            </a:r>
            <a:r>
              <a:rPr lang="ko-KR" altLang="en-US" sz="1200" dirty="0"/>
              <a:t>터치 화면에 </a:t>
            </a:r>
            <a:r>
              <a:rPr lang="en-US" altLang="ko-KR" sz="1200" dirty="0"/>
              <a:t>Error </a:t>
            </a:r>
            <a:r>
              <a:rPr lang="ko-KR" altLang="en-US" sz="1200" dirty="0"/>
              <a:t>표시하고</a:t>
            </a:r>
            <a:r>
              <a:rPr lang="en-US" altLang="ko-KR" sz="1200" dirty="0"/>
              <a:t>, </a:t>
            </a:r>
            <a:r>
              <a:rPr lang="ko-KR" altLang="en-US" sz="1200" dirty="0"/>
              <a:t>재시도 할지</a:t>
            </a:r>
            <a:r>
              <a:rPr lang="en-US" altLang="ko-KR" sz="1200" dirty="0"/>
              <a:t>? Pass</a:t>
            </a:r>
            <a:r>
              <a:rPr lang="ko-KR" altLang="en-US" sz="1200" dirty="0"/>
              <a:t>할지</a:t>
            </a:r>
            <a:r>
              <a:rPr lang="en-US" altLang="ko-KR" sz="1200" dirty="0"/>
              <a:t>? </a:t>
            </a:r>
            <a:r>
              <a:rPr lang="ko-KR" altLang="en-US" sz="1200" dirty="0"/>
              <a:t>결정</a:t>
            </a:r>
            <a:endParaRPr lang="en-US" altLang="ko-KR" sz="1200" dirty="0"/>
          </a:p>
          <a:p>
            <a:r>
              <a:rPr lang="en-US" altLang="ko-KR" sz="1200" dirty="0"/>
              <a:t>Pass</a:t>
            </a:r>
            <a:r>
              <a:rPr lang="ko-KR" altLang="en-US" sz="1200" dirty="0"/>
              <a:t>의 경우</a:t>
            </a:r>
            <a:r>
              <a:rPr lang="en-US" altLang="ko-KR" sz="1200" dirty="0"/>
              <a:t>, “Pass </a:t>
            </a:r>
            <a:r>
              <a:rPr lang="ko-KR" altLang="en-US" sz="1200" dirty="0"/>
              <a:t>시나리오 참고</a:t>
            </a:r>
            <a:r>
              <a:rPr lang="en-US" altLang="ko-KR" sz="1200" dirty="0"/>
              <a:t>”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2807FF0F-AF9E-4581-8F6D-3131F266674C}"/>
              </a:ext>
            </a:extLst>
          </p:cNvPr>
          <p:cNvSpPr/>
          <p:nvPr/>
        </p:nvSpPr>
        <p:spPr>
          <a:xfrm>
            <a:off x="8551307" y="6280405"/>
            <a:ext cx="2775490" cy="40155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PLC</a:t>
            </a:r>
            <a:r>
              <a:rPr lang="ko-KR" altLang="en-US" sz="1050" dirty="0"/>
              <a:t> </a:t>
            </a:r>
            <a:r>
              <a:rPr lang="en-US" altLang="ko-KR" sz="1050" dirty="0"/>
              <a:t>Touch </a:t>
            </a:r>
            <a:r>
              <a:rPr lang="ko-KR" altLang="en-US" sz="1050" dirty="0"/>
              <a:t>화면에 </a:t>
            </a:r>
            <a:r>
              <a:rPr lang="en-US" altLang="ko-KR" sz="1050" dirty="0"/>
              <a:t>Error </a:t>
            </a:r>
            <a:r>
              <a:rPr lang="ko-KR" altLang="en-US" sz="1050" dirty="0"/>
              <a:t>화면 표시</a:t>
            </a:r>
            <a:r>
              <a:rPr lang="en-US" altLang="ko-KR" sz="1050" dirty="0"/>
              <a:t>.</a:t>
            </a:r>
          </a:p>
          <a:p>
            <a:r>
              <a:rPr lang="en-US" altLang="ko-KR" sz="1050" dirty="0"/>
              <a:t>“</a:t>
            </a:r>
            <a:r>
              <a:rPr lang="ko-KR" altLang="en-US" sz="1050" dirty="0"/>
              <a:t>재시도</a:t>
            </a:r>
            <a:r>
              <a:rPr lang="en-US" altLang="ko-KR" sz="1050" dirty="0"/>
              <a:t>”</a:t>
            </a:r>
            <a:r>
              <a:rPr lang="ko-KR" altLang="en-US" sz="1050" dirty="0"/>
              <a:t> </a:t>
            </a:r>
            <a:r>
              <a:rPr lang="en-US" altLang="ko-KR" sz="1050" dirty="0"/>
              <a:t>/ “Pass” / “</a:t>
            </a:r>
            <a:r>
              <a:rPr lang="ko-KR" altLang="en-US" sz="1050" dirty="0"/>
              <a:t>수동조작</a:t>
            </a:r>
            <a:r>
              <a:rPr lang="en-US" altLang="ko-KR" sz="1050" dirty="0"/>
              <a:t>”</a:t>
            </a:r>
            <a:r>
              <a:rPr lang="ko-KR" altLang="en-US" sz="1050" dirty="0"/>
              <a:t> 중 선택</a:t>
            </a:r>
            <a:endParaRPr lang="en-US" altLang="ko-KR" sz="1050" dirty="0"/>
          </a:p>
        </p:txBody>
      </p:sp>
    </p:spTree>
    <p:extLst>
      <p:ext uri="{BB962C8B-B14F-4D97-AF65-F5344CB8AC3E}">
        <p14:creationId xmlns:p14="http://schemas.microsoft.com/office/powerpoint/2010/main" val="9289534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스테이터</a:t>
            </a:r>
            <a:r>
              <a:rPr lang="ko-KR" altLang="en-US" dirty="0"/>
              <a:t> 투입 </a:t>
            </a:r>
            <a:r>
              <a:rPr lang="en-US" altLang="ko-KR" dirty="0"/>
              <a:t>Pass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080202" y="2297153"/>
            <a:ext cx="0" cy="3978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83598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7390475" y="2313422"/>
            <a:ext cx="12939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Pass</a:t>
            </a:r>
            <a:r>
              <a:rPr lang="ko-KR" altLang="en-US" sz="1400" dirty="0"/>
              <a:t> </a:t>
            </a:r>
            <a:r>
              <a:rPr lang="en-US" altLang="ko-KR" sz="1400" dirty="0"/>
              <a:t>Request</a:t>
            </a:r>
          </a:p>
          <a:p>
            <a:pPr algn="ctr"/>
            <a:r>
              <a:rPr lang="en-US" altLang="ko-KR" sz="1400" dirty="0"/>
              <a:t>D53001.6 </a:t>
            </a:r>
            <a:r>
              <a:rPr lang="en-US" altLang="ko-KR" sz="1400" b="1" dirty="0">
                <a:solidFill>
                  <a:srgbClr val="FF0000"/>
                </a:solidFill>
              </a:rPr>
              <a:t>ON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DB7A69F-FDA1-D6FC-DBB4-5677808C527A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577EF78F-9A13-646B-3B19-402559E035F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78A477D9-3404-1A26-CFF3-54AEF4D4B9FA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9546351D-41D9-0841-7B2D-0743CA58EEA4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9480704-6893-41A4-A640-A62B5F2D76CE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2575E79-D151-4217-7CE5-EB00B16FFFD3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8168320-56F5-A5EB-579F-06362D529404}"/>
              </a:ext>
            </a:extLst>
          </p:cNvPr>
          <p:cNvSpPr/>
          <p:nvPr/>
        </p:nvSpPr>
        <p:spPr>
          <a:xfrm>
            <a:off x="5063152" y="3056220"/>
            <a:ext cx="1917512" cy="46166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정보 </a:t>
            </a:r>
            <a:r>
              <a:rPr lang="en-US" altLang="ko-KR" sz="1200" dirty="0"/>
              <a:t>Clear</a:t>
            </a:r>
            <a:endParaRPr lang="ko-KR" altLang="en-US" sz="1200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3A2C80E-18C1-A378-619C-E03C245A232A}"/>
              </a:ext>
            </a:extLst>
          </p:cNvPr>
          <p:cNvCxnSpPr>
            <a:cxnSpLocks/>
          </p:cNvCxnSpPr>
          <p:nvPr/>
        </p:nvCxnSpPr>
        <p:spPr>
          <a:xfrm>
            <a:off x="6021909" y="4037335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0A42D18-6ECC-4A6E-8754-97516B07B1B1}"/>
              </a:ext>
            </a:extLst>
          </p:cNvPr>
          <p:cNvSpPr txBox="1"/>
          <p:nvPr/>
        </p:nvSpPr>
        <p:spPr>
          <a:xfrm>
            <a:off x="7354632" y="3530398"/>
            <a:ext cx="1365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Pass</a:t>
            </a:r>
            <a:r>
              <a:rPr lang="ko-KR" altLang="en-US" sz="1400" dirty="0"/>
              <a:t> </a:t>
            </a:r>
            <a:r>
              <a:rPr lang="en-US" altLang="ko-KR" sz="1400" dirty="0"/>
              <a:t>Response</a:t>
            </a:r>
          </a:p>
          <a:p>
            <a:pPr algn="ctr"/>
            <a:r>
              <a:rPr lang="en-US" altLang="ko-KR" sz="1400" dirty="0"/>
              <a:t>D52001.6 </a:t>
            </a:r>
            <a:r>
              <a:rPr lang="en-US" altLang="ko-KR" sz="1400" b="1" dirty="0">
                <a:solidFill>
                  <a:srgbClr val="FF0000"/>
                </a:solidFill>
              </a:rPr>
              <a:t>ON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AD65B036-D8B2-2FB3-A9ED-745397015D2E}"/>
              </a:ext>
            </a:extLst>
          </p:cNvPr>
          <p:cNvCxnSpPr>
            <a:cxnSpLocks/>
          </p:cNvCxnSpPr>
          <p:nvPr/>
        </p:nvCxnSpPr>
        <p:spPr>
          <a:xfrm>
            <a:off x="6021909" y="5236994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ECA6B3F-0A11-141F-5746-EA1A5C0C7C20}"/>
              </a:ext>
            </a:extLst>
          </p:cNvPr>
          <p:cNvSpPr txBox="1"/>
          <p:nvPr/>
        </p:nvSpPr>
        <p:spPr>
          <a:xfrm>
            <a:off x="7354632" y="4730057"/>
            <a:ext cx="1365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Pass</a:t>
            </a:r>
            <a:r>
              <a:rPr lang="ko-KR" altLang="en-US" sz="1400" dirty="0"/>
              <a:t> </a:t>
            </a:r>
            <a:r>
              <a:rPr lang="en-US" altLang="ko-KR" sz="1400" dirty="0"/>
              <a:t>Response</a:t>
            </a:r>
          </a:p>
          <a:p>
            <a:pPr algn="ctr"/>
            <a:r>
              <a:rPr lang="en-US" altLang="ko-KR" sz="1400" dirty="0"/>
              <a:t>D52001.6 </a:t>
            </a:r>
            <a:r>
              <a:rPr lang="en-US" altLang="ko-KR" sz="1400" b="1" dirty="0">
                <a:solidFill>
                  <a:srgbClr val="0000FF"/>
                </a:solidFill>
              </a:rPr>
              <a:t>OFF</a:t>
            </a:r>
            <a:endParaRPr lang="ko-KR" altLang="en-US" sz="1400" b="1" dirty="0">
              <a:solidFill>
                <a:srgbClr val="0000FF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3F46BD76-93D2-4AFA-AB6A-7E74AD37F7D4}"/>
              </a:ext>
            </a:extLst>
          </p:cNvPr>
          <p:cNvCxnSpPr>
            <a:cxnSpLocks/>
          </p:cNvCxnSpPr>
          <p:nvPr/>
        </p:nvCxnSpPr>
        <p:spPr>
          <a:xfrm>
            <a:off x="6021909" y="4607949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2ACE7E7-3F1F-40CC-B7BC-9F06D0347632}"/>
              </a:ext>
            </a:extLst>
          </p:cNvPr>
          <p:cNvSpPr txBox="1"/>
          <p:nvPr/>
        </p:nvSpPr>
        <p:spPr>
          <a:xfrm>
            <a:off x="7367231" y="4085389"/>
            <a:ext cx="13404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Pass</a:t>
            </a:r>
            <a:r>
              <a:rPr lang="ko-KR" altLang="en-US" sz="1400" dirty="0"/>
              <a:t> </a:t>
            </a:r>
            <a:r>
              <a:rPr lang="en-US" altLang="ko-KR" sz="1400" dirty="0"/>
              <a:t>Request</a:t>
            </a:r>
          </a:p>
          <a:p>
            <a:pPr algn="ctr"/>
            <a:r>
              <a:rPr lang="en-US" altLang="ko-KR" sz="1400" dirty="0"/>
              <a:t>D53001.6 </a:t>
            </a:r>
            <a:r>
              <a:rPr lang="en-US" altLang="ko-KR" sz="1400" b="1" dirty="0">
                <a:solidFill>
                  <a:srgbClr val="0000FF"/>
                </a:solidFill>
              </a:rPr>
              <a:t>OFF</a:t>
            </a:r>
            <a:endParaRPr lang="ko-KR" altLang="en-US" sz="1400" b="1" dirty="0">
              <a:solidFill>
                <a:srgbClr val="0000FF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F92EE23-C4C4-416B-8A0F-2FEB554E77A5}"/>
              </a:ext>
            </a:extLst>
          </p:cNvPr>
          <p:cNvSpPr txBox="1"/>
          <p:nvPr/>
        </p:nvSpPr>
        <p:spPr>
          <a:xfrm>
            <a:off x="4195090" y="1233248"/>
            <a:ext cx="5177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MES</a:t>
            </a:r>
            <a:r>
              <a:rPr lang="ko-KR" altLang="en-US" sz="1200" dirty="0"/>
              <a:t>에 투입보고는 하였으나</a:t>
            </a:r>
            <a:r>
              <a:rPr lang="en-US" altLang="ko-KR" sz="1200" dirty="0"/>
              <a:t>, </a:t>
            </a:r>
          </a:p>
          <a:p>
            <a:r>
              <a:rPr lang="ko-KR" altLang="en-US" sz="1200" dirty="0"/>
              <a:t>용접 진행하지 않고</a:t>
            </a:r>
            <a:r>
              <a:rPr lang="en-US" altLang="ko-KR" sz="1200" dirty="0"/>
              <a:t>, </a:t>
            </a:r>
            <a:r>
              <a:rPr lang="ko-KR" altLang="en-US" sz="1200" dirty="0"/>
              <a:t>그냥 </a:t>
            </a:r>
            <a:r>
              <a:rPr lang="ko-KR" altLang="en-US" sz="1200" dirty="0" err="1"/>
              <a:t>스테이터를</a:t>
            </a:r>
            <a:r>
              <a:rPr lang="ko-KR" altLang="en-US" sz="1200" dirty="0"/>
              <a:t> </a:t>
            </a:r>
            <a:r>
              <a:rPr lang="en-US" altLang="ko-KR" sz="1200" dirty="0"/>
              <a:t>Pass </a:t>
            </a:r>
            <a:r>
              <a:rPr lang="ko-KR" altLang="en-US" sz="1200" dirty="0"/>
              <a:t>시키는 모드</a:t>
            </a:r>
            <a:r>
              <a:rPr lang="en-US" altLang="ko-KR" sz="1200" dirty="0"/>
              <a:t>(2023.02.10 </a:t>
            </a:r>
            <a:r>
              <a:rPr lang="ko-KR" altLang="en-US" sz="1200" dirty="0"/>
              <a:t>추가</a:t>
            </a:r>
            <a:r>
              <a:rPr lang="en-US" altLang="ko-KR" sz="1200" dirty="0"/>
              <a:t>)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101C1D5-2CAC-4254-AEEB-C1FBBE3DF525}"/>
              </a:ext>
            </a:extLst>
          </p:cNvPr>
          <p:cNvSpPr/>
          <p:nvPr/>
        </p:nvSpPr>
        <p:spPr>
          <a:xfrm>
            <a:off x="9008557" y="5455046"/>
            <a:ext cx="1917512" cy="43412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스테이터</a:t>
            </a:r>
            <a:r>
              <a:rPr lang="ko-KR" altLang="en-US" sz="1200" dirty="0"/>
              <a:t> 용접 없이</a:t>
            </a:r>
            <a:r>
              <a:rPr lang="en-US" altLang="ko-KR" sz="1200" dirty="0"/>
              <a:t>,</a:t>
            </a:r>
          </a:p>
          <a:p>
            <a:pPr algn="ctr"/>
            <a:r>
              <a:rPr lang="ko-KR" altLang="en-US" sz="1200" dirty="0"/>
              <a:t>그냥 컨베이어로 보냄</a:t>
            </a:r>
          </a:p>
        </p:txBody>
      </p:sp>
    </p:spTree>
    <p:extLst>
      <p:ext uri="{BB962C8B-B14F-4D97-AF65-F5344CB8AC3E}">
        <p14:creationId xmlns:p14="http://schemas.microsoft.com/office/powerpoint/2010/main" val="42079572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스테이터</a:t>
            </a:r>
            <a:r>
              <a:rPr lang="ko-KR" altLang="en-US" dirty="0"/>
              <a:t> 배출보고 </a:t>
            </a:r>
            <a:r>
              <a:rPr lang="en-US" altLang="ko-KR" dirty="0"/>
              <a:t>–Normal</a:t>
            </a:r>
            <a:r>
              <a:rPr lang="ko-KR" altLang="en-US" dirty="0"/>
              <a:t>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080202" y="2297153"/>
            <a:ext cx="0" cy="3978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6021908" y="2297153"/>
            <a:ext cx="1" cy="4093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4093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60984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809321" y="2313422"/>
            <a:ext cx="24562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배출보고 </a:t>
            </a:r>
            <a:r>
              <a:rPr lang="en-US" altLang="ko-KR" sz="1200" dirty="0"/>
              <a:t>Request(D53001.1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DB7A69F-FDA1-D6FC-DBB4-5677808C527A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577EF78F-9A13-646B-3B19-402559E035F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78A477D9-3404-1A26-CFF3-54AEF4D4B9FA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9546351D-41D9-0841-7B2D-0743CA58EEA4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9480704-6893-41A4-A640-A62B5F2D76CE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2575E79-D151-4217-7CE5-EB00B16FFFD3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8168320-56F5-A5EB-579F-06362D529404}"/>
              </a:ext>
            </a:extLst>
          </p:cNvPr>
          <p:cNvSpPr/>
          <p:nvPr/>
        </p:nvSpPr>
        <p:spPr>
          <a:xfrm>
            <a:off x="5063152" y="2712089"/>
            <a:ext cx="1917512" cy="44047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검사결과 </a:t>
            </a:r>
            <a:r>
              <a:rPr lang="en-US" altLang="ko-KR" sz="1200" dirty="0"/>
              <a:t>Data </a:t>
            </a:r>
          </a:p>
          <a:p>
            <a:pPr algn="ctr"/>
            <a:r>
              <a:rPr lang="ko-KR" altLang="en-US" sz="1200" dirty="0"/>
              <a:t>다시 읽어 처리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AD595E8-03CB-0CF8-4299-811D22999381}"/>
              </a:ext>
            </a:extLst>
          </p:cNvPr>
          <p:cNvCxnSpPr>
            <a:cxnSpLocks/>
          </p:cNvCxnSpPr>
          <p:nvPr/>
        </p:nvCxnSpPr>
        <p:spPr>
          <a:xfrm>
            <a:off x="2080203" y="3427270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B8F1994-B7E1-C9C1-5D58-C4EBA57CAEB9}"/>
              </a:ext>
            </a:extLst>
          </p:cNvPr>
          <p:cNvSpPr txBox="1"/>
          <p:nvPr/>
        </p:nvSpPr>
        <p:spPr>
          <a:xfrm>
            <a:off x="2817868" y="3139603"/>
            <a:ext cx="25923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EIDS : Equip</a:t>
            </a:r>
            <a:r>
              <a:rPr lang="ko-KR" altLang="en-US" sz="1200" dirty="0"/>
              <a:t> </a:t>
            </a:r>
            <a:r>
              <a:rPr lang="en-US" altLang="ko-KR" sz="1200" dirty="0"/>
              <a:t>Inspection Data Send</a:t>
            </a:r>
            <a:endParaRPr lang="ko-KR" altLang="en-US" sz="1200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33854143-F243-2314-A13B-1A65CD8D6C03}"/>
              </a:ext>
            </a:extLst>
          </p:cNvPr>
          <p:cNvCxnSpPr>
            <a:cxnSpLocks/>
          </p:cNvCxnSpPr>
          <p:nvPr/>
        </p:nvCxnSpPr>
        <p:spPr>
          <a:xfrm>
            <a:off x="2080203" y="3797263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684F076-936B-44C2-5152-D3397AED47B0}"/>
              </a:ext>
            </a:extLst>
          </p:cNvPr>
          <p:cNvSpPr txBox="1"/>
          <p:nvPr/>
        </p:nvSpPr>
        <p:spPr>
          <a:xfrm>
            <a:off x="2785807" y="3480120"/>
            <a:ext cx="26564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EIDS_R : Equip Inspection Data Ack</a:t>
            </a:r>
            <a:endParaRPr lang="ko-KR" altLang="en-US" sz="1200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3A2C80E-18C1-A378-619C-E03C245A232A}"/>
              </a:ext>
            </a:extLst>
          </p:cNvPr>
          <p:cNvCxnSpPr>
            <a:cxnSpLocks/>
          </p:cNvCxnSpPr>
          <p:nvPr/>
        </p:nvCxnSpPr>
        <p:spPr>
          <a:xfrm>
            <a:off x="6021909" y="5269017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0A42D18-6ECC-4A6E-8754-97516B07B1B1}"/>
              </a:ext>
            </a:extLst>
          </p:cNvPr>
          <p:cNvSpPr txBox="1"/>
          <p:nvPr/>
        </p:nvSpPr>
        <p:spPr>
          <a:xfrm>
            <a:off x="6755621" y="4988223"/>
            <a:ext cx="25636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배출보고 </a:t>
            </a:r>
            <a:r>
              <a:rPr lang="en-US" altLang="ko-KR" sz="1200" dirty="0"/>
              <a:t>Response(D52001.1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AD65B036-D8B2-2FB3-A9ED-745397015D2E}"/>
              </a:ext>
            </a:extLst>
          </p:cNvPr>
          <p:cNvCxnSpPr>
            <a:cxnSpLocks/>
          </p:cNvCxnSpPr>
          <p:nvPr/>
        </p:nvCxnSpPr>
        <p:spPr>
          <a:xfrm>
            <a:off x="6021909" y="610168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ECA6B3F-0A11-141F-5746-EA1A5C0C7C20}"/>
              </a:ext>
            </a:extLst>
          </p:cNvPr>
          <p:cNvSpPr txBox="1"/>
          <p:nvPr/>
        </p:nvSpPr>
        <p:spPr>
          <a:xfrm>
            <a:off x="6733179" y="5801221"/>
            <a:ext cx="2608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배출보고 </a:t>
            </a:r>
            <a:r>
              <a:rPr lang="en-US" altLang="ko-KR" sz="1200" dirty="0"/>
              <a:t>Response(D52001.1 </a:t>
            </a:r>
            <a:r>
              <a:rPr lang="en-US" altLang="ko-KR" sz="1200" b="1" dirty="0">
                <a:solidFill>
                  <a:srgbClr val="0000FF"/>
                </a:solidFill>
              </a:rPr>
              <a:t>OFF)</a:t>
            </a:r>
            <a:endParaRPr lang="ko-KR" altLang="en-US" sz="1200" b="1" dirty="0">
              <a:solidFill>
                <a:srgbClr val="0000FF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3F46BD76-93D2-4AFA-AB6A-7E74AD37F7D4}"/>
              </a:ext>
            </a:extLst>
          </p:cNvPr>
          <p:cNvCxnSpPr>
            <a:cxnSpLocks/>
          </p:cNvCxnSpPr>
          <p:nvPr/>
        </p:nvCxnSpPr>
        <p:spPr>
          <a:xfrm>
            <a:off x="6021909" y="5679258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2ACE7E7-3F1F-40CC-B7BC-9F06D0347632}"/>
              </a:ext>
            </a:extLst>
          </p:cNvPr>
          <p:cNvSpPr txBox="1"/>
          <p:nvPr/>
        </p:nvSpPr>
        <p:spPr>
          <a:xfrm>
            <a:off x="6790887" y="5382838"/>
            <a:ext cx="24931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배출보고 </a:t>
            </a:r>
            <a:r>
              <a:rPr lang="en-US" altLang="ko-KR" sz="1200" dirty="0"/>
              <a:t>Request(D53001.1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0000FF"/>
              </a:solidFill>
            </a:endParaRPr>
          </a:p>
        </p:txBody>
      </p:sp>
      <p:sp>
        <p:nvSpPr>
          <p:cNvPr id="42" name="다이아몬드 41">
            <a:extLst>
              <a:ext uri="{FF2B5EF4-FFF2-40B4-BE49-F238E27FC236}">
                <a16:creationId xmlns:a16="http://schemas.microsoft.com/office/drawing/2014/main" id="{B4CE8134-09E2-4A7B-A9EB-7FAEA6636C18}"/>
              </a:ext>
            </a:extLst>
          </p:cNvPr>
          <p:cNvSpPr/>
          <p:nvPr/>
        </p:nvSpPr>
        <p:spPr>
          <a:xfrm>
            <a:off x="4768605" y="4008918"/>
            <a:ext cx="2508496" cy="5253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Accepted?</a:t>
            </a:r>
            <a:endParaRPr lang="ko-KR" altLang="en-US" sz="1600" dirty="0"/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F7E0DE88-1A8E-4932-AD4C-AC70D33A5641}"/>
              </a:ext>
            </a:extLst>
          </p:cNvPr>
          <p:cNvCxnSpPr>
            <a:cxnSpLocks/>
          </p:cNvCxnSpPr>
          <p:nvPr/>
        </p:nvCxnSpPr>
        <p:spPr>
          <a:xfrm>
            <a:off x="6021909" y="485534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205FEE4-F2EE-45AF-B77F-C30CEB153879}"/>
              </a:ext>
            </a:extLst>
          </p:cNvPr>
          <p:cNvSpPr txBox="1"/>
          <p:nvPr/>
        </p:nvSpPr>
        <p:spPr>
          <a:xfrm>
            <a:off x="6047364" y="4551638"/>
            <a:ext cx="405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Yes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4C6995-31C6-48F1-AD88-D5A97A3C368D}"/>
              </a:ext>
            </a:extLst>
          </p:cNvPr>
          <p:cNvSpPr txBox="1"/>
          <p:nvPr/>
        </p:nvSpPr>
        <p:spPr>
          <a:xfrm>
            <a:off x="6851013" y="4563014"/>
            <a:ext cx="22375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Output Error(D52001.12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61313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스테이터</a:t>
            </a:r>
            <a:r>
              <a:rPr lang="ko-KR" altLang="en-US" dirty="0"/>
              <a:t> 배출보고 </a:t>
            </a:r>
            <a:r>
              <a:rPr lang="en-US" altLang="ko-KR" dirty="0"/>
              <a:t>–Abnormal</a:t>
            </a:r>
            <a:r>
              <a:rPr lang="ko-KR" altLang="en-US" dirty="0"/>
              <a:t>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080202" y="2297153"/>
            <a:ext cx="0" cy="4378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4378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4378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64917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809322" y="2350605"/>
            <a:ext cx="24562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배출보고 </a:t>
            </a:r>
            <a:r>
              <a:rPr lang="en-US" altLang="ko-KR" sz="1200" dirty="0"/>
              <a:t>Request(D53001.1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DB7A69F-FDA1-D6FC-DBB4-5677808C527A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577EF78F-9A13-646B-3B19-402559E035F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78A477D9-3404-1A26-CFF3-54AEF4D4B9FA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9546351D-41D9-0841-7B2D-0743CA58EEA4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9480704-6893-41A4-A640-A62B5F2D76CE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2575E79-D151-4217-7CE5-EB00B16FFFD3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8168320-56F5-A5EB-579F-06362D529404}"/>
              </a:ext>
            </a:extLst>
          </p:cNvPr>
          <p:cNvSpPr/>
          <p:nvPr/>
        </p:nvSpPr>
        <p:spPr>
          <a:xfrm>
            <a:off x="5063152" y="2771085"/>
            <a:ext cx="1917512" cy="44047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검사결과 </a:t>
            </a:r>
            <a:r>
              <a:rPr lang="en-US" altLang="ko-KR" sz="1200" dirty="0"/>
              <a:t>Data </a:t>
            </a:r>
          </a:p>
          <a:p>
            <a:pPr algn="ctr"/>
            <a:r>
              <a:rPr lang="ko-KR" altLang="en-US" sz="1200" dirty="0"/>
              <a:t>다시 읽어 처리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AD595E8-03CB-0CF8-4299-811D22999381}"/>
              </a:ext>
            </a:extLst>
          </p:cNvPr>
          <p:cNvCxnSpPr>
            <a:cxnSpLocks/>
          </p:cNvCxnSpPr>
          <p:nvPr/>
        </p:nvCxnSpPr>
        <p:spPr>
          <a:xfrm>
            <a:off x="2080203" y="3574763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B8F1994-B7E1-C9C1-5D58-C4EBA57CAEB9}"/>
              </a:ext>
            </a:extLst>
          </p:cNvPr>
          <p:cNvSpPr txBox="1"/>
          <p:nvPr/>
        </p:nvSpPr>
        <p:spPr>
          <a:xfrm>
            <a:off x="2817868" y="3267433"/>
            <a:ext cx="25923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EIDS : Equip</a:t>
            </a:r>
            <a:r>
              <a:rPr lang="ko-KR" altLang="en-US" sz="1200" dirty="0"/>
              <a:t> </a:t>
            </a:r>
            <a:r>
              <a:rPr lang="en-US" altLang="ko-KR" sz="1200" dirty="0"/>
              <a:t>Inspection Data Send</a:t>
            </a:r>
            <a:endParaRPr lang="ko-KR" altLang="en-US" sz="1200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33854143-F243-2314-A13B-1A65CD8D6C03}"/>
              </a:ext>
            </a:extLst>
          </p:cNvPr>
          <p:cNvCxnSpPr>
            <a:cxnSpLocks/>
          </p:cNvCxnSpPr>
          <p:nvPr/>
        </p:nvCxnSpPr>
        <p:spPr>
          <a:xfrm>
            <a:off x="2080203" y="3944756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684F076-936B-44C2-5152-D3397AED47B0}"/>
              </a:ext>
            </a:extLst>
          </p:cNvPr>
          <p:cNvSpPr txBox="1"/>
          <p:nvPr/>
        </p:nvSpPr>
        <p:spPr>
          <a:xfrm>
            <a:off x="2785807" y="3627613"/>
            <a:ext cx="26564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EIDS_R : Equip Inspection Data Ack</a:t>
            </a:r>
            <a:endParaRPr lang="ko-KR" altLang="en-US" sz="1200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3A2C80E-18C1-A378-619C-E03C245A232A}"/>
              </a:ext>
            </a:extLst>
          </p:cNvPr>
          <p:cNvCxnSpPr>
            <a:cxnSpLocks/>
          </p:cNvCxnSpPr>
          <p:nvPr/>
        </p:nvCxnSpPr>
        <p:spPr>
          <a:xfrm>
            <a:off x="6021909" y="489033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0A42D18-6ECC-4A6E-8754-97516B07B1B1}"/>
              </a:ext>
            </a:extLst>
          </p:cNvPr>
          <p:cNvSpPr txBox="1"/>
          <p:nvPr/>
        </p:nvSpPr>
        <p:spPr>
          <a:xfrm>
            <a:off x="6755621" y="4613332"/>
            <a:ext cx="25636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배출보고 </a:t>
            </a:r>
            <a:r>
              <a:rPr lang="en-US" altLang="ko-KR" sz="1200" dirty="0"/>
              <a:t>Response(D52001.1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AD65B036-D8B2-2FB3-A9ED-745397015D2E}"/>
              </a:ext>
            </a:extLst>
          </p:cNvPr>
          <p:cNvCxnSpPr>
            <a:cxnSpLocks/>
          </p:cNvCxnSpPr>
          <p:nvPr/>
        </p:nvCxnSpPr>
        <p:spPr>
          <a:xfrm>
            <a:off x="6021909" y="5698705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ECA6B3F-0A11-141F-5746-EA1A5C0C7C20}"/>
              </a:ext>
            </a:extLst>
          </p:cNvPr>
          <p:cNvSpPr txBox="1"/>
          <p:nvPr/>
        </p:nvSpPr>
        <p:spPr>
          <a:xfrm>
            <a:off x="6737186" y="5405489"/>
            <a:ext cx="26005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배출보고 </a:t>
            </a:r>
            <a:r>
              <a:rPr lang="en-US" altLang="ko-KR" sz="1200" dirty="0"/>
              <a:t>Response(D52001.1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0000FF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3F46BD76-93D2-4AFA-AB6A-7E74AD37F7D4}"/>
              </a:ext>
            </a:extLst>
          </p:cNvPr>
          <p:cNvCxnSpPr>
            <a:cxnSpLocks/>
          </p:cNvCxnSpPr>
          <p:nvPr/>
        </p:nvCxnSpPr>
        <p:spPr>
          <a:xfrm>
            <a:off x="6021909" y="5276139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2ACE7E7-3F1F-40CC-B7BC-9F06D0347632}"/>
              </a:ext>
            </a:extLst>
          </p:cNvPr>
          <p:cNvSpPr txBox="1"/>
          <p:nvPr/>
        </p:nvSpPr>
        <p:spPr>
          <a:xfrm>
            <a:off x="6790887" y="4979720"/>
            <a:ext cx="24931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배출보고 </a:t>
            </a:r>
            <a:r>
              <a:rPr lang="en-US" altLang="ko-KR" sz="1200" dirty="0"/>
              <a:t>Request(D53001.1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0000FF"/>
              </a:solidFill>
            </a:endParaRPr>
          </a:p>
        </p:txBody>
      </p:sp>
      <p:sp>
        <p:nvSpPr>
          <p:cNvPr id="34" name="다이아몬드 33">
            <a:extLst>
              <a:ext uri="{FF2B5EF4-FFF2-40B4-BE49-F238E27FC236}">
                <a16:creationId xmlns:a16="http://schemas.microsoft.com/office/drawing/2014/main" id="{8BC6A0E1-31DE-4200-96DE-B93E46CEAE61}"/>
              </a:ext>
            </a:extLst>
          </p:cNvPr>
          <p:cNvSpPr/>
          <p:nvPr/>
        </p:nvSpPr>
        <p:spPr>
          <a:xfrm>
            <a:off x="4768605" y="4077742"/>
            <a:ext cx="2508496" cy="5253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Accepted?</a:t>
            </a:r>
            <a:endParaRPr lang="ko-KR" altLang="en-US" sz="1600" dirty="0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0944C84D-C416-4F60-A999-90F35BAF96AF}"/>
              </a:ext>
            </a:extLst>
          </p:cNvPr>
          <p:cNvCxnSpPr>
            <a:cxnSpLocks/>
          </p:cNvCxnSpPr>
          <p:nvPr/>
        </p:nvCxnSpPr>
        <p:spPr>
          <a:xfrm>
            <a:off x="7250121" y="4334173"/>
            <a:ext cx="2713494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8A99046-6C34-4D65-AEDC-F70AAD36D4C9}"/>
              </a:ext>
            </a:extLst>
          </p:cNvPr>
          <p:cNvSpPr txBox="1"/>
          <p:nvPr/>
        </p:nvSpPr>
        <p:spPr>
          <a:xfrm>
            <a:off x="7328798" y="4027237"/>
            <a:ext cx="22006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Output Error(D52001.12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46F8577-65ED-45A1-ADF3-9242B37A5E97}"/>
              </a:ext>
            </a:extLst>
          </p:cNvPr>
          <p:cNvSpPr txBox="1"/>
          <p:nvPr/>
        </p:nvSpPr>
        <p:spPr>
          <a:xfrm>
            <a:off x="6677647" y="3929533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No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D06BC8BA-DE06-4480-B2E8-0167CD7D525F}"/>
              </a:ext>
            </a:extLst>
          </p:cNvPr>
          <p:cNvSpPr/>
          <p:nvPr/>
        </p:nvSpPr>
        <p:spPr>
          <a:xfrm>
            <a:off x="8551307" y="5918568"/>
            <a:ext cx="2775490" cy="40155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PLC</a:t>
            </a:r>
            <a:r>
              <a:rPr lang="ko-KR" altLang="en-US" sz="1050" dirty="0"/>
              <a:t> </a:t>
            </a:r>
            <a:r>
              <a:rPr lang="en-US" altLang="ko-KR" sz="1050" dirty="0"/>
              <a:t>Touch </a:t>
            </a:r>
            <a:r>
              <a:rPr lang="ko-KR" altLang="en-US" sz="1050" dirty="0"/>
              <a:t>화면에 </a:t>
            </a:r>
            <a:r>
              <a:rPr lang="en-US" altLang="ko-KR" sz="1050" dirty="0"/>
              <a:t>Error </a:t>
            </a:r>
            <a:r>
              <a:rPr lang="ko-KR" altLang="en-US" sz="1050" dirty="0"/>
              <a:t>화면 표시</a:t>
            </a:r>
            <a:r>
              <a:rPr lang="en-US" altLang="ko-KR" sz="1050" dirty="0"/>
              <a:t>.</a:t>
            </a:r>
          </a:p>
          <a:p>
            <a:r>
              <a:rPr lang="en-US" altLang="ko-KR" sz="1050" dirty="0"/>
              <a:t>“</a:t>
            </a:r>
            <a:r>
              <a:rPr lang="ko-KR" altLang="en-US" sz="1050" dirty="0"/>
              <a:t>재시도</a:t>
            </a:r>
            <a:r>
              <a:rPr lang="en-US" altLang="ko-KR" sz="1050" dirty="0"/>
              <a:t>”</a:t>
            </a:r>
            <a:r>
              <a:rPr lang="ko-KR" altLang="en-US" sz="1050" dirty="0"/>
              <a:t> </a:t>
            </a:r>
            <a:r>
              <a:rPr lang="en-US" altLang="ko-KR" sz="1050" dirty="0"/>
              <a:t>/ “Pass” / “</a:t>
            </a:r>
            <a:r>
              <a:rPr lang="ko-KR" altLang="en-US" sz="1050" dirty="0"/>
              <a:t>수동조작</a:t>
            </a:r>
            <a:r>
              <a:rPr lang="en-US" altLang="ko-KR" sz="1050" dirty="0"/>
              <a:t>”</a:t>
            </a:r>
            <a:r>
              <a:rPr lang="ko-KR" altLang="en-US" sz="1050" dirty="0"/>
              <a:t> 중 선택</a:t>
            </a:r>
            <a:endParaRPr lang="en-US" altLang="ko-KR" sz="105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30E0384-6911-4780-AC6C-86F1667F161B}"/>
              </a:ext>
            </a:extLst>
          </p:cNvPr>
          <p:cNvSpPr txBox="1"/>
          <p:nvPr/>
        </p:nvSpPr>
        <p:spPr>
          <a:xfrm>
            <a:off x="4159477" y="1146658"/>
            <a:ext cx="5420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배출보고 하였으나</a:t>
            </a:r>
            <a:r>
              <a:rPr lang="en-US" altLang="ko-KR" sz="1200" dirty="0"/>
              <a:t>, GMES </a:t>
            </a:r>
            <a:r>
              <a:rPr lang="ko-KR" altLang="en-US" sz="1200" dirty="0"/>
              <a:t>서버에서 </a:t>
            </a:r>
            <a:r>
              <a:rPr lang="en-US" altLang="ko-KR" sz="1200" dirty="0"/>
              <a:t>Ack</a:t>
            </a:r>
            <a:r>
              <a:rPr lang="ko-KR" altLang="en-US" sz="1200" dirty="0"/>
              <a:t>신호로 </a:t>
            </a:r>
            <a:r>
              <a:rPr lang="en-US" altLang="ko-KR" sz="1200" dirty="0"/>
              <a:t>“Not Accepted”</a:t>
            </a:r>
            <a:r>
              <a:rPr lang="ko-KR" altLang="en-US" sz="1200" dirty="0"/>
              <a:t>가 왔을 경우</a:t>
            </a:r>
            <a:endParaRPr lang="en-US" altLang="ko-KR" sz="1200" dirty="0"/>
          </a:p>
          <a:p>
            <a:r>
              <a:rPr lang="en-US" altLang="ko-KR" sz="1200" dirty="0"/>
              <a:t>PLC </a:t>
            </a:r>
            <a:r>
              <a:rPr lang="ko-KR" altLang="en-US" sz="1200" dirty="0"/>
              <a:t>터치 화면에 </a:t>
            </a:r>
            <a:r>
              <a:rPr lang="en-US" altLang="ko-KR" sz="1200" dirty="0"/>
              <a:t>Error </a:t>
            </a:r>
            <a:r>
              <a:rPr lang="ko-KR" altLang="en-US" sz="1200" dirty="0"/>
              <a:t>표시하고</a:t>
            </a:r>
            <a:r>
              <a:rPr lang="en-US" altLang="ko-KR" sz="1200" dirty="0"/>
              <a:t>, </a:t>
            </a:r>
            <a:r>
              <a:rPr lang="ko-KR" altLang="en-US" sz="1200" dirty="0"/>
              <a:t>재시도 할지</a:t>
            </a:r>
            <a:r>
              <a:rPr lang="en-US" altLang="ko-KR" sz="1200" dirty="0"/>
              <a:t>? Pass</a:t>
            </a:r>
            <a:r>
              <a:rPr lang="ko-KR" altLang="en-US" sz="1200" dirty="0"/>
              <a:t>할지</a:t>
            </a:r>
            <a:r>
              <a:rPr lang="en-US" altLang="ko-KR" sz="1200" dirty="0"/>
              <a:t>? </a:t>
            </a:r>
            <a:r>
              <a:rPr lang="ko-KR" altLang="en-US" sz="1200" dirty="0"/>
              <a:t>결정</a:t>
            </a:r>
            <a:endParaRPr lang="en-US" altLang="ko-KR" sz="1200" dirty="0"/>
          </a:p>
          <a:p>
            <a:r>
              <a:rPr lang="en-US" altLang="ko-KR" sz="1200" dirty="0"/>
              <a:t>Pass</a:t>
            </a:r>
            <a:r>
              <a:rPr lang="ko-KR" altLang="en-US" sz="1200" dirty="0"/>
              <a:t>의 경우</a:t>
            </a:r>
            <a:r>
              <a:rPr lang="en-US" altLang="ko-KR" sz="1200" dirty="0"/>
              <a:t>, “Pass </a:t>
            </a:r>
            <a:r>
              <a:rPr lang="ko-KR" altLang="en-US" sz="1200" dirty="0"/>
              <a:t>시나리오 참고</a:t>
            </a:r>
            <a:r>
              <a:rPr lang="en-US" altLang="ko-KR" sz="1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56911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C0603083-75E2-4E76-9852-BEB5ED56A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07585" y="2083778"/>
            <a:ext cx="4776828" cy="304110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제목 13">
            <a:extLst>
              <a:ext uri="{FF2B5EF4-FFF2-40B4-BE49-F238E27FC236}">
                <a16:creationId xmlns:a16="http://schemas.microsoft.com/office/drawing/2014/main" id="{AC4DAF68-6DCB-4B90-A794-8DC80E0DEB5F}"/>
              </a:ext>
            </a:extLst>
          </p:cNvPr>
          <p:cNvSpPr txBox="1">
            <a:spLocks/>
          </p:cNvSpPr>
          <p:nvPr/>
        </p:nvSpPr>
        <p:spPr>
          <a:xfrm>
            <a:off x="4698679" y="5248707"/>
            <a:ext cx="2592288" cy="774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normalizeH="0" baseline="0" noProof="0" dirty="0">
                <a:uLnTx/>
                <a:uFillTx/>
                <a:latin typeface="+mn-ea"/>
                <a:ea typeface="+mn-ea"/>
              </a:rPr>
              <a:t>감사합니다</a:t>
            </a:r>
            <a:r>
              <a:rPr kumimoji="0" lang="en-US" altLang="ko-KR" sz="2400" b="1" i="0" u="none" strike="noStrike" kern="1200" normalizeH="0" baseline="0" noProof="0" dirty="0">
                <a:uLnTx/>
                <a:uFillTx/>
                <a:latin typeface="+mn-ea"/>
                <a:ea typeface="+mn-ea"/>
              </a:rPr>
              <a:t> </a:t>
            </a:r>
            <a:endParaRPr kumimoji="0" lang="ko-KR" altLang="en-US" sz="2400" b="1" i="0" u="none" strike="noStrike" kern="1200" normalizeH="0" baseline="0" noProof="0" dirty="0">
              <a:uLnTx/>
              <a:uFillTx/>
              <a:latin typeface="+mn-ea"/>
              <a:ea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26004" y="867704"/>
            <a:ext cx="4958409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fontAlgn="base">
              <a:spcBef>
                <a:spcPts val="1800"/>
              </a:spcBef>
              <a:spcAft>
                <a:spcPct val="0"/>
              </a:spcAft>
              <a:defRPr/>
            </a:pPr>
            <a:r>
              <a:rPr kumimoji="1" lang="ko-KR" altLang="en-US" b="1" dirty="0">
                <a:latin typeface="+mn-ea"/>
              </a:rPr>
              <a:t>귀사 제품의 </a:t>
            </a:r>
            <a:r>
              <a:rPr kumimoji="1" lang="ko-KR" altLang="en-US" b="1" dirty="0">
                <a:solidFill>
                  <a:srgbClr val="FF0000"/>
                </a:solidFill>
                <a:latin typeface="+mn-ea"/>
              </a:rPr>
              <a:t>품질확보</a:t>
            </a:r>
            <a:r>
              <a:rPr kumimoji="1" lang="ko-KR" altLang="en-US" b="1" dirty="0">
                <a:latin typeface="+mn-ea"/>
              </a:rPr>
              <a:t> 및 </a:t>
            </a:r>
            <a:r>
              <a:rPr kumimoji="1" lang="ko-KR" altLang="en-US" b="1" dirty="0">
                <a:solidFill>
                  <a:srgbClr val="FF0000"/>
                </a:solidFill>
                <a:latin typeface="+mn-ea"/>
              </a:rPr>
              <a:t>생산성 향상</a:t>
            </a:r>
            <a:r>
              <a:rPr kumimoji="1" lang="ko-KR" altLang="en-US" b="1" dirty="0">
                <a:latin typeface="+mn-ea"/>
              </a:rPr>
              <a:t>을</a:t>
            </a:r>
            <a:endParaRPr kumimoji="1" lang="en-US" altLang="ko-KR" b="1" dirty="0">
              <a:latin typeface="+mn-ea"/>
            </a:endParaRPr>
          </a:p>
          <a:p>
            <a:pPr lvl="0" algn="ctr" fontAlgn="base">
              <a:spcBef>
                <a:spcPts val="1800"/>
              </a:spcBef>
              <a:spcAft>
                <a:spcPct val="0"/>
              </a:spcAft>
              <a:defRPr/>
            </a:pPr>
            <a:r>
              <a:rPr kumimoji="1" lang="ko-KR" altLang="en-US" b="1" dirty="0">
                <a:latin typeface="+mn-ea"/>
              </a:rPr>
              <a:t>극대화 하는 최적의 솔루션을 공급하겠습니다</a:t>
            </a:r>
            <a:r>
              <a:rPr kumimoji="1" lang="en-US" altLang="ko-KR" b="1" dirty="0">
                <a:latin typeface="+mn-ea"/>
              </a:rPr>
              <a:t>.</a:t>
            </a:r>
          </a:p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1854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3864</TotalTime>
  <Words>1494</Words>
  <Application>Microsoft Office PowerPoint</Application>
  <PresentationFormat>와이드스크린</PresentationFormat>
  <Paragraphs>319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9" baseType="lpstr">
      <vt:lpstr>Adobe Heiti Std R</vt:lpstr>
      <vt:lpstr>HY헤드라인M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ONLINE MODE INITIAL SCENARIO</vt:lpstr>
      <vt:lpstr>ONLINE NORMAL SCENARIO (1/2)</vt:lpstr>
      <vt:lpstr>ONLINE NORMAL SCENARIO (2/2)</vt:lpstr>
      <vt:lpstr>PowerPoint 프레젠테이션</vt:lpstr>
      <vt:lpstr>EPDS : Equipment Product Data Send (1/2)</vt:lpstr>
      <vt:lpstr>EPDS : Equipment Product Data Send (2/2)</vt:lpstr>
      <vt:lpstr>EPDS : Equipment Product Data Send – Sample(1/3)</vt:lpstr>
      <vt:lpstr>EPDS : Equipment Product Data Send – Sample(2/3)</vt:lpstr>
      <vt:lpstr>EPDS : Equipment Product Data Send – Sample(3/3)</vt:lpstr>
      <vt:lpstr>PowerPoint 프레젠테이션</vt:lpstr>
      <vt:lpstr>LG마그나(멕시코) 장비 배치도</vt:lpstr>
      <vt:lpstr>장비 전체 운영 방안</vt:lpstr>
      <vt:lpstr>Link Test</vt:lpstr>
      <vt:lpstr>스테이터 투입보고 – Normal Case</vt:lpstr>
      <vt:lpstr>스테이터 투입보고 –Abnormal Case(GMES Barcode Error)</vt:lpstr>
      <vt:lpstr>스테이터 투입보고 –Abnormal Case(Stator Model Error)</vt:lpstr>
      <vt:lpstr>스테이터 투입 Pass</vt:lpstr>
      <vt:lpstr>스테이터 배출보고 –Normal Case</vt:lpstr>
      <vt:lpstr>스테이터 배출보고 –Abnormal Case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 명진</dc:creator>
  <cp:lastModifiedBy>재현 김</cp:lastModifiedBy>
  <cp:revision>187</cp:revision>
  <dcterms:created xsi:type="dcterms:W3CDTF">2019-07-08T14:59:17Z</dcterms:created>
  <dcterms:modified xsi:type="dcterms:W3CDTF">2026-02-26T16:57:40Z</dcterms:modified>
</cp:coreProperties>
</file>